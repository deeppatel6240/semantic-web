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339" r:id="rId3"/>
    <p:sldId id="257" r:id="rId4"/>
    <p:sldId id="263" r:id="rId5"/>
    <p:sldId id="258" r:id="rId6"/>
    <p:sldId id="269" r:id="rId7"/>
    <p:sldId id="342" r:id="rId8"/>
    <p:sldId id="270" r:id="rId9"/>
    <p:sldId id="265" r:id="rId10"/>
    <p:sldId id="279" r:id="rId11"/>
    <p:sldId id="280" r:id="rId12"/>
    <p:sldId id="338" r:id="rId13"/>
    <p:sldId id="266" r:id="rId14"/>
    <p:sldId id="340" r:id="rId15"/>
    <p:sldId id="341" r:id="rId16"/>
    <p:sldId id="271" r:id="rId17"/>
    <p:sldId id="260" r:id="rId18"/>
    <p:sldId id="267" r:id="rId19"/>
    <p:sldId id="264" r:id="rId20"/>
    <p:sldId id="259" r:id="rId21"/>
    <p:sldId id="261" r:id="rId22"/>
    <p:sldId id="272" r:id="rId23"/>
  </p:sldIdLst>
  <p:sldSz cx="12192000" cy="6858000"/>
  <p:notesSz cx="6858000" cy="9144000"/>
  <p:embeddedFontLst>
    <p:embeddedFont>
      <p:font typeface="Architects Daughter" panose="020B0604020202020204" charset="0"/>
      <p:regular r:id="rId25"/>
    </p:embeddedFont>
    <p:embeddedFont>
      <p:font typeface="Bahnschrift" panose="020B0502040204020203" pitchFamily="34" charset="0"/>
      <p:regular r:id="rId26"/>
      <p:bold r:id="rId27"/>
    </p:embeddedFont>
    <p:embeddedFont>
      <p:font typeface="Comic Sans MS" panose="030F0702030302020204" pitchFamily="66" charset="0"/>
      <p:regular r:id="rId28"/>
      <p:bold r:id="rId29"/>
      <p:italic r:id="rId30"/>
      <p:boldItalic r:id="rId31"/>
    </p:embeddedFont>
    <p:embeddedFont>
      <p:font typeface="Trebuchet MS" panose="020B0603020202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UoUXcwNi1yU+OqDm6FxjCY52A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81" d="100"/>
          <a:sy n="81" d="100"/>
        </p:scale>
        <p:origin x="74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0308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8272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452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9155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248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590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255D70D-BFF4-478F-9B85-3CE737FD5734}"/>
              </a:ext>
            </a:extLst>
          </p:cNvPr>
          <p:cNvSpPr>
            <a:spLocks noGrp="1" noChangeArrowheads="1"/>
          </p:cNvSpPr>
          <p:nvPr>
            <p:ph type="sldNum" sz="quarter" idx="5"/>
          </p:nvPr>
        </p:nvSpPr>
        <p:spPr>
          <a:ln/>
        </p:spPr>
        <p:txBody>
          <a:bodyPr/>
          <a:lstStyle/>
          <a:p>
            <a:fld id="{595B5BD5-79EC-47BD-867C-8CEABAB1E3CF}" type="slidenum">
              <a:rPr lang="en-GB" altLang="en-US"/>
              <a:pPr/>
              <a:t>10</a:t>
            </a:fld>
            <a:endParaRPr lang="en-GB" altLang="en-US"/>
          </a:p>
        </p:txBody>
      </p:sp>
      <p:sp>
        <p:nvSpPr>
          <p:cNvPr id="38914" name="Rectangle 2">
            <a:extLst>
              <a:ext uri="{FF2B5EF4-FFF2-40B4-BE49-F238E27FC236}">
                <a16:creationId xmlns:a16="http://schemas.microsoft.com/office/drawing/2014/main" id="{6501D6B5-80C2-4AA5-BABC-8A95707416DF}"/>
              </a:ext>
            </a:extLst>
          </p:cNvPr>
          <p:cNvSpPr>
            <a:spLocks noGrp="1" noRot="1" noChangeAspect="1" noChangeArrowheads="1" noTextEdit="1"/>
          </p:cNvSpPr>
          <p:nvPr>
            <p:ph type="sldImg"/>
          </p:nvPr>
        </p:nvSpPr>
        <p:spPr>
          <a:xfrm>
            <a:off x="246063" y="639763"/>
            <a:ext cx="6824662" cy="3840162"/>
          </a:xfrm>
          <a:ln/>
        </p:spPr>
      </p:sp>
      <p:sp>
        <p:nvSpPr>
          <p:cNvPr id="38915" name="Rectangle 3">
            <a:extLst>
              <a:ext uri="{FF2B5EF4-FFF2-40B4-BE49-F238E27FC236}">
                <a16:creationId xmlns:a16="http://schemas.microsoft.com/office/drawing/2014/main" id="{39DACF1E-D5AF-47DB-9E29-8B4FDFC9FB0B}"/>
              </a:ext>
            </a:extLst>
          </p:cNvPr>
          <p:cNvSpPr>
            <a:spLocks noGrp="1" noChangeArrowheads="1"/>
          </p:cNvSpPr>
          <p:nvPr>
            <p:ph type="body" idx="1"/>
          </p:nvPr>
        </p:nvSpPr>
        <p:spPr>
          <a:xfrm>
            <a:off x="974725" y="4560888"/>
            <a:ext cx="5365750" cy="4319587"/>
          </a:xfrm>
        </p:spPr>
        <p:txBody>
          <a:bodyPr/>
          <a:lstStyle/>
          <a:p>
            <a:r>
              <a:rPr lang="en-GB" altLang="en-US"/>
              <a:t>RDF is an XML application defined using a document type definition (DTD).  A DTD was used because the design of RDF essentially pre-dates XML schema.</a:t>
            </a:r>
          </a:p>
          <a:p>
            <a:r>
              <a:rPr lang="en-GB" altLang="en-US"/>
              <a:t>RDF is made up of triples which are like simple grammatical sentences with a subject, a verb and an object (in that order).  The subject and the verb will be a URI, the object may be a URI or may be a literal.  A literal is a character string or other primitive datatype defined by XML.</a:t>
            </a:r>
          </a:p>
          <a:p>
            <a:r>
              <a:rPr lang="en-GB" altLang="en-US"/>
              <a:t>The uniqueness of the URI convention prevents confusion.  Frequently the URI will be a URL where information about the data is stored.  E.g. if I want to represent myself (Paul Warren) uniquely then I can create a URL somewhere (with a reasonable chance of guaranteeing persistence).  The URL may have a descriptive identifier, e.g. …johnDavies.htm - but this is merely incidental.  The page pointed at should preferably say something about the fact that the URL represents me.  What we do require is that the URL be persistent.</a:t>
            </a:r>
          </a:p>
          <a:p>
            <a:r>
              <a:rPr lang="en-GB" altLang="en-US"/>
              <a:t>Someone else, e.g. the tax office, may construct a URI representing me, and all the intelligent agents in the world will be blissfully ignorant that the two URIs refer to the same person … until a human intervenes and defines an equivalence between them.</a:t>
            </a:r>
          </a:p>
          <a:p>
            <a:r>
              <a:rPr lang="en-GB" altLang="en-US"/>
              <a:t>Besides URLs, other forms of URI include identification of electronic mailboxes.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E971FF5-DF74-4747-8477-663B3DE3FB83}"/>
              </a:ext>
            </a:extLst>
          </p:cNvPr>
          <p:cNvSpPr>
            <a:spLocks noGrp="1" noChangeArrowheads="1"/>
          </p:cNvSpPr>
          <p:nvPr>
            <p:ph type="sldNum" sz="quarter" idx="5"/>
          </p:nvPr>
        </p:nvSpPr>
        <p:spPr>
          <a:ln/>
        </p:spPr>
        <p:txBody>
          <a:bodyPr/>
          <a:lstStyle/>
          <a:p>
            <a:fld id="{6B78E1CA-7625-45D4-AFA9-7ACEAE258DE5}" type="slidenum">
              <a:rPr lang="en-GB" altLang="en-US"/>
              <a:pPr/>
              <a:t>11</a:t>
            </a:fld>
            <a:endParaRPr lang="en-GB" altLang="en-US"/>
          </a:p>
        </p:txBody>
      </p:sp>
      <p:sp>
        <p:nvSpPr>
          <p:cNvPr id="40962" name="Rectangle 2">
            <a:extLst>
              <a:ext uri="{FF2B5EF4-FFF2-40B4-BE49-F238E27FC236}">
                <a16:creationId xmlns:a16="http://schemas.microsoft.com/office/drawing/2014/main" id="{9846DBC4-B9E7-4500-B509-C96711FAD204}"/>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E933F08D-81ED-4DCD-A1D2-446DC3153CAE}"/>
              </a:ext>
            </a:extLst>
          </p:cNvPr>
          <p:cNvSpPr>
            <a:spLocks noGrp="1" noChangeArrowheads="1"/>
          </p:cNvSpPr>
          <p:nvPr>
            <p:ph type="body" idx="1"/>
          </p:nvPr>
        </p:nvSpPr>
        <p:spPr>
          <a:xfrm>
            <a:off x="974725" y="4559300"/>
            <a:ext cx="5365750" cy="4321175"/>
          </a:xfrm>
        </p:spPr>
        <p:txBody>
          <a:bodyPr lIns="104704" tIns="52352" rIns="104704" bIns="52352"/>
          <a:lstStyle/>
          <a:p>
            <a:r>
              <a:rPr lang="en-US" altLang="en-US"/>
              <a:t>RDF has reification. Graph data model, property-centric approach.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653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042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2912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96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4555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8843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553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2355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4"/>
          <p:cNvGrpSpPr/>
          <p:nvPr/>
        </p:nvGrpSpPr>
        <p:grpSpPr>
          <a:xfrm>
            <a:off x="0" y="-8467"/>
            <a:ext cx="12192000" cy="6866467"/>
            <a:chOff x="0" y="-8467"/>
            <a:chExt cx="12192000" cy="6866467"/>
          </a:xfrm>
        </p:grpSpPr>
        <p:sp>
          <p:nvSpPr>
            <p:cNvPr id="24" name="Google Shape;24;p4"/>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5" name="Google Shape;25;p4"/>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26" name="Google Shape;26;p4"/>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27" name="Google Shape;27;p4"/>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28" name="Google Shape;28;p4"/>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9" name="Google Shape;29;p4"/>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31" name="Google Shape;31;p4"/>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2" name="Google Shape;32;p4"/>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3" name="Google Shape;33;p4"/>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4"/>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7"/>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8"/>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8"/>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8"/>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1"/>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11"/>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a:spLocks noGrp="1"/>
          </p:cNvSpPr>
          <p:nvPr>
            <p:ph type="pic" idx="2"/>
          </p:nvPr>
        </p:nvSpPr>
        <p:spPr>
          <a:xfrm>
            <a:off x="677334" y="609600"/>
            <a:ext cx="8596668" cy="3845718"/>
          </a:xfrm>
          <a:prstGeom prst="rect">
            <a:avLst/>
          </a:prstGeom>
          <a:noFill/>
          <a:ln>
            <a:noFill/>
          </a:ln>
        </p:spPr>
        <p:txBody>
          <a:bodyPr spcFirstLastPara="1" wrap="square" lIns="91425" tIns="45700" rIns="91425" bIns="45700" anchor="t" anchorCtr="0">
            <a:normAutofit/>
          </a:bodyPr>
          <a:lstStyle>
            <a:lvl1pPr marR="0" lvl="0" algn="ctr"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1pPr>
            <a:lvl2pPr marR="0" lvl="1"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2pPr>
            <a:lvl3pPr marR="0" lvl="2"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3pPr>
            <a:lvl4pPr marR="0" lvl="3"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4pPr>
            <a:lvl5pPr marR="0" lvl="4"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5pPr>
            <a:lvl6pPr marR="0" lvl="5"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9pPr>
          </a:lstStyle>
          <a:p>
            <a:endParaRPr/>
          </a:p>
        </p:txBody>
      </p:sp>
      <p:sp>
        <p:nvSpPr>
          <p:cNvPr id="86" name="Google Shape;86;p12"/>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9" name="Google Shape;89;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3"/>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4"/>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14"/>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14"/>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
        <p:nvSpPr>
          <p:cNvPr id="104" name="Google Shape;104;p14"/>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5"/>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6"/>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16"/>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1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
        <p:nvSpPr>
          <p:cNvPr id="119" name="Google Shape;119;p1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0"/>
        <p:cNvGrpSpPr/>
        <p:nvPr/>
      </p:nvGrpSpPr>
      <p:grpSpPr>
        <a:xfrm>
          <a:off x="0" y="0"/>
          <a:ext cx="0" cy="0"/>
          <a:chOff x="0" y="0"/>
          <a:chExt cx="0" cy="0"/>
        </a:xfrm>
      </p:grpSpPr>
      <p:sp>
        <p:nvSpPr>
          <p:cNvPr id="121" name="Google Shape;121;p17"/>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7"/>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17"/>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8"/>
          <p:cNvSpPr txBox="1">
            <a:spLocks noGrp="1"/>
          </p:cNvSpPr>
          <p:nvPr>
            <p:ph type="body" idx="1"/>
          </p:nvPr>
        </p:nvSpPr>
        <p:spPr>
          <a:xfrm rot="5400000">
            <a:off x="3035282"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sp>
        <p:nvSpPr>
          <p:cNvPr id="134" name="Google Shape;134;p19"/>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9"/>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3"/>
          <p:cNvGrpSpPr/>
          <p:nvPr/>
        </p:nvGrpSpPr>
        <p:grpSpPr>
          <a:xfrm>
            <a:off x="0" y="-8467"/>
            <a:ext cx="12192000" cy="6866467"/>
            <a:chOff x="0" y="-8467"/>
            <a:chExt cx="12192000" cy="6866467"/>
          </a:xfrm>
        </p:grpSpPr>
        <p:cxnSp>
          <p:nvCxnSpPr>
            <p:cNvPr id="7" name="Google Shape;7;p3"/>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8" name="Google Shape;8;p3"/>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9" name="Google Shape;9;p3"/>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0" name="Google Shape;10;p3"/>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3"/>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3"/>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3" name="Google Shape;13;p3"/>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4" name="Google Shape;14;p3"/>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5" name="Google Shape;15;p3"/>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a:off x="0" y="4013200"/>
              <a:ext cx="448733" cy="2844800"/>
            </a:xfrm>
            <a:prstGeom prst="triangle">
              <a:avLst>
                <a:gd name="adj" fmla="val 0"/>
              </a:avLst>
            </a:prstGeom>
            <a:solidFill>
              <a:schemeClr val="accen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7200"/>
              <a:buFont typeface="Architects Daughter"/>
              <a:buNone/>
            </a:pPr>
            <a:r>
              <a:rPr lang="en-US" sz="7200" b="1" dirty="0">
                <a:latin typeface="Architects Daughter"/>
                <a:ea typeface="Architects Daughter"/>
                <a:cs typeface="Architects Daughter"/>
                <a:sym typeface="Architects Daughter"/>
              </a:rPr>
              <a:t>Semantic Web</a:t>
            </a:r>
            <a:endParaRPr dirty="0"/>
          </a:p>
        </p:txBody>
      </p:sp>
      <p:sp>
        <p:nvSpPr>
          <p:cNvPr id="144" name="Google Shape;144;p1"/>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440"/>
              <a:buNone/>
            </a:pPr>
            <a:r>
              <a:rPr lang="en-US"/>
              <a:t>A vision to achieve “Machine Understandable Web”</a:t>
            </a:r>
            <a:endParaRPr/>
          </a:p>
        </p:txBody>
      </p:sp>
      <p:pic>
        <p:nvPicPr>
          <p:cNvPr id="145" name="Google Shape;145;p1"/>
          <p:cNvPicPr preferRelativeResize="0"/>
          <p:nvPr/>
        </p:nvPicPr>
        <p:blipFill rotWithShape="1">
          <a:blip r:embed="rId3">
            <a:alphaModFix/>
          </a:blip>
          <a:srcRect/>
          <a:stretch/>
        </p:blipFill>
        <p:spPr>
          <a:xfrm>
            <a:off x="555383" y="884205"/>
            <a:ext cx="2807167" cy="28071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IN" dirty="0"/>
              <a:t>What is Semantic Web?</a:t>
            </a:r>
            <a:endParaRPr dirty="0"/>
          </a:p>
        </p:txBody>
      </p:sp>
      <p:sp>
        <p:nvSpPr>
          <p:cNvPr id="151" name="Google Shape;151;p2"/>
          <p:cNvSpPr txBox="1">
            <a:spLocks noGrp="1"/>
          </p:cNvSpPr>
          <p:nvPr>
            <p:ph type="body" idx="1"/>
          </p:nvPr>
        </p:nvSpPr>
        <p:spPr>
          <a:xfrm>
            <a:off x="677334" y="1404595"/>
            <a:ext cx="8596668" cy="4636768"/>
          </a:xfrm>
          <a:prstGeom prst="rect">
            <a:avLst/>
          </a:prstGeom>
          <a:noFill/>
          <a:ln>
            <a:noFill/>
          </a:ln>
        </p:spPr>
        <p:txBody>
          <a:bodyPr spcFirstLastPara="1" wrap="square" lIns="91425" tIns="45700" rIns="91425" bIns="45700" anchor="t" anchorCtr="0">
            <a:normAutofit/>
          </a:bodyPr>
          <a:lstStyle/>
          <a:p>
            <a:pPr marL="377191" indent="-285750" algn="just">
              <a:spcBef>
                <a:spcPts val="0"/>
              </a:spcBef>
            </a:pPr>
            <a:r>
              <a:rPr lang="en-US" sz="2800" dirty="0"/>
              <a:t>Semantic = meaning</a:t>
            </a:r>
          </a:p>
          <a:p>
            <a:pPr marL="377191" indent="-285750" algn="just">
              <a:spcBef>
                <a:spcPts val="0"/>
              </a:spcBef>
            </a:pPr>
            <a:r>
              <a:rPr lang="en-US" sz="2800" dirty="0"/>
              <a:t>Semantic web = meaning + web</a:t>
            </a:r>
          </a:p>
          <a:p>
            <a:pPr marL="91441" indent="0" algn="just">
              <a:spcBef>
                <a:spcPts val="0"/>
              </a:spcBef>
              <a:buNone/>
            </a:pPr>
            <a:r>
              <a:rPr lang="en-US" sz="2800" dirty="0"/>
              <a:t>                        =   web </a:t>
            </a:r>
          </a:p>
          <a:p>
            <a:pPr marL="91441" indent="0" algn="just">
              <a:spcBef>
                <a:spcPts val="0"/>
              </a:spcBef>
              <a:buNone/>
            </a:pPr>
            <a:r>
              <a:rPr lang="en-US" sz="2800" dirty="0"/>
              <a:t>                          + Database technology </a:t>
            </a:r>
          </a:p>
          <a:p>
            <a:pPr marL="91441" indent="0" algn="just">
              <a:spcBef>
                <a:spcPts val="0"/>
              </a:spcBef>
              <a:buNone/>
            </a:pPr>
            <a:r>
              <a:rPr lang="en-US" sz="2800" dirty="0"/>
              <a:t>                          + Knowledge Representation</a:t>
            </a:r>
          </a:p>
          <a:p>
            <a:pPr marL="91441" indent="0" algn="just">
              <a:spcBef>
                <a:spcPts val="0"/>
              </a:spcBef>
              <a:buNone/>
            </a:pPr>
            <a:endParaRPr lang="en-US" sz="2800" dirty="0"/>
          </a:p>
          <a:p>
            <a:pPr marL="548641" indent="-457200" algn="just">
              <a:spcBef>
                <a:spcPts val="0"/>
              </a:spcBef>
              <a:buFont typeface="Wingdings" panose="05000000000000000000" pitchFamily="2" charset="2"/>
              <a:buChar char="q"/>
            </a:pPr>
            <a:r>
              <a:rPr lang="en-US" sz="2800" dirty="0"/>
              <a:t>Extension of the current web</a:t>
            </a:r>
          </a:p>
          <a:p>
            <a:pPr marL="548641" indent="-457200" algn="just">
              <a:spcBef>
                <a:spcPts val="0"/>
              </a:spcBef>
              <a:buFont typeface="Wingdings" panose="05000000000000000000" pitchFamily="2" charset="2"/>
              <a:buChar char="q"/>
            </a:pPr>
            <a:r>
              <a:rPr lang="en-US" sz="2800" dirty="0"/>
              <a:t>A web where the focus is placed on the meaning of words</a:t>
            </a:r>
          </a:p>
          <a:p>
            <a:pPr marL="548641" indent="-457200" algn="just">
              <a:spcBef>
                <a:spcPts val="0"/>
              </a:spcBef>
              <a:buFont typeface="Wingdings" panose="05000000000000000000" pitchFamily="2" charset="2"/>
              <a:buChar char="q"/>
            </a:pPr>
            <a:r>
              <a:rPr lang="en-US" sz="2800" dirty="0"/>
              <a:t>A metadata based infrastructure                             </a:t>
            </a:r>
          </a:p>
        </p:txBody>
      </p:sp>
      <p:pic>
        <p:nvPicPr>
          <p:cNvPr id="2" name="Picture 1">
            <a:extLst>
              <a:ext uri="{FF2B5EF4-FFF2-40B4-BE49-F238E27FC236}">
                <a16:creationId xmlns:a16="http://schemas.microsoft.com/office/drawing/2014/main" id="{AE4491F0-6AE6-4911-9AA9-DA5446D4C94E}"/>
              </a:ext>
            </a:extLst>
          </p:cNvPr>
          <p:cNvPicPr>
            <a:picLocks noChangeAspect="1"/>
          </p:cNvPicPr>
          <p:nvPr/>
        </p:nvPicPr>
        <p:blipFill>
          <a:blip r:embed="rId3"/>
          <a:stretch>
            <a:fillRect/>
          </a:stretch>
        </p:blipFill>
        <p:spPr>
          <a:xfrm>
            <a:off x="10165844" y="4986779"/>
            <a:ext cx="2026156" cy="1871222"/>
          </a:xfrm>
          <a:prstGeom prst="rect">
            <a:avLst/>
          </a:prstGeom>
        </p:spPr>
      </p:pic>
    </p:spTree>
    <p:extLst>
      <p:ext uri="{BB962C8B-B14F-4D97-AF65-F5344CB8AC3E}">
        <p14:creationId xmlns:p14="http://schemas.microsoft.com/office/powerpoint/2010/main" val="3570449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3" y="326796"/>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IN" dirty="0"/>
              <a:t>What is Semantic Web?</a:t>
            </a:r>
            <a:endParaRPr dirty="0"/>
          </a:p>
        </p:txBody>
      </p:sp>
      <p:sp>
        <p:nvSpPr>
          <p:cNvPr id="151" name="Google Shape;151;p2"/>
          <p:cNvSpPr txBox="1">
            <a:spLocks noGrp="1"/>
          </p:cNvSpPr>
          <p:nvPr>
            <p:ph type="body" idx="1"/>
          </p:nvPr>
        </p:nvSpPr>
        <p:spPr>
          <a:xfrm>
            <a:off x="677333" y="1157927"/>
            <a:ext cx="9277371" cy="5373277"/>
          </a:xfrm>
          <a:prstGeom prst="rect">
            <a:avLst/>
          </a:prstGeom>
          <a:noFill/>
          <a:ln>
            <a:noFill/>
          </a:ln>
        </p:spPr>
        <p:txBody>
          <a:bodyPr spcFirstLastPara="1" wrap="square" lIns="91425" tIns="45700" rIns="91425" bIns="45700" anchor="t" anchorCtr="0">
            <a:noAutofit/>
          </a:bodyPr>
          <a:lstStyle/>
          <a:p>
            <a:pPr marL="377191" indent="-285750" algn="just">
              <a:spcBef>
                <a:spcPts val="0"/>
              </a:spcBef>
            </a:pPr>
            <a:r>
              <a:rPr lang="en-US" sz="2800" dirty="0"/>
              <a:t>Semantic web is a group and technologies to allow machines  to understand the meaning – or “Semantics” – of information on the World Wide Web.</a:t>
            </a:r>
          </a:p>
          <a:p>
            <a:pPr marL="91441" indent="0" algn="just">
              <a:spcBef>
                <a:spcPts val="0"/>
              </a:spcBef>
              <a:buNone/>
            </a:pPr>
            <a:r>
              <a:rPr lang="en-US" sz="2000" dirty="0"/>
              <a:t>                                                                              </a:t>
            </a:r>
          </a:p>
          <a:p>
            <a:pPr marL="377191" indent="-285750" algn="just">
              <a:spcBef>
                <a:spcPts val="0"/>
              </a:spcBef>
            </a:pPr>
            <a:r>
              <a:rPr lang="en-US" sz="2800" dirty="0"/>
              <a:t>The Semantic Web is an extension of the current web in which information is given well-defined meaning, better enabling computers and people to work in cooperation.“</a:t>
            </a:r>
          </a:p>
          <a:p>
            <a:pPr marL="91441" indent="0" algn="just">
              <a:spcBef>
                <a:spcPts val="0"/>
              </a:spcBef>
              <a:buNone/>
            </a:pPr>
            <a:r>
              <a:rPr lang="en-US" sz="2000" dirty="0"/>
              <a:t>                                                                             </a:t>
            </a:r>
          </a:p>
          <a:p>
            <a:pPr marL="377191" indent="-285750" algn="just">
              <a:spcBef>
                <a:spcPts val="0"/>
              </a:spcBef>
            </a:pPr>
            <a:r>
              <a:rPr lang="en-US" sz="2800" dirty="0"/>
              <a:t>The term was coined by World Wide Web Consortium(W3C) director Tim Berner-Lee.He defines the semantic web as “ A web of data that can be processed directly and indirectly by machines.”</a:t>
            </a:r>
          </a:p>
          <a:p>
            <a:pPr marL="377191" indent="-285750" algn="just">
              <a:spcBef>
                <a:spcPts val="0"/>
              </a:spcBef>
            </a:pPr>
            <a:endParaRPr lang="en-US" sz="2800" dirty="0"/>
          </a:p>
          <a:p>
            <a:pPr marL="91441" indent="0" algn="just">
              <a:spcBef>
                <a:spcPts val="0"/>
              </a:spcBef>
              <a:buNone/>
            </a:pPr>
            <a:r>
              <a:rPr lang="en-US" sz="2800" dirty="0"/>
              <a:t> </a:t>
            </a:r>
          </a:p>
          <a:p>
            <a:pPr marL="91441" indent="0" algn="just">
              <a:spcBef>
                <a:spcPts val="0"/>
              </a:spcBef>
              <a:buNone/>
            </a:pPr>
            <a:endParaRPr lang="en-US" sz="2800" dirty="0"/>
          </a:p>
          <a:p>
            <a:pPr marL="91441" indent="0" algn="just">
              <a:spcBef>
                <a:spcPts val="0"/>
              </a:spcBef>
              <a:buNone/>
            </a:pPr>
            <a:endParaRPr lang="en-US" sz="2800" dirty="0"/>
          </a:p>
          <a:p>
            <a:pPr marL="91441" indent="0" algn="just">
              <a:spcBef>
                <a:spcPts val="0"/>
              </a:spcBef>
              <a:buNone/>
            </a:pPr>
            <a:endParaRPr lang="en-US" sz="2800" dirty="0"/>
          </a:p>
          <a:p>
            <a:pPr marL="377191" indent="-285750" algn="just">
              <a:spcBef>
                <a:spcPts val="0"/>
              </a:spcBef>
            </a:pPr>
            <a:endParaRPr lang="en-US" sz="2800" dirty="0"/>
          </a:p>
        </p:txBody>
      </p:sp>
      <p:pic>
        <p:nvPicPr>
          <p:cNvPr id="2" name="Picture 1">
            <a:extLst>
              <a:ext uri="{FF2B5EF4-FFF2-40B4-BE49-F238E27FC236}">
                <a16:creationId xmlns:a16="http://schemas.microsoft.com/office/drawing/2014/main" id="{AE4491F0-6AE6-4911-9AA9-DA5446D4C94E}"/>
              </a:ext>
            </a:extLst>
          </p:cNvPr>
          <p:cNvPicPr>
            <a:picLocks noChangeAspect="1"/>
          </p:cNvPicPr>
          <p:nvPr/>
        </p:nvPicPr>
        <p:blipFill>
          <a:blip r:embed="rId3"/>
          <a:stretch>
            <a:fillRect/>
          </a:stretch>
        </p:blipFill>
        <p:spPr>
          <a:xfrm>
            <a:off x="10165844" y="4986779"/>
            <a:ext cx="2026156" cy="18712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US" altLang="en-US" dirty="0"/>
              <a:t>Semantic Web Vision </a:t>
            </a:r>
            <a:br>
              <a:rPr lang="en-US" altLang="en-US" dirty="0"/>
            </a:br>
            <a:endParaRPr dirty="0">
              <a:latin typeface="Bahnschrift" panose="020B0502040204020203" pitchFamily="34" charset="0"/>
            </a:endParaRPr>
          </a:p>
        </p:txBody>
      </p:sp>
      <p:pic>
        <p:nvPicPr>
          <p:cNvPr id="3" name="Picture 4">
            <a:extLst>
              <a:ext uri="{FF2B5EF4-FFF2-40B4-BE49-F238E27FC236}">
                <a16:creationId xmlns:a16="http://schemas.microsoft.com/office/drawing/2014/main" id="{5A55C9DF-ACAE-4B3A-8365-418CC3486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655" y="1457227"/>
            <a:ext cx="4164013" cy="437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C6978F7F-4DE6-4142-8ECB-FD1EF1A425A9}"/>
              </a:ext>
            </a:extLst>
          </p:cNvPr>
          <p:cNvSpPr/>
          <p:nvPr/>
        </p:nvSpPr>
        <p:spPr>
          <a:xfrm>
            <a:off x="5571241" y="1182016"/>
            <a:ext cx="3702761" cy="4736182"/>
          </a:xfrm>
          <a:prstGeom prst="rect">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lnSpc>
                <a:spcPct val="120000"/>
              </a:lnSpc>
              <a:spcBef>
                <a:spcPct val="0"/>
              </a:spcBef>
              <a:spcAft>
                <a:spcPct val="0"/>
              </a:spcAft>
              <a:buClrTx/>
            </a:pPr>
            <a:r>
              <a:rPr lang="en-GB" altLang="en-US" sz="2000" kern="1200" dirty="0">
                <a:solidFill>
                  <a:srgbClr val="000000"/>
                </a:solidFill>
                <a:latin typeface="Trebuchet MS" panose="020B0603020202020204" pitchFamily="34" charset="0"/>
                <a:cs typeface="Arial" panose="020B0604020202020204" pitchFamily="34" charset="0"/>
              </a:rPr>
              <a:t>Machine-processable, global </a:t>
            </a:r>
            <a:r>
              <a:rPr lang="en-GB" altLang="en-US" sz="2000" b="1" kern="1200" dirty="0">
                <a:solidFill>
                  <a:srgbClr val="000000"/>
                </a:solidFill>
                <a:latin typeface="Trebuchet MS" panose="020B0603020202020204" pitchFamily="34" charset="0"/>
                <a:cs typeface="Arial" panose="020B0604020202020204" pitchFamily="34" charset="0"/>
              </a:rPr>
              <a:t>Web</a:t>
            </a:r>
            <a:r>
              <a:rPr lang="en-GB" altLang="en-US" sz="2000" kern="1200" dirty="0">
                <a:solidFill>
                  <a:srgbClr val="000000"/>
                </a:solidFill>
                <a:latin typeface="Trebuchet MS" panose="020B0603020202020204" pitchFamily="34" charset="0"/>
                <a:cs typeface="Arial" panose="020B0604020202020204" pitchFamily="34" charset="0"/>
              </a:rPr>
              <a:t> standards: </a:t>
            </a:r>
          </a:p>
          <a:p>
            <a:pPr lvl="0" eaLnBrk="0" fontAlgn="base" hangingPunct="0">
              <a:lnSpc>
                <a:spcPct val="120000"/>
              </a:lnSpc>
              <a:spcBef>
                <a:spcPct val="0"/>
              </a:spcBef>
              <a:spcAft>
                <a:spcPct val="0"/>
              </a:spcAft>
              <a:buClr>
                <a:srgbClr val="000514"/>
              </a:buClr>
              <a:buSzPct val="75000"/>
              <a:buFont typeface="Wingdings" panose="05000000000000000000" pitchFamily="2" charset="2"/>
              <a:buChar char="§"/>
            </a:pPr>
            <a:r>
              <a:rPr lang="en-GB" altLang="en-US" sz="2000" kern="1200" dirty="0">
                <a:solidFill>
                  <a:srgbClr val="000000"/>
                </a:solidFill>
                <a:latin typeface="Trebuchet MS" panose="020B0603020202020204" pitchFamily="34" charset="0"/>
                <a:cs typeface="Arial" panose="020B0604020202020204" pitchFamily="34" charset="0"/>
              </a:rPr>
              <a:t> Assigning unambiguous names (URI) </a:t>
            </a:r>
          </a:p>
          <a:p>
            <a:pPr lvl="0" eaLnBrk="0" fontAlgn="base" hangingPunct="0">
              <a:lnSpc>
                <a:spcPct val="120000"/>
              </a:lnSpc>
              <a:spcBef>
                <a:spcPct val="0"/>
              </a:spcBef>
              <a:spcAft>
                <a:spcPct val="0"/>
              </a:spcAft>
              <a:buClr>
                <a:srgbClr val="000514"/>
              </a:buClr>
              <a:buSzPct val="75000"/>
              <a:buFont typeface="Wingdings" panose="05000000000000000000" pitchFamily="2" charset="2"/>
              <a:buChar char="§"/>
            </a:pPr>
            <a:r>
              <a:rPr lang="en-GB" altLang="en-US" sz="2000" kern="1200" dirty="0">
                <a:solidFill>
                  <a:srgbClr val="000000"/>
                </a:solidFill>
                <a:latin typeface="Trebuchet MS" panose="020B0603020202020204" pitchFamily="34" charset="0"/>
                <a:cs typeface="Arial" panose="020B0604020202020204" pitchFamily="34" charset="0"/>
              </a:rPr>
              <a:t> Expressing data, including metadata (</a:t>
            </a:r>
            <a:r>
              <a:rPr lang="en-GB" altLang="en-US" sz="2000" kern="1200" dirty="0">
                <a:solidFill>
                  <a:srgbClr val="0000FF"/>
                </a:solidFill>
                <a:latin typeface="Trebuchet MS" panose="020B0603020202020204" pitchFamily="34" charset="0"/>
                <a:cs typeface="Arial" panose="020B0604020202020204" pitchFamily="34" charset="0"/>
              </a:rPr>
              <a:t>RDF</a:t>
            </a:r>
            <a:r>
              <a:rPr lang="en-GB" altLang="en-US" sz="2000" kern="1200" dirty="0">
                <a:solidFill>
                  <a:srgbClr val="000000"/>
                </a:solidFill>
                <a:latin typeface="Trebuchet MS" panose="020B0603020202020204" pitchFamily="34" charset="0"/>
                <a:cs typeface="Arial" panose="020B0604020202020204" pitchFamily="34" charset="0"/>
              </a:rPr>
              <a:t>) </a:t>
            </a:r>
          </a:p>
          <a:p>
            <a:pPr lvl="0" eaLnBrk="0" fontAlgn="base" hangingPunct="0">
              <a:lnSpc>
                <a:spcPct val="120000"/>
              </a:lnSpc>
              <a:spcBef>
                <a:spcPct val="0"/>
              </a:spcBef>
              <a:spcAft>
                <a:spcPct val="0"/>
              </a:spcAft>
              <a:buClr>
                <a:srgbClr val="000514"/>
              </a:buClr>
              <a:buSzPct val="75000"/>
              <a:buFont typeface="Wingdings" panose="05000000000000000000" pitchFamily="2" charset="2"/>
              <a:buChar char="§"/>
            </a:pPr>
            <a:r>
              <a:rPr lang="en-GB" altLang="en-US" sz="2000" kern="1200" dirty="0">
                <a:solidFill>
                  <a:srgbClr val="000000"/>
                </a:solidFill>
                <a:latin typeface="Trebuchet MS" panose="020B0603020202020204" pitchFamily="34" charset="0"/>
                <a:cs typeface="Arial" panose="020B0604020202020204" pitchFamily="34" charset="0"/>
              </a:rPr>
              <a:t> Capturing ontologies (</a:t>
            </a:r>
            <a:r>
              <a:rPr lang="en-GB" altLang="en-US" sz="2000" kern="1200" dirty="0">
                <a:solidFill>
                  <a:srgbClr val="0000FF"/>
                </a:solidFill>
                <a:latin typeface="Trebuchet MS" panose="020B0603020202020204" pitchFamily="34" charset="0"/>
                <a:cs typeface="Arial" panose="020B0604020202020204" pitchFamily="34" charset="0"/>
              </a:rPr>
              <a:t>OWL</a:t>
            </a:r>
            <a:r>
              <a:rPr lang="en-GB" altLang="en-US" sz="2000" kern="1200" dirty="0">
                <a:solidFill>
                  <a:srgbClr val="000000"/>
                </a:solidFill>
                <a:latin typeface="Trebuchet MS" panose="020B0603020202020204" pitchFamily="34" charset="0"/>
                <a:cs typeface="Arial" panose="020B0604020202020204" pitchFamily="34" charset="0"/>
              </a:rPr>
              <a:t>) </a:t>
            </a:r>
          </a:p>
          <a:p>
            <a:pPr lvl="0" eaLnBrk="0" fontAlgn="base" hangingPunct="0">
              <a:lnSpc>
                <a:spcPct val="120000"/>
              </a:lnSpc>
              <a:spcBef>
                <a:spcPct val="0"/>
              </a:spcBef>
              <a:spcAft>
                <a:spcPct val="0"/>
              </a:spcAft>
              <a:buClr>
                <a:srgbClr val="000514"/>
              </a:buClr>
              <a:buSzPct val="75000"/>
              <a:buFont typeface="Wingdings" panose="05000000000000000000" pitchFamily="2" charset="2"/>
              <a:buChar char="§"/>
            </a:pPr>
            <a:r>
              <a:rPr lang="en-GB" altLang="en-US" sz="2000" kern="1200" dirty="0">
                <a:solidFill>
                  <a:srgbClr val="0000FF"/>
                </a:solidFill>
                <a:latin typeface="Trebuchet MS" panose="020B0603020202020204" pitchFamily="34" charset="0"/>
                <a:cs typeface="Arial" panose="020B0604020202020204" pitchFamily="34" charset="0"/>
              </a:rPr>
              <a:t> Query</a:t>
            </a:r>
            <a:r>
              <a:rPr lang="en-GB" altLang="en-US" sz="2000" kern="1200" dirty="0">
                <a:solidFill>
                  <a:srgbClr val="000000"/>
                </a:solidFill>
                <a:latin typeface="Trebuchet MS" panose="020B0603020202020204" pitchFamily="34" charset="0"/>
                <a:cs typeface="Arial" panose="020B0604020202020204" pitchFamily="34" charset="0"/>
              </a:rPr>
              <a:t>, </a:t>
            </a:r>
            <a:r>
              <a:rPr lang="en-GB" altLang="en-US" sz="2000" kern="1200" dirty="0">
                <a:solidFill>
                  <a:srgbClr val="0000FF"/>
                </a:solidFill>
                <a:latin typeface="Trebuchet MS" panose="020B0603020202020204" pitchFamily="34" charset="0"/>
                <a:cs typeface="Arial" panose="020B0604020202020204" pitchFamily="34" charset="0"/>
              </a:rPr>
              <a:t>rules</a:t>
            </a:r>
            <a:r>
              <a:rPr lang="en-GB" altLang="en-US" sz="2000" kern="1200" dirty="0">
                <a:solidFill>
                  <a:srgbClr val="000000"/>
                </a:solidFill>
                <a:latin typeface="Trebuchet MS" panose="020B0603020202020204" pitchFamily="34" charset="0"/>
                <a:cs typeface="Arial" panose="020B0604020202020204" pitchFamily="34" charset="0"/>
              </a:rPr>
              <a:t>, </a:t>
            </a:r>
            <a:r>
              <a:rPr lang="en-GB" altLang="en-US" sz="2000" kern="1200" dirty="0">
                <a:solidFill>
                  <a:srgbClr val="0000FF"/>
                </a:solidFill>
                <a:latin typeface="Trebuchet MS" panose="020B0603020202020204" pitchFamily="34" charset="0"/>
                <a:cs typeface="Arial" panose="020B0604020202020204" pitchFamily="34" charset="0"/>
              </a:rPr>
              <a:t>transformations</a:t>
            </a:r>
            <a:r>
              <a:rPr lang="en-GB" altLang="en-US" sz="2000" kern="1200" dirty="0">
                <a:solidFill>
                  <a:srgbClr val="000000"/>
                </a:solidFill>
                <a:latin typeface="Trebuchet MS" panose="020B0603020202020204" pitchFamily="34" charset="0"/>
                <a:cs typeface="Arial" panose="020B0604020202020204" pitchFamily="34" charset="0"/>
              </a:rPr>
              <a:t>, </a:t>
            </a:r>
            <a:r>
              <a:rPr lang="en-GB" altLang="en-US" sz="2000" kern="1200" dirty="0">
                <a:solidFill>
                  <a:srgbClr val="0000FF"/>
                </a:solidFill>
                <a:latin typeface="Trebuchet MS" panose="020B0603020202020204" pitchFamily="34" charset="0"/>
                <a:cs typeface="Arial" panose="020B0604020202020204" pitchFamily="34" charset="0"/>
              </a:rPr>
              <a:t>deployment</a:t>
            </a:r>
            <a:r>
              <a:rPr lang="en-GB" altLang="en-US" sz="2000" kern="1200" dirty="0">
                <a:solidFill>
                  <a:srgbClr val="000000"/>
                </a:solidFill>
                <a:latin typeface="Trebuchet MS" panose="020B0603020202020204" pitchFamily="34" charset="0"/>
                <a:cs typeface="Arial" panose="020B0604020202020204" pitchFamily="34" charset="0"/>
              </a:rPr>
              <a:t>, application spaces, logic, proofs, trust (in progress) </a:t>
            </a:r>
          </a:p>
          <a:p>
            <a:pPr lvl="0" eaLnBrk="0" fontAlgn="base" hangingPunct="0">
              <a:spcBef>
                <a:spcPct val="0"/>
              </a:spcBef>
              <a:spcAft>
                <a:spcPct val="0"/>
              </a:spcAft>
              <a:buClrTx/>
              <a:buFont typeface="Wingdings" panose="05000000000000000000" pitchFamily="2" charset="2"/>
              <a:buChar char="§"/>
            </a:pPr>
            <a:endParaRPr lang="en-GB" altLang="en-US" sz="2000" kern="1200" dirty="0">
              <a:solidFill>
                <a:srgbClr val="000000"/>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379178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Trebuchet MS" panose="020B0603020202020204" pitchFamily="34" charset="0"/>
              </a:rPr>
              <a:t>Knowledge</a:t>
            </a:r>
            <a:r>
              <a:rPr lang="en-IN" dirty="0">
                <a:latin typeface="Bahnschrift" panose="020B0502040204020203" pitchFamily="34" charset="0"/>
              </a:rPr>
              <a:t> Representation</a:t>
            </a:r>
            <a:endParaRPr dirty="0">
              <a:latin typeface="Bahnschrift" panose="020B0502040204020203" pitchFamily="34" charset="0"/>
            </a:endParaRPr>
          </a:p>
        </p:txBody>
      </p:sp>
      <p:sp>
        <p:nvSpPr>
          <p:cNvPr id="151" name="Google Shape;151;p2"/>
          <p:cNvSpPr txBox="1">
            <a:spLocks noGrp="1"/>
          </p:cNvSpPr>
          <p:nvPr>
            <p:ph type="body" idx="1"/>
          </p:nvPr>
        </p:nvSpPr>
        <p:spPr>
          <a:xfrm>
            <a:off x="584462" y="1084083"/>
            <a:ext cx="8689540" cy="5599522"/>
          </a:xfrm>
          <a:prstGeom prst="rect">
            <a:avLst/>
          </a:prstGeom>
          <a:noFill/>
          <a:ln>
            <a:noFill/>
          </a:ln>
        </p:spPr>
        <p:txBody>
          <a:bodyPr spcFirstLastPara="1" wrap="square" lIns="91425" tIns="45700" rIns="91425" bIns="45700" anchor="t" anchorCtr="0">
            <a:normAutofit/>
          </a:bodyPr>
          <a:lstStyle/>
          <a:p>
            <a:pPr marL="377191" indent="-285750">
              <a:spcBef>
                <a:spcPts val="0"/>
              </a:spcBef>
            </a:pPr>
            <a:r>
              <a:rPr lang="en-IN" sz="2800" dirty="0">
                <a:latin typeface="Trebuchet MS" panose="020B0603020202020204" pitchFamily="34" charset="0"/>
              </a:rPr>
              <a:t>For Semantic Web to function, the Computers should have access to</a:t>
            </a:r>
          </a:p>
          <a:p>
            <a:pPr marL="1062991" lvl="1" indent="-514350" algn="just">
              <a:spcBef>
                <a:spcPts val="0"/>
              </a:spcBef>
              <a:buFont typeface="+mj-lt"/>
              <a:buAutoNum type="arabicPeriod"/>
            </a:pPr>
            <a:r>
              <a:rPr lang="en-IN" sz="2600" dirty="0">
                <a:latin typeface="Trebuchet MS" panose="020B0603020202020204" pitchFamily="34" charset="0"/>
              </a:rPr>
              <a:t>Structured Collection of information                </a:t>
            </a:r>
          </a:p>
          <a:p>
            <a:pPr marL="1062991" lvl="1" indent="-514350" algn="just">
              <a:spcBef>
                <a:spcPts val="0"/>
              </a:spcBef>
              <a:buFont typeface="+mj-lt"/>
              <a:buAutoNum type="arabicPeriod"/>
            </a:pPr>
            <a:r>
              <a:rPr lang="en-IN" sz="2600" dirty="0">
                <a:latin typeface="Trebuchet MS" panose="020B0603020202020204" pitchFamily="34" charset="0"/>
              </a:rPr>
              <a:t>Meaning of this information   </a:t>
            </a:r>
          </a:p>
          <a:p>
            <a:pPr marL="1062991" lvl="1" indent="-514350" algn="just">
              <a:spcBef>
                <a:spcPts val="0"/>
              </a:spcBef>
              <a:buFont typeface="+mj-lt"/>
              <a:buAutoNum type="arabicPeriod"/>
            </a:pPr>
            <a:r>
              <a:rPr lang="en-IN" sz="2600" dirty="0">
                <a:latin typeface="Trebuchet MS" panose="020B0603020202020204" pitchFamily="34" charset="0"/>
              </a:rPr>
              <a:t>Sets of Interface Rules/Logic</a:t>
            </a:r>
          </a:p>
          <a:p>
            <a:pPr marL="377191" indent="-285750" algn="just">
              <a:spcBef>
                <a:spcPts val="0"/>
              </a:spcBef>
            </a:pPr>
            <a:endParaRPr lang="en-IN" sz="2800" dirty="0">
              <a:latin typeface="Trebuchet MS" panose="020B0603020202020204" pitchFamily="34" charset="0"/>
            </a:endParaRPr>
          </a:p>
          <a:p>
            <a:pPr marL="548641" indent="-457200">
              <a:spcBef>
                <a:spcPts val="0"/>
              </a:spcBef>
            </a:pPr>
            <a:r>
              <a:rPr lang="en-IN" sz="2800" dirty="0">
                <a:latin typeface="Trebuchet MS" panose="020B0603020202020204" pitchFamily="34" charset="0"/>
              </a:rPr>
              <a:t>Technological Threads for developing Semantic Web:</a:t>
            </a:r>
          </a:p>
          <a:p>
            <a:pPr marL="1062991" lvl="1" indent="-514350" algn="just">
              <a:spcBef>
                <a:spcPts val="0"/>
              </a:spcBef>
              <a:buFont typeface="+mj-lt"/>
              <a:buAutoNum type="arabicPeriod"/>
            </a:pPr>
            <a:r>
              <a:rPr lang="en-IN" sz="2600" dirty="0">
                <a:latin typeface="Trebuchet MS" panose="020B0603020202020204" pitchFamily="34" charset="0"/>
              </a:rPr>
              <a:t>XML(Extensible Markup Language)</a:t>
            </a:r>
          </a:p>
          <a:p>
            <a:pPr marL="1062991" lvl="1" indent="-514350" algn="just">
              <a:spcBef>
                <a:spcPts val="0"/>
              </a:spcBef>
              <a:buFont typeface="+mj-lt"/>
              <a:buAutoNum type="arabicPeriod"/>
            </a:pPr>
            <a:r>
              <a:rPr lang="en-IN" sz="2600" dirty="0">
                <a:latin typeface="Trebuchet MS" panose="020B0603020202020204" pitchFamily="34" charset="0"/>
              </a:rPr>
              <a:t>RDF(Resource Description Framework)</a:t>
            </a:r>
          </a:p>
          <a:p>
            <a:pPr marL="1062991" lvl="1" indent="-514350" algn="just">
              <a:spcBef>
                <a:spcPts val="0"/>
              </a:spcBef>
              <a:buFont typeface="+mj-lt"/>
              <a:buAutoNum type="arabicPeriod"/>
            </a:pPr>
            <a:r>
              <a:rPr lang="en-IN" sz="2600" dirty="0">
                <a:latin typeface="Trebuchet MS" panose="020B0603020202020204" pitchFamily="34" charset="0"/>
              </a:rPr>
              <a:t>OWL(Web Ontology Language)</a:t>
            </a:r>
          </a:p>
          <a:p>
            <a:pPr marL="548641" lvl="1" indent="0" algn="just">
              <a:spcBef>
                <a:spcPts val="0"/>
              </a:spcBef>
              <a:buNone/>
            </a:pPr>
            <a:endParaRPr lang="en-IN" sz="2600" dirty="0">
              <a:latin typeface="Trebuchet MS" panose="020B0603020202020204" pitchFamily="34" charset="0"/>
            </a:endParaRPr>
          </a:p>
          <a:p>
            <a:pPr marL="548641" lvl="1" indent="0" algn="just">
              <a:spcBef>
                <a:spcPts val="0"/>
              </a:spcBef>
              <a:buNone/>
            </a:pPr>
            <a:r>
              <a:rPr lang="en-IN" sz="2600" dirty="0">
                <a:latin typeface="Trebuchet MS" panose="020B0603020202020204" pitchFamily="34" charset="0"/>
              </a:rPr>
              <a:t> </a:t>
            </a:r>
            <a:endParaRPr sz="2600" dirty="0">
              <a:latin typeface="Trebuchet MS" panose="020B0603020202020204" pitchFamily="34" charset="0"/>
            </a:endParaRPr>
          </a:p>
        </p:txBody>
      </p:sp>
    </p:spTree>
    <p:extLst>
      <p:ext uri="{BB962C8B-B14F-4D97-AF65-F5344CB8AC3E}">
        <p14:creationId xmlns:p14="http://schemas.microsoft.com/office/powerpoint/2010/main" val="432244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Trebuchet MS" panose="020B0603020202020204" pitchFamily="34" charset="0"/>
              </a:rPr>
              <a:t>Extensible Markup Language(XML)</a:t>
            </a:r>
            <a:endParaRPr dirty="0">
              <a:latin typeface="Bahnschrift" panose="020B0502040204020203" pitchFamily="34" charset="0"/>
            </a:endParaRPr>
          </a:p>
        </p:txBody>
      </p:sp>
      <p:sp>
        <p:nvSpPr>
          <p:cNvPr id="3" name="Text Placeholder 2">
            <a:extLst>
              <a:ext uri="{FF2B5EF4-FFF2-40B4-BE49-F238E27FC236}">
                <a16:creationId xmlns:a16="http://schemas.microsoft.com/office/drawing/2014/main" id="{FB4B8CA2-19C7-4125-8677-3C470DE1A0E4}"/>
              </a:ext>
            </a:extLst>
          </p:cNvPr>
          <p:cNvSpPr>
            <a:spLocks noGrp="1"/>
          </p:cNvSpPr>
          <p:nvPr>
            <p:ph type="body" idx="1"/>
          </p:nvPr>
        </p:nvSpPr>
        <p:spPr>
          <a:xfrm>
            <a:off x="677334" y="1265042"/>
            <a:ext cx="8596668" cy="5159325"/>
          </a:xfrm>
        </p:spPr>
        <p:txBody>
          <a:bodyPr>
            <a:noAutofit/>
          </a:bodyPr>
          <a:lstStyle/>
          <a:p>
            <a:r>
              <a:rPr lang="en-IN" sz="2800" dirty="0"/>
              <a:t>XML lets everyone to create their own tags.</a:t>
            </a:r>
          </a:p>
          <a:p>
            <a:r>
              <a:rPr lang="en-IN" sz="2800" dirty="0"/>
              <a:t>These tags can be used by the script programs in sophisticated ways to perform various tasks, but the script writer has to know what the page writer uses each tag for.</a:t>
            </a:r>
          </a:p>
          <a:p>
            <a:r>
              <a:rPr lang="en-IN" sz="2800" dirty="0"/>
              <a:t>In short, XML allows you to add arbitrary structure to the documents but says nothing about what the structures mean.</a:t>
            </a:r>
          </a:p>
          <a:p>
            <a:r>
              <a:rPr lang="en-IN" sz="2800" dirty="0"/>
              <a:t>It has no built mechanism to convey the meaning of the user’s new tags to other users.</a:t>
            </a:r>
          </a:p>
        </p:txBody>
      </p:sp>
    </p:spTree>
    <p:extLst>
      <p:ext uri="{BB962C8B-B14F-4D97-AF65-F5344CB8AC3E}">
        <p14:creationId xmlns:p14="http://schemas.microsoft.com/office/powerpoint/2010/main" val="1284803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C97C1-2BCC-4E5F-A09F-4EC547D29604}"/>
              </a:ext>
            </a:extLst>
          </p:cNvPr>
          <p:cNvSpPr>
            <a:spLocks noGrp="1"/>
          </p:cNvSpPr>
          <p:nvPr>
            <p:ph type="title"/>
          </p:nvPr>
        </p:nvSpPr>
        <p:spPr/>
        <p:txBody>
          <a:bodyPr/>
          <a:lstStyle/>
          <a:p>
            <a:r>
              <a:rPr lang="en-US" altLang="en-US" dirty="0"/>
              <a:t>XML: limitations for semantic markup</a:t>
            </a:r>
            <a:endParaRPr lang="en-IN" dirty="0"/>
          </a:p>
        </p:txBody>
      </p:sp>
      <p:sp>
        <p:nvSpPr>
          <p:cNvPr id="3" name="Text Placeholder 2">
            <a:extLst>
              <a:ext uri="{FF2B5EF4-FFF2-40B4-BE49-F238E27FC236}">
                <a16:creationId xmlns:a16="http://schemas.microsoft.com/office/drawing/2014/main" id="{873DBCB4-9D05-4BAC-95C0-F76D23281CE3}"/>
              </a:ext>
            </a:extLst>
          </p:cNvPr>
          <p:cNvSpPr>
            <a:spLocks noGrp="1"/>
          </p:cNvSpPr>
          <p:nvPr>
            <p:ph type="body" idx="1"/>
          </p:nvPr>
        </p:nvSpPr>
        <p:spPr>
          <a:xfrm>
            <a:off x="677334" y="1397018"/>
            <a:ext cx="8596668" cy="5135757"/>
          </a:xfrm>
        </p:spPr>
        <p:txBody>
          <a:bodyPr>
            <a:normAutofit/>
          </a:bodyPr>
          <a:lstStyle/>
          <a:p>
            <a:r>
              <a:rPr lang="en-US" altLang="en-US" sz="2800" dirty="0"/>
              <a:t>XML representation makes no commitment on:</a:t>
            </a:r>
          </a:p>
          <a:p>
            <a:pPr lvl="1"/>
            <a:r>
              <a:rPr lang="en-US" altLang="en-US" sz="2600" dirty="0"/>
              <a:t>Domain specific ontological </a:t>
            </a:r>
            <a:r>
              <a:rPr lang="en-US" altLang="en-US" sz="2600" b="1" dirty="0">
                <a:solidFill>
                  <a:srgbClr val="0000FF"/>
                </a:solidFill>
              </a:rPr>
              <a:t>vocabulary</a:t>
            </a:r>
          </a:p>
          <a:p>
            <a:pPr lvl="2"/>
            <a:r>
              <a:rPr lang="en-US" altLang="en-US" sz="2600" dirty="0"/>
              <a:t>Which words shall we use to describe a given set of concepts?</a:t>
            </a:r>
          </a:p>
          <a:p>
            <a:pPr lvl="1"/>
            <a:r>
              <a:rPr lang="en-US" altLang="en-US" sz="2600" dirty="0"/>
              <a:t>Ontological </a:t>
            </a:r>
            <a:r>
              <a:rPr lang="en-US" altLang="en-US" sz="2600" b="1" dirty="0">
                <a:solidFill>
                  <a:srgbClr val="0000FF"/>
                </a:solidFill>
              </a:rPr>
              <a:t>modelling primitives</a:t>
            </a:r>
          </a:p>
          <a:p>
            <a:pPr lvl="2"/>
            <a:r>
              <a:rPr lang="en-US" altLang="en-US" sz="2600" dirty="0"/>
              <a:t>How can we combine these concepts, e.g. “car is a-kind-of (subclass-of) vehicle”</a:t>
            </a:r>
            <a:endParaRPr lang="en-US" altLang="en-US" sz="2200" dirty="0"/>
          </a:p>
          <a:p>
            <a:pPr marL="1051561" lvl="2" indent="0">
              <a:buNone/>
            </a:pPr>
            <a:r>
              <a:rPr lang="en-US" altLang="en-US" sz="2200" dirty="0"/>
              <a:t>                                                                          </a:t>
            </a:r>
          </a:p>
          <a:p>
            <a:r>
              <a:rPr lang="en-US" altLang="en-US" sz="2800" dirty="0"/>
              <a:t>Requires pre-arranged agreement on </a:t>
            </a:r>
            <a:r>
              <a:rPr lang="en-US" altLang="en-US" sz="2800" dirty="0">
                <a:sym typeface="Wingdings" panose="05000000000000000000" pitchFamily="2" charset="2"/>
              </a:rPr>
              <a:t>vocabulary and primitives</a:t>
            </a:r>
            <a:endParaRPr lang="en-IN" sz="2800" dirty="0"/>
          </a:p>
        </p:txBody>
      </p:sp>
    </p:spTree>
    <p:extLst>
      <p:ext uri="{BB962C8B-B14F-4D97-AF65-F5344CB8AC3E}">
        <p14:creationId xmlns:p14="http://schemas.microsoft.com/office/powerpoint/2010/main" val="415624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GB" altLang="en-US" dirty="0"/>
              <a:t>XML is a first step</a:t>
            </a:r>
            <a:endParaRPr dirty="0">
              <a:latin typeface="Bahnschrift" panose="020B0502040204020203" pitchFamily="34" charset="0"/>
            </a:endParaRPr>
          </a:p>
        </p:txBody>
      </p:sp>
      <p:sp>
        <p:nvSpPr>
          <p:cNvPr id="3" name="Text Placeholder 2">
            <a:extLst>
              <a:ext uri="{FF2B5EF4-FFF2-40B4-BE49-F238E27FC236}">
                <a16:creationId xmlns:a16="http://schemas.microsoft.com/office/drawing/2014/main" id="{C9FF214D-43DA-4F13-8444-51EFA3527212}"/>
              </a:ext>
            </a:extLst>
          </p:cNvPr>
          <p:cNvSpPr>
            <a:spLocks noGrp="1"/>
          </p:cNvSpPr>
          <p:nvPr>
            <p:ph type="body" idx="1"/>
          </p:nvPr>
        </p:nvSpPr>
        <p:spPr>
          <a:xfrm>
            <a:off x="752748" y="1283897"/>
            <a:ext cx="8596668" cy="4928367"/>
          </a:xfrm>
        </p:spPr>
        <p:txBody>
          <a:bodyPr>
            <a:normAutofit/>
          </a:bodyPr>
          <a:lstStyle/>
          <a:p>
            <a:pPr>
              <a:lnSpc>
                <a:spcPct val="90000"/>
              </a:lnSpc>
            </a:pPr>
            <a:r>
              <a:rPr lang="en-GB" altLang="en-US" sz="2800" dirty="0"/>
              <a:t>Semantic markup</a:t>
            </a:r>
          </a:p>
          <a:p>
            <a:pPr marL="937260" lvl="1" indent="-342900">
              <a:lnSpc>
                <a:spcPct val="90000"/>
              </a:lnSpc>
              <a:buFont typeface="+mj-lt"/>
              <a:buAutoNum type="arabicPeriod"/>
            </a:pPr>
            <a:r>
              <a:rPr lang="en-GB" altLang="en-US" sz="2600" dirty="0"/>
              <a:t>HTML </a:t>
            </a:r>
            <a:r>
              <a:rPr lang="en-GB" altLang="en-US" sz="2600" b="1" dirty="0">
                <a:solidFill>
                  <a:srgbClr val="0000FF"/>
                </a:solidFill>
                <a:sym typeface="Wingdings" panose="05000000000000000000" pitchFamily="2" charset="2"/>
              </a:rPr>
              <a:t></a:t>
            </a:r>
            <a:r>
              <a:rPr lang="en-GB" altLang="en-US" sz="2600" dirty="0"/>
              <a:t> layout</a:t>
            </a:r>
          </a:p>
          <a:p>
            <a:pPr marL="937260" lvl="1" indent="-342900">
              <a:lnSpc>
                <a:spcPct val="90000"/>
              </a:lnSpc>
              <a:buFont typeface="+mj-lt"/>
              <a:buAutoNum type="arabicPeriod"/>
            </a:pPr>
            <a:r>
              <a:rPr lang="en-GB" altLang="en-US" sz="2600" dirty="0"/>
              <a:t>XML </a:t>
            </a:r>
            <a:r>
              <a:rPr lang="en-GB" altLang="en-US" sz="2600" b="1" dirty="0">
                <a:solidFill>
                  <a:srgbClr val="0000FF"/>
                </a:solidFill>
                <a:sym typeface="Wingdings" panose="05000000000000000000" pitchFamily="2" charset="2"/>
              </a:rPr>
              <a:t></a:t>
            </a:r>
            <a:r>
              <a:rPr lang="en-GB" altLang="en-US" sz="2600" dirty="0"/>
              <a:t> content</a:t>
            </a:r>
          </a:p>
          <a:p>
            <a:pPr>
              <a:lnSpc>
                <a:spcPct val="90000"/>
              </a:lnSpc>
            </a:pPr>
            <a:r>
              <a:rPr lang="en-GB" altLang="en-US" sz="2800" dirty="0"/>
              <a:t>Metadata</a:t>
            </a:r>
          </a:p>
          <a:p>
            <a:pPr marL="937260" lvl="1" indent="-342900">
              <a:lnSpc>
                <a:spcPct val="90000"/>
              </a:lnSpc>
              <a:buFont typeface="+mj-lt"/>
              <a:buAutoNum type="arabicPeriod"/>
            </a:pPr>
            <a:r>
              <a:rPr lang="en-GB" altLang="en-US" sz="2600" dirty="0"/>
              <a:t>within documents, not across documents</a:t>
            </a:r>
          </a:p>
          <a:p>
            <a:pPr marL="937260" lvl="1" indent="-342900">
              <a:lnSpc>
                <a:spcPct val="90000"/>
              </a:lnSpc>
              <a:buFont typeface="+mj-lt"/>
              <a:buAutoNum type="arabicPeriod"/>
            </a:pPr>
            <a:r>
              <a:rPr lang="en-GB" altLang="en-US" sz="2600" i="1" dirty="0"/>
              <a:t>prescriptive</a:t>
            </a:r>
            <a:r>
              <a:rPr lang="en-GB" altLang="en-US" sz="2600" dirty="0"/>
              <a:t>, not </a:t>
            </a:r>
            <a:r>
              <a:rPr lang="en-GB" altLang="en-US" sz="2600" i="1" dirty="0"/>
              <a:t>descriptive</a:t>
            </a:r>
          </a:p>
          <a:p>
            <a:pPr marL="937260" lvl="1" indent="-342900">
              <a:lnSpc>
                <a:spcPct val="90000"/>
              </a:lnSpc>
              <a:buFont typeface="+mj-lt"/>
              <a:buAutoNum type="arabicPeriod"/>
            </a:pPr>
            <a:r>
              <a:rPr lang="en-GB" altLang="en-US" sz="2600" dirty="0"/>
              <a:t>No commitment on vocabulary and modelling primitives</a:t>
            </a:r>
          </a:p>
          <a:p>
            <a:pPr>
              <a:lnSpc>
                <a:spcPct val="90000"/>
              </a:lnSpc>
            </a:pPr>
            <a:r>
              <a:rPr lang="en-GB" altLang="en-US" sz="2800" dirty="0">
                <a:solidFill>
                  <a:schemeClr val="tx1"/>
                </a:solidFill>
              </a:rPr>
              <a:t>RDF</a:t>
            </a:r>
            <a:r>
              <a:rPr lang="en-GB" altLang="en-US" sz="2800" dirty="0"/>
              <a:t> is the next step</a:t>
            </a:r>
          </a:p>
          <a:p>
            <a:pPr>
              <a:lnSpc>
                <a:spcPct val="90000"/>
              </a:lnSpc>
            </a:pPr>
            <a:endParaRPr lang="en-GB" altLang="en-US" dirty="0"/>
          </a:p>
          <a:p>
            <a:endParaRPr lang="en-IN" dirty="0"/>
          </a:p>
        </p:txBody>
      </p:sp>
    </p:spTree>
    <p:extLst>
      <p:ext uri="{BB962C8B-B14F-4D97-AF65-F5344CB8AC3E}">
        <p14:creationId xmlns:p14="http://schemas.microsoft.com/office/powerpoint/2010/main" val="1019119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GB" altLang="en-US" dirty="0"/>
              <a:t>Resource Description Framework (RDF)</a:t>
            </a:r>
            <a:endParaRPr dirty="0">
              <a:latin typeface="Bahnschrift" panose="020B0502040204020203" pitchFamily="34" charset="0"/>
            </a:endParaRPr>
          </a:p>
        </p:txBody>
      </p:sp>
      <p:sp>
        <p:nvSpPr>
          <p:cNvPr id="3" name="Google Shape;151;p2">
            <a:extLst>
              <a:ext uri="{FF2B5EF4-FFF2-40B4-BE49-F238E27FC236}">
                <a16:creationId xmlns:a16="http://schemas.microsoft.com/office/drawing/2014/main" id="{8038733B-3D96-4E78-AF57-C341EBC1CD94}"/>
              </a:ext>
            </a:extLst>
          </p:cNvPr>
          <p:cNvSpPr txBox="1">
            <a:spLocks noGrp="1"/>
          </p:cNvSpPr>
          <p:nvPr>
            <p:ph type="body" idx="1"/>
          </p:nvPr>
        </p:nvSpPr>
        <p:spPr>
          <a:xfrm>
            <a:off x="838986" y="1102935"/>
            <a:ext cx="8689540" cy="5561815"/>
          </a:xfrm>
          <a:prstGeom prst="rect">
            <a:avLst/>
          </a:prstGeom>
          <a:noFill/>
          <a:ln>
            <a:noFill/>
          </a:ln>
        </p:spPr>
        <p:txBody>
          <a:bodyPr spcFirstLastPara="1" wrap="square" lIns="91425" tIns="45700" rIns="91425" bIns="45700" anchor="t" anchorCtr="0">
            <a:normAutofit/>
          </a:bodyPr>
          <a:lstStyle/>
          <a:p>
            <a:pPr marL="605791" indent="-514350" algn="just">
              <a:spcBef>
                <a:spcPts val="0"/>
              </a:spcBef>
              <a:buFont typeface="+mj-lt"/>
              <a:buAutoNum type="arabicPeriod"/>
            </a:pPr>
            <a:r>
              <a:rPr lang="en-IN" sz="2800" dirty="0">
                <a:latin typeface="Trebuchet MS" panose="020B0603020202020204" pitchFamily="34" charset="0"/>
              </a:rPr>
              <a:t>A schema for defining information on the web.It provides the technology for expressing the meaning of terms and concepts in a form that computers can readily process</a:t>
            </a:r>
          </a:p>
          <a:p>
            <a:pPr marL="605791" indent="-514350" algn="just">
              <a:spcBef>
                <a:spcPts val="0"/>
              </a:spcBef>
              <a:buFont typeface="+mj-lt"/>
              <a:buAutoNum type="arabicPeriod"/>
            </a:pPr>
            <a:endParaRPr lang="en-IN" sz="2800" dirty="0">
              <a:latin typeface="Trebuchet MS" panose="020B0603020202020204" pitchFamily="34" charset="0"/>
            </a:endParaRPr>
          </a:p>
          <a:p>
            <a:pPr marL="605791" indent="-514350" algn="just">
              <a:spcBef>
                <a:spcPts val="0"/>
              </a:spcBef>
              <a:buFont typeface="+mj-lt"/>
              <a:buAutoNum type="arabicPeriod"/>
            </a:pPr>
            <a:r>
              <a:rPr lang="en-IN" sz="2800" dirty="0">
                <a:latin typeface="Trebuchet MS" panose="020B0603020202020204" pitchFamily="34" charset="0"/>
              </a:rPr>
              <a:t>RDF encodes this information on the XML page in sets of triples.The triples is an information on the web about related things. </a:t>
            </a:r>
          </a:p>
          <a:p>
            <a:pPr marL="605791" indent="-514350" algn="just">
              <a:spcBef>
                <a:spcPts val="0"/>
              </a:spcBef>
              <a:buFont typeface="+mj-lt"/>
              <a:buAutoNum type="arabicPeriod"/>
            </a:pPr>
            <a:endParaRPr lang="en-IN" sz="2800" dirty="0">
              <a:latin typeface="Trebuchet MS" panose="020B0603020202020204" pitchFamily="34" charset="0"/>
            </a:endParaRPr>
          </a:p>
          <a:p>
            <a:pPr marL="605791" indent="-514350" algn="just">
              <a:spcBef>
                <a:spcPts val="0"/>
              </a:spcBef>
              <a:buFont typeface="+mj-lt"/>
              <a:buAutoNum type="arabicPeriod"/>
            </a:pPr>
            <a:r>
              <a:rPr lang="en-IN" sz="2800" dirty="0">
                <a:latin typeface="Trebuchet MS" panose="020B0603020202020204" pitchFamily="34" charset="0"/>
              </a:rPr>
              <a:t>Each triple is a combination of subject,verb and object,similar to an elementary sentence.</a:t>
            </a:r>
          </a:p>
        </p:txBody>
      </p:sp>
    </p:spTree>
    <p:extLst>
      <p:ext uri="{BB962C8B-B14F-4D97-AF65-F5344CB8AC3E}">
        <p14:creationId xmlns:p14="http://schemas.microsoft.com/office/powerpoint/2010/main" val="3200683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36995E0E-F531-4F4F-9B68-E0EDF7696272}"/>
              </a:ext>
            </a:extLst>
          </p:cNvPr>
          <p:cNvSpPr>
            <a:spLocks noGrp="1"/>
          </p:cNvSpPr>
          <p:nvPr>
            <p:ph type="sldNum" sz="quarter" idx="10"/>
          </p:nvPr>
        </p:nvSpPr>
        <p:spPr/>
        <p:txBody>
          <a:bodyPr/>
          <a:lstStyle/>
          <a:p>
            <a:fld id="{3AE2C00C-8CA3-4291-8853-F46959377304}" type="slidenum">
              <a:rPr lang="en-US" altLang="en-US"/>
              <a:pPr/>
              <a:t>10</a:t>
            </a:fld>
            <a:endParaRPr lang="en-US" altLang="en-US"/>
          </a:p>
        </p:txBody>
      </p:sp>
      <p:sp>
        <p:nvSpPr>
          <p:cNvPr id="37890" name="Rectangle 2">
            <a:extLst>
              <a:ext uri="{FF2B5EF4-FFF2-40B4-BE49-F238E27FC236}">
                <a16:creationId xmlns:a16="http://schemas.microsoft.com/office/drawing/2014/main" id="{89EC6F5E-8BF3-458E-946A-2D724BB44047}"/>
              </a:ext>
            </a:extLst>
          </p:cNvPr>
          <p:cNvSpPr>
            <a:spLocks noGrp="1" noRot="1" noChangeArrowheads="1"/>
          </p:cNvSpPr>
          <p:nvPr>
            <p:ph type="title"/>
          </p:nvPr>
        </p:nvSpPr>
        <p:spPr/>
        <p:txBody>
          <a:bodyPr/>
          <a:lstStyle/>
          <a:p>
            <a:r>
              <a:rPr lang="en-GB" altLang="en-US" dirty="0"/>
              <a:t>Resource Description Framework (RDF)</a:t>
            </a:r>
          </a:p>
        </p:txBody>
      </p:sp>
      <p:sp>
        <p:nvSpPr>
          <p:cNvPr id="37891" name="Rectangle 3">
            <a:extLst>
              <a:ext uri="{FF2B5EF4-FFF2-40B4-BE49-F238E27FC236}">
                <a16:creationId xmlns:a16="http://schemas.microsoft.com/office/drawing/2014/main" id="{572BCA19-E38A-4596-92C3-2C1E0ECBF197}"/>
              </a:ext>
            </a:extLst>
          </p:cNvPr>
          <p:cNvSpPr>
            <a:spLocks noGrp="1" noChangeArrowheads="1"/>
          </p:cNvSpPr>
          <p:nvPr>
            <p:ph type="body" idx="1"/>
          </p:nvPr>
        </p:nvSpPr>
        <p:spPr>
          <a:xfrm>
            <a:off x="895546" y="1545996"/>
            <a:ext cx="8378456" cy="4372204"/>
          </a:xfrm>
        </p:spPr>
        <p:txBody>
          <a:bodyPr>
            <a:normAutofit lnSpcReduction="10000"/>
          </a:bodyPr>
          <a:lstStyle/>
          <a:p>
            <a:pPr>
              <a:lnSpc>
                <a:spcPct val="80000"/>
              </a:lnSpc>
            </a:pPr>
            <a:r>
              <a:rPr lang="en-GB" altLang="en-US" sz="2800" dirty="0"/>
              <a:t>A standard of W3C</a:t>
            </a:r>
          </a:p>
          <a:p>
            <a:pPr>
              <a:lnSpc>
                <a:spcPct val="80000"/>
              </a:lnSpc>
            </a:pPr>
            <a:r>
              <a:rPr lang="en-GB" altLang="en-US" sz="2800" dirty="0"/>
              <a:t>Relationships </a:t>
            </a:r>
            <a:r>
              <a:rPr lang="en-GB" altLang="en-US" sz="2800" i="1" dirty="0"/>
              <a:t>between</a:t>
            </a:r>
            <a:r>
              <a:rPr lang="en-GB" altLang="en-US" sz="2800" dirty="0"/>
              <a:t> documents</a:t>
            </a:r>
          </a:p>
          <a:p>
            <a:pPr>
              <a:lnSpc>
                <a:spcPct val="80000"/>
              </a:lnSpc>
            </a:pPr>
            <a:r>
              <a:rPr lang="en-GB" altLang="en-US" sz="2800" dirty="0"/>
              <a:t>Consisting of triples or sentences:</a:t>
            </a:r>
          </a:p>
          <a:p>
            <a:pPr lvl="1">
              <a:lnSpc>
                <a:spcPct val="80000"/>
              </a:lnSpc>
            </a:pPr>
            <a:r>
              <a:rPr lang="en-GB" altLang="en-US" sz="2600" dirty="0"/>
              <a:t>&lt;subject, property, object&gt;</a:t>
            </a:r>
          </a:p>
          <a:p>
            <a:pPr lvl="1">
              <a:lnSpc>
                <a:spcPct val="80000"/>
              </a:lnSpc>
            </a:pPr>
            <a:r>
              <a:rPr lang="en-GB" altLang="en-US" sz="2600" dirty="0"/>
              <a:t>&lt;“Mozart”, composed, “The Magic Flute” &gt;</a:t>
            </a:r>
          </a:p>
          <a:p>
            <a:pPr>
              <a:lnSpc>
                <a:spcPct val="80000"/>
              </a:lnSpc>
            </a:pPr>
            <a:r>
              <a:rPr lang="en-GB" altLang="en-US" sz="2800" dirty="0"/>
              <a:t>RDFS extends RDF with standard “ontology vocabulary”:</a:t>
            </a:r>
          </a:p>
          <a:p>
            <a:pPr lvl="1">
              <a:lnSpc>
                <a:spcPct val="80000"/>
              </a:lnSpc>
            </a:pPr>
            <a:r>
              <a:rPr lang="en-GB" altLang="en-US" sz="2600" dirty="0"/>
              <a:t>Class, Property</a:t>
            </a:r>
          </a:p>
          <a:p>
            <a:pPr lvl="1">
              <a:lnSpc>
                <a:spcPct val="80000"/>
              </a:lnSpc>
            </a:pPr>
            <a:r>
              <a:rPr lang="en-GB" altLang="en-US" sz="2600" dirty="0"/>
              <a:t>Type, subClassOf</a:t>
            </a:r>
          </a:p>
          <a:p>
            <a:pPr lvl="1">
              <a:lnSpc>
                <a:spcPct val="80000"/>
              </a:lnSpc>
            </a:pPr>
            <a:r>
              <a:rPr lang="en-GB" altLang="en-US" sz="2600" dirty="0"/>
              <a:t>domain, range</a:t>
            </a:r>
          </a:p>
          <a:p>
            <a:pPr lvl="1">
              <a:lnSpc>
                <a:spcPct val="80000"/>
              </a:lnSpc>
            </a:pPr>
            <a:endParaRPr lang="en-GB" alt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3">
            <a:extLst>
              <a:ext uri="{FF2B5EF4-FFF2-40B4-BE49-F238E27FC236}">
                <a16:creationId xmlns:a16="http://schemas.microsoft.com/office/drawing/2014/main" id="{E0868D7D-B578-4C2C-9392-09250E5622D1}"/>
              </a:ext>
            </a:extLst>
          </p:cNvPr>
          <p:cNvSpPr>
            <a:spLocks noGrp="1"/>
          </p:cNvSpPr>
          <p:nvPr>
            <p:ph type="sldNum" sz="quarter" idx="10"/>
          </p:nvPr>
        </p:nvSpPr>
        <p:spPr/>
        <p:txBody>
          <a:bodyPr/>
          <a:lstStyle/>
          <a:p>
            <a:fld id="{B37B1289-F821-4007-B693-DA106135CA40}" type="slidenum">
              <a:rPr lang="en-US" altLang="en-US"/>
              <a:pPr/>
              <a:t>11</a:t>
            </a:fld>
            <a:endParaRPr lang="en-US" altLang="en-US"/>
          </a:p>
        </p:txBody>
      </p:sp>
      <p:sp>
        <p:nvSpPr>
          <p:cNvPr id="39938" name="Rectangle 2">
            <a:extLst>
              <a:ext uri="{FF2B5EF4-FFF2-40B4-BE49-F238E27FC236}">
                <a16:creationId xmlns:a16="http://schemas.microsoft.com/office/drawing/2014/main" id="{D4D065D4-5A03-441C-85F0-ADB2D43D2D4F}"/>
              </a:ext>
            </a:extLst>
          </p:cNvPr>
          <p:cNvSpPr>
            <a:spLocks noGrp="1" noRot="1" noChangeArrowheads="1"/>
          </p:cNvSpPr>
          <p:nvPr>
            <p:ph type="title"/>
          </p:nvPr>
        </p:nvSpPr>
        <p:spPr/>
        <p:txBody>
          <a:bodyPr/>
          <a:lstStyle/>
          <a:p>
            <a:r>
              <a:rPr lang="en-US" altLang="en-US" dirty="0"/>
              <a:t>RDF for semantic annotation</a:t>
            </a:r>
          </a:p>
        </p:txBody>
      </p:sp>
      <p:sp>
        <p:nvSpPr>
          <p:cNvPr id="39939" name="Rectangle 3">
            <a:extLst>
              <a:ext uri="{FF2B5EF4-FFF2-40B4-BE49-F238E27FC236}">
                <a16:creationId xmlns:a16="http://schemas.microsoft.com/office/drawing/2014/main" id="{84D04932-3928-485C-A1D2-452940895A3E}"/>
              </a:ext>
            </a:extLst>
          </p:cNvPr>
          <p:cNvSpPr>
            <a:spLocks noGrp="1" noChangeArrowheads="1"/>
          </p:cNvSpPr>
          <p:nvPr>
            <p:ph type="body" idx="1"/>
          </p:nvPr>
        </p:nvSpPr>
        <p:spPr>
          <a:xfrm>
            <a:off x="677335" y="1397000"/>
            <a:ext cx="8947432" cy="1600200"/>
          </a:xfrm>
        </p:spPr>
        <p:txBody>
          <a:bodyPr>
            <a:noAutofit/>
          </a:bodyPr>
          <a:lstStyle/>
          <a:p>
            <a:r>
              <a:rPr lang="en-US" altLang="en-US" sz="2800" dirty="0"/>
              <a:t>RDF provides metadata about Web resources</a:t>
            </a:r>
          </a:p>
          <a:p>
            <a:r>
              <a:rPr lang="en-US" altLang="en-US" sz="2800" b="1" dirty="0">
                <a:solidFill>
                  <a:srgbClr val="0000FF"/>
                </a:solidFill>
              </a:rPr>
              <a:t>Object -&gt; Attribute-&gt; Value</a:t>
            </a:r>
            <a:r>
              <a:rPr lang="en-US" altLang="en-US" sz="2800" dirty="0"/>
              <a:t> triples</a:t>
            </a:r>
          </a:p>
          <a:p>
            <a:r>
              <a:rPr lang="en-US" altLang="en-US" sz="2800" dirty="0"/>
              <a:t>It has an </a:t>
            </a:r>
            <a:r>
              <a:rPr lang="en-US" altLang="en-US" sz="2800" b="1" dirty="0">
                <a:solidFill>
                  <a:srgbClr val="0000FF"/>
                </a:solidFill>
              </a:rPr>
              <a:t>XML syntax</a:t>
            </a:r>
          </a:p>
          <a:p>
            <a:r>
              <a:rPr lang="en-US" altLang="en-US" sz="2800" dirty="0"/>
              <a:t>Chained triples form a </a:t>
            </a:r>
            <a:r>
              <a:rPr lang="en-US" altLang="en-US" sz="2800" b="1" dirty="0">
                <a:solidFill>
                  <a:srgbClr val="0000FF"/>
                </a:solidFill>
              </a:rPr>
              <a:t>graph</a:t>
            </a:r>
          </a:p>
        </p:txBody>
      </p:sp>
      <p:grpSp>
        <p:nvGrpSpPr>
          <p:cNvPr id="39963" name="Group 27">
            <a:extLst>
              <a:ext uri="{FF2B5EF4-FFF2-40B4-BE49-F238E27FC236}">
                <a16:creationId xmlns:a16="http://schemas.microsoft.com/office/drawing/2014/main" id="{20CA851B-F9F3-4BE5-888D-8C98E52F6825}"/>
              </a:ext>
            </a:extLst>
          </p:cNvPr>
          <p:cNvGrpSpPr>
            <a:grpSpLocks/>
          </p:cNvGrpSpPr>
          <p:nvPr/>
        </p:nvGrpSpPr>
        <p:grpSpPr bwMode="auto">
          <a:xfrm>
            <a:off x="1338608" y="3971780"/>
            <a:ext cx="7381185" cy="1120775"/>
            <a:chOff x="649" y="2027"/>
            <a:chExt cx="4692" cy="706"/>
          </a:xfrm>
        </p:grpSpPr>
        <p:grpSp>
          <p:nvGrpSpPr>
            <p:cNvPr id="39962" name="Group 26">
              <a:extLst>
                <a:ext uri="{FF2B5EF4-FFF2-40B4-BE49-F238E27FC236}">
                  <a16:creationId xmlns:a16="http://schemas.microsoft.com/office/drawing/2014/main" id="{9BA60728-3CAF-41C9-BB58-94E0B388CD58}"/>
                </a:ext>
              </a:extLst>
            </p:cNvPr>
            <p:cNvGrpSpPr>
              <a:grpSpLocks/>
            </p:cNvGrpSpPr>
            <p:nvPr/>
          </p:nvGrpSpPr>
          <p:grpSpPr bwMode="auto">
            <a:xfrm>
              <a:off x="649" y="2027"/>
              <a:ext cx="4692" cy="471"/>
              <a:chOff x="649" y="2027"/>
              <a:chExt cx="4692" cy="471"/>
            </a:xfrm>
          </p:grpSpPr>
          <p:sp>
            <p:nvSpPr>
              <p:cNvPr id="39941" name="Oval 5">
                <a:extLst>
                  <a:ext uri="{FF2B5EF4-FFF2-40B4-BE49-F238E27FC236}">
                    <a16:creationId xmlns:a16="http://schemas.microsoft.com/office/drawing/2014/main" id="{F8C01F98-08FD-44EE-87A8-31D4466474F9}"/>
                  </a:ext>
                </a:extLst>
              </p:cNvPr>
              <p:cNvSpPr>
                <a:spLocks noChangeArrowheads="1"/>
              </p:cNvSpPr>
              <p:nvPr/>
            </p:nvSpPr>
            <p:spPr bwMode="auto">
              <a:xfrm>
                <a:off x="649" y="2027"/>
                <a:ext cx="4692" cy="245"/>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rebuchet MS" panose="020B0603020202020204" pitchFamily="34" charset="0"/>
                  </a:rPr>
                  <a:t>http://sepang.nottingham.edu.my/~bpayam/images/payam-barnaghi.png</a:t>
                </a:r>
              </a:p>
            </p:txBody>
          </p:sp>
          <p:sp>
            <p:nvSpPr>
              <p:cNvPr id="39942" name="Text Box 6">
                <a:extLst>
                  <a:ext uri="{FF2B5EF4-FFF2-40B4-BE49-F238E27FC236}">
                    <a16:creationId xmlns:a16="http://schemas.microsoft.com/office/drawing/2014/main" id="{B52EC58E-EA19-4D1E-910C-387DFD23366F}"/>
                  </a:ext>
                </a:extLst>
              </p:cNvPr>
              <p:cNvSpPr txBox="1">
                <a:spLocks noChangeArrowheads="1"/>
              </p:cNvSpPr>
              <p:nvPr/>
            </p:nvSpPr>
            <p:spPr bwMode="auto">
              <a:xfrm>
                <a:off x="1392" y="2304"/>
                <a:ext cx="646" cy="19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rebuchet MS" panose="020B0603020202020204" pitchFamily="34" charset="0"/>
                  </a:rPr>
                  <a:t>has_image</a:t>
                </a:r>
              </a:p>
            </p:txBody>
          </p:sp>
        </p:grpSp>
        <p:sp>
          <p:nvSpPr>
            <p:cNvPr id="39943" name="Line 7">
              <a:extLst>
                <a:ext uri="{FF2B5EF4-FFF2-40B4-BE49-F238E27FC236}">
                  <a16:creationId xmlns:a16="http://schemas.microsoft.com/office/drawing/2014/main" id="{0CE3CD1F-6DB9-4297-92FF-8FEF67886154}"/>
                </a:ext>
              </a:extLst>
            </p:cNvPr>
            <p:cNvSpPr>
              <a:spLocks noChangeShapeType="1"/>
            </p:cNvSpPr>
            <p:nvPr/>
          </p:nvSpPr>
          <p:spPr bwMode="auto">
            <a:xfrm flipH="1">
              <a:off x="2203" y="2301"/>
              <a:ext cx="0" cy="432"/>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9944" name="Group 8">
            <a:extLst>
              <a:ext uri="{FF2B5EF4-FFF2-40B4-BE49-F238E27FC236}">
                <a16:creationId xmlns:a16="http://schemas.microsoft.com/office/drawing/2014/main" id="{AD18066F-4D6B-4C28-9BBB-51C7DDE582AF}"/>
              </a:ext>
            </a:extLst>
          </p:cNvPr>
          <p:cNvGrpSpPr>
            <a:grpSpLocks/>
          </p:cNvGrpSpPr>
          <p:nvPr/>
        </p:nvGrpSpPr>
        <p:grpSpPr bwMode="auto">
          <a:xfrm>
            <a:off x="3095555" y="5027617"/>
            <a:ext cx="5021517" cy="690563"/>
            <a:chOff x="1905" y="2691"/>
            <a:chExt cx="2420" cy="435"/>
          </a:xfrm>
        </p:grpSpPr>
        <p:sp>
          <p:nvSpPr>
            <p:cNvPr id="39945" name="Oval 9">
              <a:extLst>
                <a:ext uri="{FF2B5EF4-FFF2-40B4-BE49-F238E27FC236}">
                  <a16:creationId xmlns:a16="http://schemas.microsoft.com/office/drawing/2014/main" id="{A0239486-F037-462D-802E-B73C408B5894}"/>
                </a:ext>
              </a:extLst>
            </p:cNvPr>
            <p:cNvSpPr>
              <a:spLocks noChangeArrowheads="1"/>
            </p:cNvSpPr>
            <p:nvPr/>
          </p:nvSpPr>
          <p:spPr bwMode="auto">
            <a:xfrm>
              <a:off x="1905" y="2739"/>
              <a:ext cx="556" cy="273"/>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rebuchet MS" panose="020B0603020202020204" pitchFamily="34" charset="0"/>
                </a:rPr>
                <a:t>#Payam</a:t>
              </a:r>
            </a:p>
          </p:txBody>
        </p:sp>
        <p:sp>
          <p:nvSpPr>
            <p:cNvPr id="39946" name="Oval 10">
              <a:extLst>
                <a:ext uri="{FF2B5EF4-FFF2-40B4-BE49-F238E27FC236}">
                  <a16:creationId xmlns:a16="http://schemas.microsoft.com/office/drawing/2014/main" id="{E8263CDD-366F-44B4-8614-D105120D6E4E}"/>
                </a:ext>
              </a:extLst>
            </p:cNvPr>
            <p:cNvSpPr>
              <a:spLocks noChangeArrowheads="1"/>
            </p:cNvSpPr>
            <p:nvPr/>
          </p:nvSpPr>
          <p:spPr bwMode="auto">
            <a:xfrm>
              <a:off x="3408" y="2717"/>
              <a:ext cx="917" cy="409"/>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200">
                  <a:latin typeface="Trebuchet MS" panose="020B0603020202020204" pitchFamily="34" charset="0"/>
                </a:rPr>
                <a:t>payam@nottingham</a:t>
              </a:r>
            </a:p>
          </p:txBody>
        </p:sp>
        <p:sp>
          <p:nvSpPr>
            <p:cNvPr id="39947" name="Line 11">
              <a:extLst>
                <a:ext uri="{FF2B5EF4-FFF2-40B4-BE49-F238E27FC236}">
                  <a16:creationId xmlns:a16="http://schemas.microsoft.com/office/drawing/2014/main" id="{16FF48B7-D357-45C9-B04B-F6122E06976B}"/>
                </a:ext>
              </a:extLst>
            </p:cNvPr>
            <p:cNvSpPr>
              <a:spLocks noChangeShapeType="1"/>
            </p:cNvSpPr>
            <p:nvPr/>
          </p:nvSpPr>
          <p:spPr bwMode="auto">
            <a:xfrm>
              <a:off x="2496" y="2880"/>
              <a:ext cx="895" cy="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9948" name="Text Box 12">
              <a:extLst>
                <a:ext uri="{FF2B5EF4-FFF2-40B4-BE49-F238E27FC236}">
                  <a16:creationId xmlns:a16="http://schemas.microsoft.com/office/drawing/2014/main" id="{C6545DF6-4B61-4169-B504-65CDCB9CF02C}"/>
                </a:ext>
              </a:extLst>
            </p:cNvPr>
            <p:cNvSpPr txBox="1">
              <a:spLocks noChangeArrowheads="1"/>
            </p:cNvSpPr>
            <p:nvPr/>
          </p:nvSpPr>
          <p:spPr bwMode="auto">
            <a:xfrm>
              <a:off x="2696" y="2691"/>
              <a:ext cx="486" cy="19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rebuchet MS" panose="020B0603020202020204" pitchFamily="34" charset="0"/>
                </a:rPr>
                <a:t>has_email</a:t>
              </a:r>
            </a:p>
          </p:txBody>
        </p:sp>
      </p:grpSp>
      <p:grpSp>
        <p:nvGrpSpPr>
          <p:cNvPr id="39949" name="Group 13">
            <a:extLst>
              <a:ext uri="{FF2B5EF4-FFF2-40B4-BE49-F238E27FC236}">
                <a16:creationId xmlns:a16="http://schemas.microsoft.com/office/drawing/2014/main" id="{0CD47872-D641-4263-91BB-8A602A7016F7}"/>
              </a:ext>
            </a:extLst>
          </p:cNvPr>
          <p:cNvGrpSpPr>
            <a:grpSpLocks/>
          </p:cNvGrpSpPr>
          <p:nvPr/>
        </p:nvGrpSpPr>
        <p:grpSpPr bwMode="auto">
          <a:xfrm>
            <a:off x="1338608" y="4962530"/>
            <a:ext cx="3881546" cy="1700213"/>
            <a:chOff x="957" y="2932"/>
            <a:chExt cx="3025" cy="1071"/>
          </a:xfrm>
        </p:grpSpPr>
        <p:sp>
          <p:nvSpPr>
            <p:cNvPr id="39950" name="Oval 14">
              <a:extLst>
                <a:ext uri="{FF2B5EF4-FFF2-40B4-BE49-F238E27FC236}">
                  <a16:creationId xmlns:a16="http://schemas.microsoft.com/office/drawing/2014/main" id="{5137EEEA-9048-4164-89F1-980599921D6C}"/>
                </a:ext>
              </a:extLst>
            </p:cNvPr>
            <p:cNvSpPr>
              <a:spLocks noChangeArrowheads="1"/>
            </p:cNvSpPr>
            <p:nvPr/>
          </p:nvSpPr>
          <p:spPr bwMode="auto">
            <a:xfrm>
              <a:off x="1288" y="2932"/>
              <a:ext cx="683" cy="354"/>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latin typeface="Trebuchet MS" panose="020B0603020202020204" pitchFamily="34" charset="0"/>
                </a:rPr>
                <a:t>UNiM</a:t>
              </a:r>
            </a:p>
          </p:txBody>
        </p:sp>
        <p:sp>
          <p:nvSpPr>
            <p:cNvPr id="39951" name="Line 15">
              <a:extLst>
                <a:ext uri="{FF2B5EF4-FFF2-40B4-BE49-F238E27FC236}">
                  <a16:creationId xmlns:a16="http://schemas.microsoft.com/office/drawing/2014/main" id="{45659B50-C54A-4226-B3E3-7797CABEB412}"/>
                </a:ext>
              </a:extLst>
            </p:cNvPr>
            <p:cNvSpPr>
              <a:spLocks noChangeShapeType="1"/>
            </p:cNvSpPr>
            <p:nvPr/>
          </p:nvSpPr>
          <p:spPr bwMode="auto">
            <a:xfrm>
              <a:off x="2880" y="3312"/>
              <a:ext cx="0" cy="43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9952" name="Text Box 16">
              <a:extLst>
                <a:ext uri="{FF2B5EF4-FFF2-40B4-BE49-F238E27FC236}">
                  <a16:creationId xmlns:a16="http://schemas.microsoft.com/office/drawing/2014/main" id="{4EA4C270-A955-43EC-A111-AD7A478B0F23}"/>
                </a:ext>
              </a:extLst>
            </p:cNvPr>
            <p:cNvSpPr txBox="1">
              <a:spLocks noChangeArrowheads="1"/>
            </p:cNvSpPr>
            <p:nvPr/>
          </p:nvSpPr>
          <p:spPr bwMode="auto">
            <a:xfrm>
              <a:off x="2928" y="3411"/>
              <a:ext cx="776" cy="19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rebuchet MS" panose="020B0603020202020204" pitchFamily="34" charset="0"/>
                </a:rPr>
                <a:t>has_teaching</a:t>
              </a:r>
            </a:p>
          </p:txBody>
        </p:sp>
        <p:sp>
          <p:nvSpPr>
            <p:cNvPr id="39953" name="Oval 17">
              <a:extLst>
                <a:ext uri="{FF2B5EF4-FFF2-40B4-BE49-F238E27FC236}">
                  <a16:creationId xmlns:a16="http://schemas.microsoft.com/office/drawing/2014/main" id="{ED95BA9F-06F8-49BD-8445-9D327A4E6BFA}"/>
                </a:ext>
              </a:extLst>
            </p:cNvPr>
            <p:cNvSpPr>
              <a:spLocks noChangeArrowheads="1"/>
            </p:cNvSpPr>
            <p:nvPr/>
          </p:nvSpPr>
          <p:spPr bwMode="auto">
            <a:xfrm>
              <a:off x="957" y="3758"/>
              <a:ext cx="3025" cy="245"/>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rebuchet MS" panose="020B0603020202020204" pitchFamily="34" charset="0"/>
                </a:rPr>
                <a:t>http://www.nottingham.edu.my/CSIT/G53ELC</a:t>
              </a:r>
            </a:p>
          </p:txBody>
        </p:sp>
        <p:sp>
          <p:nvSpPr>
            <p:cNvPr id="39954" name="Line 18">
              <a:extLst>
                <a:ext uri="{FF2B5EF4-FFF2-40B4-BE49-F238E27FC236}">
                  <a16:creationId xmlns:a16="http://schemas.microsoft.com/office/drawing/2014/main" id="{797B3B54-9CB8-416E-BD4B-EE82E9DEE0FB}"/>
                </a:ext>
              </a:extLst>
            </p:cNvPr>
            <p:cNvSpPr>
              <a:spLocks noChangeShapeType="1"/>
            </p:cNvSpPr>
            <p:nvPr/>
          </p:nvSpPr>
          <p:spPr bwMode="auto">
            <a:xfrm flipH="1" flipV="1">
              <a:off x="1584" y="3264"/>
              <a:ext cx="0" cy="48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9955" name="Text Box 19">
              <a:extLst>
                <a:ext uri="{FF2B5EF4-FFF2-40B4-BE49-F238E27FC236}">
                  <a16:creationId xmlns:a16="http://schemas.microsoft.com/office/drawing/2014/main" id="{75785A15-FC2F-4E74-B21A-7896EEDCD7FC}"/>
                </a:ext>
              </a:extLst>
            </p:cNvPr>
            <p:cNvSpPr txBox="1">
              <a:spLocks noChangeArrowheads="1"/>
            </p:cNvSpPr>
            <p:nvPr/>
          </p:nvSpPr>
          <p:spPr bwMode="auto">
            <a:xfrm>
              <a:off x="1632" y="3408"/>
              <a:ext cx="1258" cy="19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Trebuchet MS" panose="020B0603020202020204" pitchFamily="34" charset="0"/>
                </a:rPr>
                <a:t>has_owner</a:t>
              </a:r>
            </a:p>
          </p:txBody>
        </p:sp>
      </p:grpSp>
      <p:sp>
        <p:nvSpPr>
          <p:cNvPr id="39959" name="Rectangle 23">
            <a:extLst>
              <a:ext uri="{FF2B5EF4-FFF2-40B4-BE49-F238E27FC236}">
                <a16:creationId xmlns:a16="http://schemas.microsoft.com/office/drawing/2014/main" id="{8A7AF4D1-F67D-446A-B186-9C17AFF91E1B}"/>
              </a:ext>
            </a:extLst>
          </p:cNvPr>
          <p:cNvSpPr>
            <a:spLocks noChangeArrowheads="1"/>
          </p:cNvSpPr>
          <p:nvPr/>
        </p:nvSpPr>
        <p:spPr bwMode="auto">
          <a:xfrm>
            <a:off x="2817598" y="4697417"/>
            <a:ext cx="38385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rebuchet MS" panose="020B0603020202020204" pitchFamily="34" charset="0"/>
              </a:rPr>
              <a:t>http://sepang.nottingham.edu.my/~bpayam/#Payam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9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39949"/>
                                        </p:tgtEl>
                                        <p:attrNameLst>
                                          <p:attrName>style.visibility</p:attrName>
                                        </p:attrNameLst>
                                      </p:cBhvr>
                                      <p:to>
                                        <p:strVal val="visible"/>
                                      </p:to>
                                    </p:set>
                                    <p:animEffect transition="in" filter="dissolve">
                                      <p:cBhvr>
                                        <p:cTn id="11" dur="500"/>
                                        <p:tgtEl>
                                          <p:spTgt spid="3994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9" fill="hold" nodeType="clickEffect">
                                  <p:stCondLst>
                                    <p:cond delay="0"/>
                                  </p:stCondLst>
                                  <p:childTnLst>
                                    <p:set>
                                      <p:cBhvr>
                                        <p:cTn id="15" dur="1" fill="hold">
                                          <p:stCondLst>
                                            <p:cond delay="0"/>
                                          </p:stCondLst>
                                        </p:cTn>
                                        <p:tgtEl>
                                          <p:spTgt spid="39963"/>
                                        </p:tgtEl>
                                        <p:attrNameLst>
                                          <p:attrName>style.visibility</p:attrName>
                                        </p:attrNameLst>
                                      </p:cBhvr>
                                      <p:to>
                                        <p:strVal val="visible"/>
                                      </p:to>
                                    </p:set>
                                    <p:anim calcmode="lin" valueType="num">
                                      <p:cBhvr additive="base">
                                        <p:cTn id="16" dur="1000" fill="hold"/>
                                        <p:tgtEl>
                                          <p:spTgt spid="39963"/>
                                        </p:tgtEl>
                                        <p:attrNameLst>
                                          <p:attrName>ppt_x</p:attrName>
                                        </p:attrNameLst>
                                      </p:cBhvr>
                                      <p:tavLst>
                                        <p:tav tm="0">
                                          <p:val>
                                            <p:strVal val="0-#ppt_w/2"/>
                                          </p:val>
                                        </p:tav>
                                        <p:tav tm="100000">
                                          <p:val>
                                            <p:strVal val="#ppt_x"/>
                                          </p:val>
                                        </p:tav>
                                      </p:tavLst>
                                    </p:anim>
                                    <p:anim calcmode="lin" valueType="num">
                                      <p:cBhvr additive="base">
                                        <p:cTn id="17" dur="1000" fill="hold"/>
                                        <p:tgtEl>
                                          <p:spTgt spid="3996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BF957D4D-C7F9-479C-A441-A83E21650BB8}"/>
              </a:ext>
            </a:extLst>
          </p:cNvPr>
          <p:cNvSpPr>
            <a:spLocks noGrp="1" noRot="1" noChangeArrowheads="1"/>
          </p:cNvSpPr>
          <p:nvPr>
            <p:ph type="title"/>
          </p:nvPr>
        </p:nvSpPr>
        <p:spPr/>
        <p:txBody>
          <a:bodyPr/>
          <a:lstStyle/>
          <a:p>
            <a:r>
              <a:rPr lang="en-US" altLang="en-US"/>
              <a:t>RDF Example</a:t>
            </a:r>
          </a:p>
        </p:txBody>
      </p:sp>
      <p:pic>
        <p:nvPicPr>
          <p:cNvPr id="260100" name="Picture 4">
            <a:extLst>
              <a:ext uri="{FF2B5EF4-FFF2-40B4-BE49-F238E27FC236}">
                <a16:creationId xmlns:a16="http://schemas.microsoft.com/office/drawing/2014/main" id="{2CCAECA3-3AA9-4E22-A0FB-2C32227550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429" y="1544426"/>
            <a:ext cx="5372100"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0101" name="Picture 5">
            <a:extLst>
              <a:ext uri="{FF2B5EF4-FFF2-40B4-BE49-F238E27FC236}">
                <a16:creationId xmlns:a16="http://schemas.microsoft.com/office/drawing/2014/main" id="{586809F8-DE67-4C03-A8BB-E2FA40D92F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429" y="4418225"/>
            <a:ext cx="5591175" cy="1876425"/>
          </a:xfrm>
          <a:prstGeom prst="rect">
            <a:avLst/>
          </a:prstGeom>
          <a:noFill/>
          <a:extLst>
            <a:ext uri="{909E8E84-426E-40DD-AFC4-6F175D3DCCD1}">
              <a14:hiddenFill xmlns:a14="http://schemas.microsoft.com/office/drawing/2010/main">
                <a:solidFill>
                  <a:srgbClr val="FFFFFF"/>
                </a:solidFill>
              </a14:hiddenFill>
            </a:ext>
          </a:extLst>
        </p:spPr>
      </p:pic>
      <p:sp>
        <p:nvSpPr>
          <p:cNvPr id="260102" name="Text Box 6">
            <a:extLst>
              <a:ext uri="{FF2B5EF4-FFF2-40B4-BE49-F238E27FC236}">
                <a16:creationId xmlns:a16="http://schemas.microsoft.com/office/drawing/2014/main" id="{FF4C7ADC-F718-4E5F-B098-A2CE62AB2148}"/>
              </a:ext>
            </a:extLst>
          </p:cNvPr>
          <p:cNvSpPr txBox="1">
            <a:spLocks noChangeArrowheads="1"/>
          </p:cNvSpPr>
          <p:nvPr/>
        </p:nvSpPr>
        <p:spPr bwMode="auto">
          <a:xfrm>
            <a:off x="1828801" y="6613526"/>
            <a:ext cx="33623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dirty="0">
                <a:latin typeface="Trebuchet MS" panose="020B0603020202020204" pitchFamily="34" charset="0"/>
              </a:rPr>
              <a:t>Source: http://www.w3.org/TR/swbp-skos-core-guide/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0101"/>
                                        </p:tgtEl>
                                        <p:attrNameLst>
                                          <p:attrName>style.visibility</p:attrName>
                                        </p:attrNameLst>
                                      </p:cBhvr>
                                      <p:to>
                                        <p:strVal val="visible"/>
                                      </p:to>
                                    </p:set>
                                    <p:animEffect transition="in" filter="box(in)">
                                      <p:cBhvr>
                                        <p:cTn id="7" dur="1000"/>
                                        <p:tgtEl>
                                          <p:spTgt spid="260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Trebuchet MS" panose="020B0603020202020204" pitchFamily="34" charset="0"/>
              </a:rPr>
              <a:t>What is an Ontology?</a:t>
            </a:r>
            <a:endParaRPr dirty="0">
              <a:latin typeface="Trebuchet MS" panose="020B0603020202020204" pitchFamily="34" charset="0"/>
            </a:endParaRPr>
          </a:p>
        </p:txBody>
      </p:sp>
      <p:sp>
        <p:nvSpPr>
          <p:cNvPr id="3" name="Text Placeholder 2">
            <a:extLst>
              <a:ext uri="{FF2B5EF4-FFF2-40B4-BE49-F238E27FC236}">
                <a16:creationId xmlns:a16="http://schemas.microsoft.com/office/drawing/2014/main" id="{CC773123-2D92-4EF9-852D-16847ED9661C}"/>
              </a:ext>
            </a:extLst>
          </p:cNvPr>
          <p:cNvSpPr>
            <a:spLocks noGrp="1"/>
          </p:cNvSpPr>
          <p:nvPr>
            <p:ph type="body" idx="1"/>
          </p:nvPr>
        </p:nvSpPr>
        <p:spPr>
          <a:xfrm>
            <a:off x="677334" y="1187777"/>
            <a:ext cx="8596668" cy="5505254"/>
          </a:xfrm>
        </p:spPr>
        <p:txBody>
          <a:bodyPr>
            <a:normAutofit fontScale="70000" lnSpcReduction="20000"/>
          </a:bodyPr>
          <a:lstStyle/>
          <a:p>
            <a:pPr marL="548641" indent="-457200">
              <a:spcBef>
                <a:spcPts val="0"/>
              </a:spcBef>
            </a:pPr>
            <a:r>
              <a:rPr lang="en-US" sz="4000" dirty="0">
                <a:latin typeface="Trebuchet MS" panose="020B0603020202020204" pitchFamily="34" charset="0"/>
              </a:rPr>
              <a:t>A formal specification that provides sharable and reusable knowledge representation</a:t>
            </a:r>
          </a:p>
          <a:p>
            <a:pPr marL="91441" indent="0">
              <a:spcBef>
                <a:spcPts val="0"/>
              </a:spcBef>
              <a:buNone/>
            </a:pPr>
            <a:endParaRPr lang="en-US" sz="4000" dirty="0">
              <a:latin typeface="Trebuchet MS" panose="020B0603020202020204" pitchFamily="34" charset="0"/>
            </a:endParaRPr>
          </a:p>
          <a:p>
            <a:pPr marL="1062991" lvl="1" indent="-514350" algn="just">
              <a:spcBef>
                <a:spcPts val="0"/>
              </a:spcBef>
              <a:buFont typeface="+mj-lt"/>
              <a:buAutoNum type="arabicPeriod"/>
            </a:pPr>
            <a:r>
              <a:rPr lang="en-US" sz="3700" dirty="0">
                <a:latin typeface="Trebuchet MS" panose="020B0603020202020204" pitchFamily="34" charset="0"/>
              </a:rPr>
              <a:t>Examples: taxonomies, thesauri, topic maps, formal ontologies</a:t>
            </a:r>
          </a:p>
          <a:p>
            <a:pPr marL="91441" indent="0">
              <a:spcBef>
                <a:spcPts val="0"/>
              </a:spcBef>
              <a:buNone/>
            </a:pPr>
            <a:r>
              <a:rPr lang="en-US" sz="3400" dirty="0">
                <a:latin typeface="Trebuchet MS" panose="020B0603020202020204" pitchFamily="34" charset="0"/>
              </a:rPr>
              <a:t>                                                                                                              </a:t>
            </a:r>
          </a:p>
          <a:p>
            <a:pPr marL="548641" indent="-457200">
              <a:spcBef>
                <a:spcPts val="0"/>
              </a:spcBef>
            </a:pPr>
            <a:r>
              <a:rPr lang="en-US" sz="4000" dirty="0">
                <a:latin typeface="Trebuchet MS" panose="020B0603020202020204" pitchFamily="34" charset="0"/>
              </a:rPr>
              <a:t>An ontology specification includes:</a:t>
            </a:r>
          </a:p>
          <a:p>
            <a:pPr marL="91441" indent="0">
              <a:spcBef>
                <a:spcPts val="0"/>
              </a:spcBef>
              <a:buNone/>
            </a:pPr>
            <a:endParaRPr lang="en-US" sz="4000" dirty="0">
              <a:latin typeface="Trebuchet MS" panose="020B0603020202020204" pitchFamily="34" charset="0"/>
            </a:endParaRPr>
          </a:p>
          <a:p>
            <a:pPr marL="1062991" lvl="1" indent="-514350" algn="just">
              <a:spcBef>
                <a:spcPts val="0"/>
              </a:spcBef>
              <a:buFont typeface="+mj-lt"/>
              <a:buAutoNum type="arabicPeriod"/>
            </a:pPr>
            <a:r>
              <a:rPr lang="en-US" sz="3700" dirty="0">
                <a:latin typeface="Trebuchet MS" panose="020B0603020202020204" pitchFamily="34" charset="0"/>
              </a:rPr>
              <a:t>Description of the concepts in some domain and their properties</a:t>
            </a:r>
          </a:p>
          <a:p>
            <a:pPr marL="1062991" lvl="1" indent="-514350" algn="just">
              <a:spcBef>
                <a:spcPts val="0"/>
              </a:spcBef>
              <a:buFont typeface="+mj-lt"/>
              <a:buAutoNum type="arabicPeriod"/>
            </a:pPr>
            <a:r>
              <a:rPr lang="en-US" sz="3700" dirty="0">
                <a:latin typeface="Trebuchet MS" panose="020B0603020202020204" pitchFamily="34" charset="0"/>
              </a:rPr>
              <a:t>Description of the possible relationships between concepts and the constraints on how the relationship can be used</a:t>
            </a:r>
          </a:p>
          <a:p>
            <a:pPr marL="1062991" lvl="1" indent="-514350" algn="just">
              <a:spcBef>
                <a:spcPts val="0"/>
              </a:spcBef>
              <a:buFont typeface="+mj-lt"/>
              <a:buAutoNum type="arabicPeriod"/>
            </a:pPr>
            <a:r>
              <a:rPr lang="en-US" sz="3700" dirty="0">
                <a:latin typeface="Trebuchet MS" panose="020B0603020202020204" pitchFamily="34" charset="0"/>
              </a:rPr>
              <a:t>Sometimes, the individuals(members of concepts)</a:t>
            </a:r>
          </a:p>
          <a:p>
            <a:pPr marL="548641" lvl="1" indent="0" algn="just">
              <a:spcBef>
                <a:spcPts val="0"/>
              </a:spcBef>
              <a:buNone/>
            </a:pPr>
            <a:endParaRPr lang="en-US" sz="2600" dirty="0">
              <a:latin typeface="Trebuchet MS" panose="020B0603020202020204" pitchFamily="34" charset="0"/>
            </a:endParaRPr>
          </a:p>
          <a:p>
            <a:pPr marL="548641" lvl="1" indent="0" algn="just">
              <a:spcBef>
                <a:spcPts val="0"/>
              </a:spcBef>
              <a:buNone/>
            </a:pPr>
            <a:r>
              <a:rPr lang="en-US" sz="2600" dirty="0">
                <a:latin typeface="Trebuchet MS" panose="020B0603020202020204" pitchFamily="34" charset="0"/>
              </a:rPr>
              <a:t> </a:t>
            </a:r>
          </a:p>
          <a:p>
            <a:endParaRPr lang="en-IN" sz="2800" dirty="0"/>
          </a:p>
          <a:p>
            <a:endParaRPr lang="en-IN" sz="2800" dirty="0"/>
          </a:p>
          <a:p>
            <a:endParaRPr lang="en-IN" sz="2800" dirty="0"/>
          </a:p>
        </p:txBody>
      </p:sp>
    </p:spTree>
    <p:extLst>
      <p:ext uri="{BB962C8B-B14F-4D97-AF65-F5344CB8AC3E}">
        <p14:creationId xmlns:p14="http://schemas.microsoft.com/office/powerpoint/2010/main" val="622302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BA221-8C29-4E3D-876E-3AF7C7648553}"/>
              </a:ext>
            </a:extLst>
          </p:cNvPr>
          <p:cNvSpPr>
            <a:spLocks noGrp="1"/>
          </p:cNvSpPr>
          <p:nvPr>
            <p:ph type="title"/>
          </p:nvPr>
        </p:nvSpPr>
        <p:spPr/>
        <p:txBody>
          <a:bodyPr/>
          <a:lstStyle/>
          <a:p>
            <a:r>
              <a:rPr lang="en-IN" dirty="0"/>
              <a:t>Web Ontology Language(OWL)</a:t>
            </a:r>
          </a:p>
        </p:txBody>
      </p:sp>
      <p:sp>
        <p:nvSpPr>
          <p:cNvPr id="3" name="Text Placeholder 2">
            <a:extLst>
              <a:ext uri="{FF2B5EF4-FFF2-40B4-BE49-F238E27FC236}">
                <a16:creationId xmlns:a16="http://schemas.microsoft.com/office/drawing/2014/main" id="{E10DBD47-0FD5-45F0-92DA-2A272F52327F}"/>
              </a:ext>
            </a:extLst>
          </p:cNvPr>
          <p:cNvSpPr>
            <a:spLocks noGrp="1"/>
          </p:cNvSpPr>
          <p:nvPr>
            <p:ph type="body" idx="1"/>
          </p:nvPr>
        </p:nvSpPr>
        <p:spPr>
          <a:xfrm>
            <a:off x="677334" y="1488613"/>
            <a:ext cx="8596668" cy="5006455"/>
          </a:xfrm>
        </p:spPr>
        <p:txBody>
          <a:bodyPr>
            <a:normAutofit fontScale="85000" lnSpcReduction="20000"/>
          </a:bodyPr>
          <a:lstStyle/>
          <a:p>
            <a:pPr marL="548641" indent="-457200">
              <a:spcBef>
                <a:spcPts val="0"/>
              </a:spcBef>
            </a:pPr>
            <a:r>
              <a:rPr lang="en-US" sz="3600" dirty="0">
                <a:latin typeface="Trebuchet MS" panose="020B0603020202020204" pitchFamily="34" charset="0"/>
              </a:rPr>
              <a:t>More expressive than RDF</a:t>
            </a:r>
          </a:p>
          <a:p>
            <a:pPr marL="1062991" lvl="1" indent="-514350" algn="just">
              <a:spcBef>
                <a:spcPts val="0"/>
              </a:spcBef>
              <a:buFont typeface="+mj-lt"/>
              <a:buAutoNum type="arabicPeriod"/>
            </a:pPr>
            <a:r>
              <a:rPr lang="en-US" sz="3400" dirty="0">
                <a:latin typeface="Trebuchet MS" panose="020B0603020202020204" pitchFamily="34" charset="0"/>
              </a:rPr>
              <a:t>Identity equivalence/difference</a:t>
            </a:r>
            <a:endParaRPr lang="en-US" sz="3700" dirty="0">
              <a:latin typeface="Trebuchet MS" panose="020B0603020202020204" pitchFamily="34" charset="0"/>
            </a:endParaRPr>
          </a:p>
          <a:p>
            <a:pPr marL="91441" indent="0">
              <a:spcBef>
                <a:spcPts val="0"/>
              </a:spcBef>
              <a:buNone/>
            </a:pPr>
            <a:endParaRPr lang="en-US" sz="2800" dirty="0">
              <a:latin typeface="Trebuchet MS" panose="020B0603020202020204" pitchFamily="34" charset="0"/>
            </a:endParaRPr>
          </a:p>
          <a:p>
            <a:pPr marL="548641" indent="-457200">
              <a:spcBef>
                <a:spcPts val="0"/>
              </a:spcBef>
            </a:pPr>
            <a:r>
              <a:rPr lang="en-US" sz="3600" dirty="0">
                <a:latin typeface="Trebuchet MS" panose="020B0603020202020204" pitchFamily="34" charset="0"/>
              </a:rPr>
              <a:t>More expressive class definitions</a:t>
            </a:r>
          </a:p>
          <a:p>
            <a:pPr marL="1062991" lvl="1" indent="-514350" algn="just">
              <a:spcBef>
                <a:spcPts val="0"/>
              </a:spcBef>
              <a:buFont typeface="+mj-lt"/>
              <a:buAutoNum type="arabicPeriod"/>
            </a:pPr>
            <a:r>
              <a:rPr lang="en-US" sz="3400" dirty="0">
                <a:latin typeface="Trebuchet MS" panose="020B0603020202020204" pitchFamily="34" charset="0"/>
              </a:rPr>
              <a:t>Class intersection, union, complement, disjointness</a:t>
            </a:r>
          </a:p>
          <a:p>
            <a:pPr marL="1062991" lvl="1" indent="-514350" algn="just">
              <a:spcBef>
                <a:spcPts val="0"/>
              </a:spcBef>
              <a:buFont typeface="+mj-lt"/>
              <a:buAutoNum type="arabicPeriod"/>
            </a:pPr>
            <a:r>
              <a:rPr lang="en-US" sz="3400" dirty="0">
                <a:latin typeface="Trebuchet MS" panose="020B0603020202020204" pitchFamily="34" charset="0"/>
              </a:rPr>
              <a:t>Cardinality restrictions</a:t>
            </a:r>
          </a:p>
          <a:p>
            <a:pPr marL="548641" lvl="1" indent="0" algn="just">
              <a:spcBef>
                <a:spcPts val="0"/>
              </a:spcBef>
              <a:buNone/>
            </a:pPr>
            <a:endParaRPr lang="en-US" sz="2600" dirty="0">
              <a:latin typeface="Trebuchet MS" panose="020B0603020202020204" pitchFamily="34" charset="0"/>
            </a:endParaRPr>
          </a:p>
          <a:p>
            <a:pPr marL="548641" indent="-457200">
              <a:spcBef>
                <a:spcPts val="0"/>
              </a:spcBef>
            </a:pPr>
            <a:r>
              <a:rPr lang="en-US" sz="3600" dirty="0">
                <a:latin typeface="Trebuchet MS" panose="020B0603020202020204" pitchFamily="34" charset="0"/>
              </a:rPr>
              <a:t>More expressive property definitions</a:t>
            </a:r>
          </a:p>
          <a:p>
            <a:pPr marL="1062991" lvl="1" indent="-514350" algn="just">
              <a:spcBef>
                <a:spcPts val="0"/>
              </a:spcBef>
              <a:buFont typeface="+mj-lt"/>
              <a:buAutoNum type="arabicPeriod"/>
            </a:pPr>
            <a:r>
              <a:rPr lang="en-US" sz="3400" dirty="0">
                <a:latin typeface="Trebuchet MS" panose="020B0603020202020204" pitchFamily="34" charset="0"/>
              </a:rPr>
              <a:t>Object/Datatype properties</a:t>
            </a:r>
          </a:p>
          <a:p>
            <a:pPr marL="1062991" lvl="1" indent="-514350" algn="just">
              <a:spcBef>
                <a:spcPts val="0"/>
              </a:spcBef>
              <a:buFont typeface="+mj-lt"/>
              <a:buAutoNum type="arabicPeriod"/>
            </a:pPr>
            <a:r>
              <a:rPr lang="en-US" sz="3400" dirty="0">
                <a:latin typeface="Trebuchet MS" panose="020B0603020202020204" pitchFamily="34" charset="0"/>
              </a:rPr>
              <a:t>Transitive, functional, symmentric, inverse properties</a:t>
            </a:r>
          </a:p>
          <a:p>
            <a:pPr marL="1062991" lvl="1" indent="-514350" algn="just">
              <a:spcBef>
                <a:spcPts val="0"/>
              </a:spcBef>
              <a:buFont typeface="+mj-lt"/>
              <a:buAutoNum type="arabicPeriod"/>
            </a:pPr>
            <a:r>
              <a:rPr lang="en-US" sz="3400" dirty="0">
                <a:latin typeface="Trebuchet MS" panose="020B0603020202020204" pitchFamily="34" charset="0"/>
              </a:rPr>
              <a:t>Value restrictions</a:t>
            </a:r>
          </a:p>
          <a:p>
            <a:pPr marL="1062991" lvl="1" indent="-514350" algn="just">
              <a:spcBef>
                <a:spcPts val="0"/>
              </a:spcBef>
              <a:buFont typeface="+mj-lt"/>
              <a:buAutoNum type="arabicPeriod"/>
            </a:pPr>
            <a:endParaRPr lang="en-US" sz="3700" dirty="0">
              <a:latin typeface="Trebuchet MS" panose="020B0603020202020204" pitchFamily="34" charset="0"/>
            </a:endParaRPr>
          </a:p>
          <a:p>
            <a:pPr marL="548641" lvl="1" indent="0" algn="just">
              <a:spcBef>
                <a:spcPts val="0"/>
              </a:spcBef>
              <a:buNone/>
            </a:pPr>
            <a:endParaRPr lang="en-US" sz="2600" dirty="0">
              <a:latin typeface="Trebuchet MS" panose="020B0603020202020204" pitchFamily="34" charset="0"/>
            </a:endParaRPr>
          </a:p>
          <a:p>
            <a:endParaRPr lang="en-IN" sz="2800" dirty="0"/>
          </a:p>
          <a:p>
            <a:endParaRPr lang="en-IN" sz="2800" dirty="0"/>
          </a:p>
          <a:p>
            <a:endParaRPr lang="en-IN" sz="2800" dirty="0"/>
          </a:p>
          <a:p>
            <a:endParaRPr lang="en-IN" dirty="0"/>
          </a:p>
        </p:txBody>
      </p:sp>
    </p:spTree>
    <p:extLst>
      <p:ext uri="{BB962C8B-B14F-4D97-AF65-F5344CB8AC3E}">
        <p14:creationId xmlns:p14="http://schemas.microsoft.com/office/powerpoint/2010/main" val="981931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BA221-8C29-4E3D-876E-3AF7C7648553}"/>
              </a:ext>
            </a:extLst>
          </p:cNvPr>
          <p:cNvSpPr>
            <a:spLocks noGrp="1"/>
          </p:cNvSpPr>
          <p:nvPr>
            <p:ph type="title"/>
          </p:nvPr>
        </p:nvSpPr>
        <p:spPr/>
        <p:txBody>
          <a:bodyPr/>
          <a:lstStyle/>
          <a:p>
            <a:r>
              <a:rPr lang="en-IN" dirty="0"/>
              <a:t>Web Ontology Language(OWL)</a:t>
            </a:r>
          </a:p>
        </p:txBody>
      </p:sp>
      <p:sp>
        <p:nvSpPr>
          <p:cNvPr id="3" name="Text Placeholder 2">
            <a:extLst>
              <a:ext uri="{FF2B5EF4-FFF2-40B4-BE49-F238E27FC236}">
                <a16:creationId xmlns:a16="http://schemas.microsoft.com/office/drawing/2014/main" id="{E10DBD47-0FD5-45F0-92DA-2A272F52327F}"/>
              </a:ext>
            </a:extLst>
          </p:cNvPr>
          <p:cNvSpPr>
            <a:spLocks noGrp="1"/>
          </p:cNvSpPr>
          <p:nvPr>
            <p:ph type="body" idx="1"/>
          </p:nvPr>
        </p:nvSpPr>
        <p:spPr>
          <a:xfrm>
            <a:off x="677334" y="1488613"/>
            <a:ext cx="8596668" cy="5006455"/>
          </a:xfrm>
        </p:spPr>
        <p:txBody>
          <a:bodyPr>
            <a:normAutofit fontScale="77500" lnSpcReduction="20000"/>
          </a:bodyPr>
          <a:lstStyle/>
          <a:p>
            <a:pPr marL="548641" indent="-457200">
              <a:spcBef>
                <a:spcPts val="0"/>
              </a:spcBef>
            </a:pPr>
            <a:r>
              <a:rPr lang="en-US" sz="3600" dirty="0">
                <a:latin typeface="Trebuchet MS" panose="020B0603020202020204" pitchFamily="34" charset="0"/>
              </a:rPr>
              <a:t>What can be done with OWL?</a:t>
            </a:r>
          </a:p>
          <a:p>
            <a:pPr marL="1062991" lvl="1" indent="-514350" algn="just">
              <a:spcBef>
                <a:spcPts val="0"/>
              </a:spcBef>
              <a:buFont typeface="+mj-lt"/>
              <a:buAutoNum type="arabicPeriod"/>
            </a:pPr>
            <a:r>
              <a:rPr lang="en-US" sz="3400" dirty="0">
                <a:latin typeface="Trebuchet MS" panose="020B0603020202020204" pitchFamily="34" charset="0"/>
              </a:rPr>
              <a:t>Consistency checks - are there contradictions in the logical model?</a:t>
            </a:r>
          </a:p>
          <a:p>
            <a:pPr marL="1062991" lvl="1" indent="-514350" algn="just">
              <a:spcBef>
                <a:spcPts val="0"/>
              </a:spcBef>
              <a:buFont typeface="+mj-lt"/>
              <a:buAutoNum type="arabicPeriod"/>
            </a:pPr>
            <a:r>
              <a:rPr lang="en-US" sz="3400" dirty="0">
                <a:latin typeface="Trebuchet MS" panose="020B0603020202020204" pitchFamily="34" charset="0"/>
              </a:rPr>
              <a:t>Satisfiability checks – are there classes that cannot have any instances?</a:t>
            </a:r>
          </a:p>
          <a:p>
            <a:pPr marL="1062991" lvl="1" indent="-514350" algn="just">
              <a:spcBef>
                <a:spcPts val="0"/>
              </a:spcBef>
              <a:buFont typeface="+mj-lt"/>
              <a:buAutoNum type="arabicPeriod"/>
            </a:pPr>
            <a:r>
              <a:rPr lang="en-US" sz="3400" dirty="0">
                <a:latin typeface="Trebuchet MS" panose="020B0603020202020204" pitchFamily="34" charset="0"/>
              </a:rPr>
              <a:t>Classification – what is the type of a particular instance?</a:t>
            </a:r>
          </a:p>
          <a:p>
            <a:pPr marL="91441" indent="0">
              <a:spcBef>
                <a:spcPts val="0"/>
              </a:spcBef>
              <a:buNone/>
            </a:pPr>
            <a:r>
              <a:rPr lang="en-US" sz="3100" dirty="0">
                <a:latin typeface="Trebuchet MS" panose="020B0603020202020204" pitchFamily="34" charset="0"/>
              </a:rPr>
              <a:t>                                                                           </a:t>
            </a:r>
          </a:p>
          <a:p>
            <a:pPr marL="548641" indent="-457200">
              <a:spcBef>
                <a:spcPts val="0"/>
              </a:spcBef>
            </a:pPr>
            <a:r>
              <a:rPr lang="en-US" sz="3600" dirty="0">
                <a:latin typeface="Trebuchet MS" panose="020B0603020202020204" pitchFamily="34" charset="0"/>
              </a:rPr>
              <a:t>OWL sublanguages</a:t>
            </a:r>
          </a:p>
          <a:p>
            <a:pPr marL="1062991" lvl="1" indent="-514350" algn="just">
              <a:spcBef>
                <a:spcPts val="0"/>
              </a:spcBef>
              <a:buFont typeface="+mj-lt"/>
              <a:buAutoNum type="arabicPeriod"/>
            </a:pPr>
            <a:r>
              <a:rPr lang="en-US" sz="3400" dirty="0">
                <a:latin typeface="Trebuchet MS" panose="020B0603020202020204" pitchFamily="34" charset="0"/>
              </a:rPr>
              <a:t>OWL Lite: low expressiveness / low computational complexity</a:t>
            </a:r>
          </a:p>
          <a:p>
            <a:pPr marL="1062991" lvl="1" indent="-514350" algn="just">
              <a:spcBef>
                <a:spcPts val="0"/>
              </a:spcBef>
              <a:buFont typeface="+mj-lt"/>
              <a:buAutoNum type="arabicPeriod"/>
            </a:pPr>
            <a:r>
              <a:rPr lang="en-US" sz="3400" dirty="0">
                <a:latin typeface="Trebuchet MS" panose="020B0603020202020204" pitchFamily="34" charset="0"/>
              </a:rPr>
              <a:t>OWL DL: high expressiveness / decidable &amp; complete</a:t>
            </a:r>
          </a:p>
          <a:p>
            <a:pPr marL="1062991" lvl="1" indent="-514350" algn="just">
              <a:spcBef>
                <a:spcPts val="0"/>
              </a:spcBef>
              <a:buFont typeface="+mj-lt"/>
              <a:buAutoNum type="arabicPeriod"/>
            </a:pPr>
            <a:r>
              <a:rPr lang="en-US" sz="3400" dirty="0">
                <a:latin typeface="Trebuchet MS" panose="020B0603020202020204" pitchFamily="34" charset="0"/>
              </a:rPr>
              <a:t>OWL Full: max expressiveness / no guarantees</a:t>
            </a:r>
          </a:p>
          <a:p>
            <a:pPr marL="1062991" lvl="1" indent="-514350" algn="just">
              <a:spcBef>
                <a:spcPts val="0"/>
              </a:spcBef>
              <a:buFont typeface="+mj-lt"/>
              <a:buAutoNum type="arabicPeriod"/>
            </a:pPr>
            <a:endParaRPr lang="en-US" sz="3700" dirty="0">
              <a:latin typeface="Trebuchet MS" panose="020B0603020202020204" pitchFamily="34" charset="0"/>
            </a:endParaRPr>
          </a:p>
          <a:p>
            <a:pPr marL="548641" lvl="1" indent="0" algn="just">
              <a:spcBef>
                <a:spcPts val="0"/>
              </a:spcBef>
              <a:buNone/>
            </a:pPr>
            <a:endParaRPr lang="en-US" sz="2600" dirty="0">
              <a:latin typeface="Trebuchet MS" panose="020B0603020202020204" pitchFamily="34" charset="0"/>
            </a:endParaRPr>
          </a:p>
          <a:p>
            <a:endParaRPr lang="en-IN" sz="2800" dirty="0"/>
          </a:p>
          <a:p>
            <a:endParaRPr lang="en-IN" sz="2800" dirty="0"/>
          </a:p>
          <a:p>
            <a:endParaRPr lang="en-IN" sz="2800" dirty="0"/>
          </a:p>
          <a:p>
            <a:endParaRPr lang="en-IN" dirty="0"/>
          </a:p>
        </p:txBody>
      </p:sp>
    </p:spTree>
    <p:extLst>
      <p:ext uri="{BB962C8B-B14F-4D97-AF65-F5344CB8AC3E}">
        <p14:creationId xmlns:p14="http://schemas.microsoft.com/office/powerpoint/2010/main" val="2162370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Trebuchet MS" panose="020B0603020202020204" pitchFamily="34" charset="0"/>
              </a:rPr>
              <a:t>A Sample Ontology</a:t>
            </a:r>
            <a:endParaRPr dirty="0">
              <a:latin typeface="Trebuchet MS" panose="020B0603020202020204" pitchFamily="34" charset="0"/>
            </a:endParaRPr>
          </a:p>
        </p:txBody>
      </p:sp>
      <p:sp>
        <p:nvSpPr>
          <p:cNvPr id="3" name="Slide Number Placeholder 2">
            <a:extLst>
              <a:ext uri="{FF2B5EF4-FFF2-40B4-BE49-F238E27FC236}">
                <a16:creationId xmlns:a16="http://schemas.microsoft.com/office/drawing/2014/main" id="{C60CED0D-F82F-4298-8A7C-F514344416FB}"/>
              </a:ext>
            </a:extLst>
          </p:cNvPr>
          <p:cNvSpPr txBox="1">
            <a:spLocks/>
          </p:cNvSpPr>
          <p:nvPr/>
        </p:nvSpPr>
        <p:spPr>
          <a:xfrm>
            <a:off x="3711402" y="6797675"/>
            <a:ext cx="2133600" cy="4762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fld id="{A6091EB8-DFA5-4EE2-A7C2-1C7595B06554}" type="slidenum">
              <a:rPr lang="en-US" altLang="en-US" smtClean="0"/>
              <a:pPr/>
              <a:t>16</a:t>
            </a:fld>
            <a:endParaRPr lang="en-US" altLang="en-US"/>
          </a:p>
        </p:txBody>
      </p:sp>
      <p:grpSp>
        <p:nvGrpSpPr>
          <p:cNvPr id="4" name="Group 2">
            <a:extLst>
              <a:ext uri="{FF2B5EF4-FFF2-40B4-BE49-F238E27FC236}">
                <a16:creationId xmlns:a16="http://schemas.microsoft.com/office/drawing/2014/main" id="{A1361C29-5825-43CC-B0AD-9C07E50FFFD0}"/>
              </a:ext>
            </a:extLst>
          </p:cNvPr>
          <p:cNvGrpSpPr>
            <a:grpSpLocks/>
          </p:cNvGrpSpPr>
          <p:nvPr/>
        </p:nvGrpSpPr>
        <p:grpSpPr bwMode="auto">
          <a:xfrm>
            <a:off x="4378152" y="3773488"/>
            <a:ext cx="3059113" cy="1385887"/>
            <a:chOff x="2676" y="1933"/>
            <a:chExt cx="1927" cy="873"/>
          </a:xfrm>
        </p:grpSpPr>
        <p:sp>
          <p:nvSpPr>
            <p:cNvPr id="5" name="AutoShape 3">
              <a:extLst>
                <a:ext uri="{FF2B5EF4-FFF2-40B4-BE49-F238E27FC236}">
                  <a16:creationId xmlns:a16="http://schemas.microsoft.com/office/drawing/2014/main" id="{F146CB17-C7A8-44D0-8A30-A84A091D310B}"/>
                </a:ext>
              </a:extLst>
            </p:cNvPr>
            <p:cNvSpPr>
              <a:spLocks noChangeArrowheads="1"/>
            </p:cNvSpPr>
            <p:nvPr/>
          </p:nvSpPr>
          <p:spPr bwMode="auto">
            <a:xfrm>
              <a:off x="3742" y="2205"/>
              <a:ext cx="861" cy="273"/>
            </a:xfrm>
            <a:prstGeom prst="flowChartAlternateProcess">
              <a:avLst/>
            </a:prstGeom>
            <a:solidFill>
              <a:srgbClr val="66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Ontology</a:t>
              </a:r>
            </a:p>
          </p:txBody>
        </p:sp>
        <p:cxnSp>
          <p:nvCxnSpPr>
            <p:cNvPr id="6" name="AutoShape 4">
              <a:extLst>
                <a:ext uri="{FF2B5EF4-FFF2-40B4-BE49-F238E27FC236}">
                  <a16:creationId xmlns:a16="http://schemas.microsoft.com/office/drawing/2014/main" id="{48146D45-91D8-47EC-8CF3-29EEEC44BEFC}"/>
                </a:ext>
              </a:extLst>
            </p:cNvPr>
            <p:cNvCxnSpPr>
              <a:cxnSpLocks noChangeShapeType="1"/>
              <a:endCxn id="5" idx="0"/>
            </p:cNvCxnSpPr>
            <p:nvPr/>
          </p:nvCxnSpPr>
          <p:spPr bwMode="auto">
            <a:xfrm>
              <a:off x="2699" y="1933"/>
              <a:ext cx="1474" cy="272"/>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AutoShape 5">
              <a:extLst>
                <a:ext uri="{FF2B5EF4-FFF2-40B4-BE49-F238E27FC236}">
                  <a16:creationId xmlns:a16="http://schemas.microsoft.com/office/drawing/2014/main" id="{DFB300D9-D938-4BA0-ACB1-D086EC597ACD}"/>
                </a:ext>
              </a:extLst>
            </p:cNvPr>
            <p:cNvSpPr>
              <a:spLocks noChangeArrowheads="1"/>
            </p:cNvSpPr>
            <p:nvPr/>
          </p:nvSpPr>
          <p:spPr bwMode="auto">
            <a:xfrm>
              <a:off x="2744" y="2205"/>
              <a:ext cx="861" cy="273"/>
            </a:xfrm>
            <a:prstGeom prst="flowChartAlternateProcess">
              <a:avLst/>
            </a:prstGeom>
            <a:solidFill>
              <a:srgbClr val="66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F-Logic</a:t>
              </a:r>
            </a:p>
          </p:txBody>
        </p:sp>
        <p:cxnSp>
          <p:nvCxnSpPr>
            <p:cNvPr id="8" name="AutoShape 6">
              <a:extLst>
                <a:ext uri="{FF2B5EF4-FFF2-40B4-BE49-F238E27FC236}">
                  <a16:creationId xmlns:a16="http://schemas.microsoft.com/office/drawing/2014/main" id="{028F1695-C371-4FC8-B239-DC7611AECA5D}"/>
                </a:ext>
              </a:extLst>
            </p:cNvPr>
            <p:cNvCxnSpPr>
              <a:cxnSpLocks noChangeShapeType="1"/>
              <a:endCxn id="7" idx="0"/>
            </p:cNvCxnSpPr>
            <p:nvPr/>
          </p:nvCxnSpPr>
          <p:spPr bwMode="auto">
            <a:xfrm>
              <a:off x="2676" y="1934"/>
              <a:ext cx="499" cy="271"/>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 Box 7">
              <a:extLst>
                <a:ext uri="{FF2B5EF4-FFF2-40B4-BE49-F238E27FC236}">
                  <a16:creationId xmlns:a16="http://schemas.microsoft.com/office/drawing/2014/main" id="{CB179A6A-488A-4D32-B552-8444FA32A2E9}"/>
                </a:ext>
              </a:extLst>
            </p:cNvPr>
            <p:cNvSpPr txBox="1">
              <a:spLocks noChangeArrowheads="1"/>
            </p:cNvSpPr>
            <p:nvPr/>
          </p:nvSpPr>
          <p:spPr bwMode="auto">
            <a:xfrm>
              <a:off x="3470" y="2614"/>
              <a:ext cx="4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a:latin typeface="Trebuchet MS" panose="020B0603020202020204" pitchFamily="34" charset="0"/>
                </a:rPr>
                <a:t>similar</a:t>
              </a:r>
            </a:p>
          </p:txBody>
        </p:sp>
        <p:cxnSp>
          <p:nvCxnSpPr>
            <p:cNvPr id="10" name="AutoShape 8">
              <a:extLst>
                <a:ext uri="{FF2B5EF4-FFF2-40B4-BE49-F238E27FC236}">
                  <a16:creationId xmlns:a16="http://schemas.microsoft.com/office/drawing/2014/main" id="{6382BF7C-19FC-4F52-9736-E35DB515779F}"/>
                </a:ext>
              </a:extLst>
            </p:cNvPr>
            <p:cNvCxnSpPr>
              <a:cxnSpLocks noChangeShapeType="1"/>
            </p:cNvCxnSpPr>
            <p:nvPr/>
          </p:nvCxnSpPr>
          <p:spPr bwMode="auto">
            <a:xfrm rot="16200000" flipH="1">
              <a:off x="3696" y="1980"/>
              <a:ext cx="1" cy="998"/>
            </a:xfrm>
            <a:prstGeom prst="curvedConnector3">
              <a:avLst>
                <a:gd name="adj1" fmla="val 14400000"/>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 name="Group 9">
            <a:extLst>
              <a:ext uri="{FF2B5EF4-FFF2-40B4-BE49-F238E27FC236}">
                <a16:creationId xmlns:a16="http://schemas.microsoft.com/office/drawing/2014/main" id="{FE789DEF-66AA-4445-B93C-9CE5D7A2F7E1}"/>
              </a:ext>
            </a:extLst>
          </p:cNvPr>
          <p:cNvGrpSpPr>
            <a:grpSpLocks/>
          </p:cNvGrpSpPr>
          <p:nvPr/>
        </p:nvGrpSpPr>
        <p:grpSpPr bwMode="auto">
          <a:xfrm>
            <a:off x="3863802" y="2838450"/>
            <a:ext cx="4953000" cy="2971800"/>
            <a:chOff x="2352" y="1344"/>
            <a:chExt cx="3120" cy="1872"/>
          </a:xfrm>
        </p:grpSpPr>
        <p:grpSp>
          <p:nvGrpSpPr>
            <p:cNvPr id="12" name="Group 10">
              <a:extLst>
                <a:ext uri="{FF2B5EF4-FFF2-40B4-BE49-F238E27FC236}">
                  <a16:creationId xmlns:a16="http://schemas.microsoft.com/office/drawing/2014/main" id="{2CCC5FA5-3398-411D-A4BD-CA13CB498092}"/>
                </a:ext>
              </a:extLst>
            </p:cNvPr>
            <p:cNvGrpSpPr>
              <a:grpSpLocks/>
            </p:cNvGrpSpPr>
            <p:nvPr/>
          </p:nvGrpSpPr>
          <p:grpSpPr bwMode="auto">
            <a:xfrm>
              <a:off x="2352" y="1344"/>
              <a:ext cx="3120" cy="1872"/>
              <a:chOff x="2352" y="1344"/>
              <a:chExt cx="3120" cy="1872"/>
            </a:xfrm>
          </p:grpSpPr>
          <p:sp>
            <p:nvSpPr>
              <p:cNvPr id="16" name="Rectangle 11">
                <a:extLst>
                  <a:ext uri="{FF2B5EF4-FFF2-40B4-BE49-F238E27FC236}">
                    <a16:creationId xmlns:a16="http://schemas.microsoft.com/office/drawing/2014/main" id="{43420E48-088B-41F6-90DF-663969C99D02}"/>
                  </a:ext>
                </a:extLst>
              </p:cNvPr>
              <p:cNvSpPr>
                <a:spLocks noChangeArrowheads="1"/>
              </p:cNvSpPr>
              <p:nvPr/>
            </p:nvSpPr>
            <p:spPr bwMode="auto">
              <a:xfrm>
                <a:off x="2352" y="1872"/>
                <a:ext cx="3120" cy="13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grpSp>
            <p:nvGrpSpPr>
              <p:cNvPr id="17" name="Group 12">
                <a:extLst>
                  <a:ext uri="{FF2B5EF4-FFF2-40B4-BE49-F238E27FC236}">
                    <a16:creationId xmlns:a16="http://schemas.microsoft.com/office/drawing/2014/main" id="{8B4FC0F0-9BC3-4559-84F8-CF58FA07E672}"/>
                  </a:ext>
                </a:extLst>
              </p:cNvPr>
              <p:cNvGrpSpPr>
                <a:grpSpLocks/>
              </p:cNvGrpSpPr>
              <p:nvPr/>
            </p:nvGrpSpPr>
            <p:grpSpPr bwMode="auto">
              <a:xfrm>
                <a:off x="2856" y="1344"/>
                <a:ext cx="2155" cy="590"/>
                <a:chOff x="2856" y="1344"/>
                <a:chExt cx="2155" cy="590"/>
              </a:xfrm>
            </p:grpSpPr>
            <p:sp>
              <p:nvSpPr>
                <p:cNvPr id="18" name="AutoShape 13">
                  <a:extLst>
                    <a:ext uri="{FF2B5EF4-FFF2-40B4-BE49-F238E27FC236}">
                      <a16:creationId xmlns:a16="http://schemas.microsoft.com/office/drawing/2014/main" id="{38382A1F-6504-46C8-A20B-F0779E65402B}"/>
                    </a:ext>
                  </a:extLst>
                </p:cNvPr>
                <p:cNvSpPr>
                  <a:spLocks noChangeArrowheads="1"/>
                </p:cNvSpPr>
                <p:nvPr/>
              </p:nvSpPr>
              <p:spPr bwMode="auto">
                <a:xfrm>
                  <a:off x="4150" y="1661"/>
                  <a:ext cx="861" cy="273"/>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Ontology</a:t>
                  </a:r>
                </a:p>
              </p:txBody>
            </p:sp>
            <p:cxnSp>
              <p:nvCxnSpPr>
                <p:cNvPr id="19" name="AutoShape 14">
                  <a:extLst>
                    <a:ext uri="{FF2B5EF4-FFF2-40B4-BE49-F238E27FC236}">
                      <a16:creationId xmlns:a16="http://schemas.microsoft.com/office/drawing/2014/main" id="{0AB6D683-C035-454B-8A96-47E2A4D2F640}"/>
                    </a:ext>
                  </a:extLst>
                </p:cNvPr>
                <p:cNvCxnSpPr>
                  <a:cxnSpLocks noChangeShapeType="1"/>
                  <a:stCxn id="30" idx="2"/>
                  <a:endCxn id="18" idx="0"/>
                </p:cNvCxnSpPr>
                <p:nvPr/>
              </p:nvCxnSpPr>
              <p:spPr bwMode="auto">
                <a:xfrm>
                  <a:off x="2856" y="1344"/>
                  <a:ext cx="1724" cy="317"/>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AutoShape 15">
                  <a:extLst>
                    <a:ext uri="{FF2B5EF4-FFF2-40B4-BE49-F238E27FC236}">
                      <a16:creationId xmlns:a16="http://schemas.microsoft.com/office/drawing/2014/main" id="{843CCDF2-374F-4AD5-A3A0-DE986DC61981}"/>
                    </a:ext>
                  </a:extLst>
                </p:cNvPr>
                <p:cNvSpPr>
                  <a:spLocks noChangeArrowheads="1"/>
                </p:cNvSpPr>
                <p:nvPr/>
              </p:nvSpPr>
              <p:spPr bwMode="auto">
                <a:xfrm>
                  <a:off x="3243" y="1661"/>
                  <a:ext cx="861" cy="273"/>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F-Logic</a:t>
                  </a:r>
                </a:p>
              </p:txBody>
            </p:sp>
            <p:cxnSp>
              <p:nvCxnSpPr>
                <p:cNvPr id="21" name="AutoShape 16">
                  <a:extLst>
                    <a:ext uri="{FF2B5EF4-FFF2-40B4-BE49-F238E27FC236}">
                      <a16:creationId xmlns:a16="http://schemas.microsoft.com/office/drawing/2014/main" id="{D67E317C-80EE-4928-83DC-87555820FC98}"/>
                    </a:ext>
                  </a:extLst>
                </p:cNvPr>
                <p:cNvCxnSpPr>
                  <a:cxnSpLocks noChangeShapeType="1"/>
                  <a:stCxn id="30" idx="2"/>
                  <a:endCxn id="20" idx="0"/>
                </p:cNvCxnSpPr>
                <p:nvPr/>
              </p:nvCxnSpPr>
              <p:spPr bwMode="auto">
                <a:xfrm>
                  <a:off x="2857" y="1344"/>
                  <a:ext cx="817" cy="317"/>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3" name="Group 17">
              <a:extLst>
                <a:ext uri="{FF2B5EF4-FFF2-40B4-BE49-F238E27FC236}">
                  <a16:creationId xmlns:a16="http://schemas.microsoft.com/office/drawing/2014/main" id="{E7C8D9DA-1C45-4589-8E34-0C34F44C2560}"/>
                </a:ext>
              </a:extLst>
            </p:cNvPr>
            <p:cNvGrpSpPr>
              <a:grpSpLocks/>
            </p:cNvGrpSpPr>
            <p:nvPr/>
          </p:nvGrpSpPr>
          <p:grpSpPr bwMode="auto">
            <a:xfrm>
              <a:off x="3606" y="1933"/>
              <a:ext cx="998" cy="328"/>
              <a:chOff x="3606" y="1933"/>
              <a:chExt cx="998" cy="328"/>
            </a:xfrm>
          </p:grpSpPr>
          <p:sp>
            <p:nvSpPr>
              <p:cNvPr id="14" name="Text Box 18">
                <a:extLst>
                  <a:ext uri="{FF2B5EF4-FFF2-40B4-BE49-F238E27FC236}">
                    <a16:creationId xmlns:a16="http://schemas.microsoft.com/office/drawing/2014/main" id="{A6013E42-DB82-4FF0-B169-A2946D218327}"/>
                  </a:ext>
                </a:extLst>
              </p:cNvPr>
              <p:cNvSpPr txBox="1">
                <a:spLocks noChangeArrowheads="1"/>
              </p:cNvSpPr>
              <p:nvPr/>
            </p:nvSpPr>
            <p:spPr bwMode="auto">
              <a:xfrm>
                <a:off x="3833" y="2069"/>
                <a:ext cx="46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similar</a:t>
                </a:r>
              </a:p>
            </p:txBody>
          </p:sp>
          <p:cxnSp>
            <p:nvCxnSpPr>
              <p:cNvPr id="15" name="AutoShape 19">
                <a:extLst>
                  <a:ext uri="{FF2B5EF4-FFF2-40B4-BE49-F238E27FC236}">
                    <a16:creationId xmlns:a16="http://schemas.microsoft.com/office/drawing/2014/main" id="{0FC5277B-8967-4121-BB80-D315F54A2429}"/>
                  </a:ext>
                </a:extLst>
              </p:cNvPr>
              <p:cNvCxnSpPr>
                <a:cxnSpLocks noChangeShapeType="1"/>
              </p:cNvCxnSpPr>
              <p:nvPr/>
            </p:nvCxnSpPr>
            <p:spPr bwMode="auto">
              <a:xfrm rot="16200000" flipH="1">
                <a:off x="4104" y="1435"/>
                <a:ext cx="1" cy="998"/>
              </a:xfrm>
              <a:prstGeom prst="curvedConnector3">
                <a:avLst>
                  <a:gd name="adj1" fmla="val 14400000"/>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2" name="Group 20">
            <a:extLst>
              <a:ext uri="{FF2B5EF4-FFF2-40B4-BE49-F238E27FC236}">
                <a16:creationId xmlns:a16="http://schemas.microsoft.com/office/drawing/2014/main" id="{4F085A38-B313-4E35-A82B-6DA742D6BCE6}"/>
              </a:ext>
            </a:extLst>
          </p:cNvPr>
          <p:cNvGrpSpPr>
            <a:grpSpLocks/>
          </p:cNvGrpSpPr>
          <p:nvPr/>
        </p:nvGrpSpPr>
        <p:grpSpPr bwMode="auto">
          <a:xfrm>
            <a:off x="892002" y="3773488"/>
            <a:ext cx="3160713" cy="893762"/>
            <a:chOff x="480" y="1933"/>
            <a:chExt cx="1991" cy="563"/>
          </a:xfrm>
        </p:grpSpPr>
        <p:sp>
          <p:nvSpPr>
            <p:cNvPr id="23" name="AutoShape 21">
              <a:extLst>
                <a:ext uri="{FF2B5EF4-FFF2-40B4-BE49-F238E27FC236}">
                  <a16:creationId xmlns:a16="http://schemas.microsoft.com/office/drawing/2014/main" id="{C7253327-1D29-47BC-90CD-FF9152B769E3}"/>
                </a:ext>
              </a:extLst>
            </p:cNvPr>
            <p:cNvSpPr>
              <a:spLocks noChangeArrowheads="1"/>
            </p:cNvSpPr>
            <p:nvPr/>
          </p:nvSpPr>
          <p:spPr bwMode="auto">
            <a:xfrm>
              <a:off x="1610" y="2205"/>
              <a:ext cx="861" cy="273"/>
            </a:xfrm>
            <a:prstGeom prst="flowChartAlternateProcess">
              <a:avLst/>
            </a:prstGeom>
            <a:solidFill>
              <a:srgbClr val="66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PhD Student</a:t>
              </a:r>
            </a:p>
          </p:txBody>
        </p:sp>
        <p:sp>
          <p:nvSpPr>
            <p:cNvPr id="24" name="AutoShape 22">
              <a:extLst>
                <a:ext uri="{FF2B5EF4-FFF2-40B4-BE49-F238E27FC236}">
                  <a16:creationId xmlns:a16="http://schemas.microsoft.com/office/drawing/2014/main" id="{5400D45A-2E46-4A40-B795-E27F94C0314D}"/>
                </a:ext>
              </a:extLst>
            </p:cNvPr>
            <p:cNvSpPr>
              <a:spLocks noChangeArrowheads="1"/>
            </p:cNvSpPr>
            <p:nvPr/>
          </p:nvSpPr>
          <p:spPr bwMode="auto">
            <a:xfrm>
              <a:off x="480" y="2205"/>
              <a:ext cx="1084" cy="291"/>
            </a:xfrm>
            <a:prstGeom prst="flowChartAlternateProcess">
              <a:avLst/>
            </a:prstGeom>
            <a:solidFill>
              <a:srgbClr val="66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Doktoral Student</a:t>
              </a:r>
            </a:p>
          </p:txBody>
        </p:sp>
        <p:cxnSp>
          <p:nvCxnSpPr>
            <p:cNvPr id="25" name="AutoShape 23">
              <a:extLst>
                <a:ext uri="{FF2B5EF4-FFF2-40B4-BE49-F238E27FC236}">
                  <a16:creationId xmlns:a16="http://schemas.microsoft.com/office/drawing/2014/main" id="{180702D4-0E66-4425-A95D-BC8CBFA9534F}"/>
                </a:ext>
              </a:extLst>
            </p:cNvPr>
            <p:cNvCxnSpPr>
              <a:cxnSpLocks noChangeShapeType="1"/>
              <a:endCxn id="24" idx="0"/>
            </p:cNvCxnSpPr>
            <p:nvPr/>
          </p:nvCxnSpPr>
          <p:spPr bwMode="auto">
            <a:xfrm>
              <a:off x="681" y="1933"/>
              <a:ext cx="341" cy="272"/>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4">
              <a:extLst>
                <a:ext uri="{FF2B5EF4-FFF2-40B4-BE49-F238E27FC236}">
                  <a16:creationId xmlns:a16="http://schemas.microsoft.com/office/drawing/2014/main" id="{1E6D3199-8B38-414D-9327-ECFB7DAE74FE}"/>
                </a:ext>
              </a:extLst>
            </p:cNvPr>
            <p:cNvCxnSpPr>
              <a:cxnSpLocks noChangeShapeType="1"/>
              <a:endCxn id="23" idx="0"/>
            </p:cNvCxnSpPr>
            <p:nvPr/>
          </p:nvCxnSpPr>
          <p:spPr bwMode="auto">
            <a:xfrm>
              <a:off x="681" y="1933"/>
              <a:ext cx="1360" cy="272"/>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 name="Line 25">
            <a:extLst>
              <a:ext uri="{FF2B5EF4-FFF2-40B4-BE49-F238E27FC236}">
                <a16:creationId xmlns:a16="http://schemas.microsoft.com/office/drawing/2014/main" id="{664B016C-2F73-415B-A430-2F8442FEBCB2}"/>
              </a:ext>
            </a:extLst>
          </p:cNvPr>
          <p:cNvSpPr>
            <a:spLocks noChangeShapeType="1"/>
          </p:cNvSpPr>
          <p:nvPr/>
        </p:nvSpPr>
        <p:spPr bwMode="auto">
          <a:xfrm>
            <a:off x="7826202" y="7046913"/>
            <a:ext cx="312738"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 name="AutoShape 28">
            <a:extLst>
              <a:ext uri="{FF2B5EF4-FFF2-40B4-BE49-F238E27FC236}">
                <a16:creationId xmlns:a16="http://schemas.microsoft.com/office/drawing/2014/main" id="{1F875034-335D-4EB5-9238-93B5FB7F3714}"/>
              </a:ext>
            </a:extLst>
          </p:cNvPr>
          <p:cNvSpPr>
            <a:spLocks noChangeArrowheads="1"/>
          </p:cNvSpPr>
          <p:nvPr/>
        </p:nvSpPr>
        <p:spPr bwMode="auto">
          <a:xfrm>
            <a:off x="3981277" y="1612900"/>
            <a:ext cx="1366838" cy="433388"/>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Object</a:t>
            </a:r>
          </a:p>
        </p:txBody>
      </p:sp>
      <p:sp>
        <p:nvSpPr>
          <p:cNvPr id="29" name="AutoShape 29">
            <a:extLst>
              <a:ext uri="{FF2B5EF4-FFF2-40B4-BE49-F238E27FC236}">
                <a16:creationId xmlns:a16="http://schemas.microsoft.com/office/drawing/2014/main" id="{DB808920-91D4-451A-89C7-2D75B4952185}"/>
              </a:ext>
            </a:extLst>
          </p:cNvPr>
          <p:cNvSpPr>
            <a:spLocks noChangeArrowheads="1"/>
          </p:cNvSpPr>
          <p:nvPr/>
        </p:nvSpPr>
        <p:spPr bwMode="auto">
          <a:xfrm>
            <a:off x="1246015" y="2405063"/>
            <a:ext cx="1366837" cy="433387"/>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dirty="0">
                <a:latin typeface="Trebuchet MS" panose="020B0603020202020204" pitchFamily="34" charset="0"/>
              </a:rPr>
              <a:t>Person</a:t>
            </a:r>
          </a:p>
        </p:txBody>
      </p:sp>
      <p:sp>
        <p:nvSpPr>
          <p:cNvPr id="30" name="AutoShape 30">
            <a:extLst>
              <a:ext uri="{FF2B5EF4-FFF2-40B4-BE49-F238E27FC236}">
                <a16:creationId xmlns:a16="http://schemas.microsoft.com/office/drawing/2014/main" id="{493737AD-C64E-43E4-A2D4-554B0F625547}"/>
              </a:ext>
            </a:extLst>
          </p:cNvPr>
          <p:cNvSpPr>
            <a:spLocks noChangeArrowheads="1"/>
          </p:cNvSpPr>
          <p:nvPr/>
        </p:nvSpPr>
        <p:spPr bwMode="auto">
          <a:xfrm>
            <a:off x="3981277" y="2405063"/>
            <a:ext cx="1366838" cy="433387"/>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Topic</a:t>
            </a:r>
          </a:p>
        </p:txBody>
      </p:sp>
      <p:sp>
        <p:nvSpPr>
          <p:cNvPr id="31" name="AutoShape 31">
            <a:extLst>
              <a:ext uri="{FF2B5EF4-FFF2-40B4-BE49-F238E27FC236}">
                <a16:creationId xmlns:a16="http://schemas.microsoft.com/office/drawing/2014/main" id="{C286541A-A50D-439C-A8EF-CF9A1D862CF7}"/>
              </a:ext>
            </a:extLst>
          </p:cNvPr>
          <p:cNvSpPr>
            <a:spLocks noChangeArrowheads="1"/>
          </p:cNvSpPr>
          <p:nvPr/>
        </p:nvSpPr>
        <p:spPr bwMode="auto">
          <a:xfrm>
            <a:off x="7438852" y="2405063"/>
            <a:ext cx="1366838" cy="433387"/>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Document</a:t>
            </a:r>
          </a:p>
        </p:txBody>
      </p:sp>
      <p:sp>
        <p:nvSpPr>
          <p:cNvPr id="32" name="AutoShape 32">
            <a:extLst>
              <a:ext uri="{FF2B5EF4-FFF2-40B4-BE49-F238E27FC236}">
                <a16:creationId xmlns:a16="http://schemas.microsoft.com/office/drawing/2014/main" id="{4EAB1BA2-3147-4180-8BE2-4E1EC2391D42}"/>
              </a:ext>
            </a:extLst>
          </p:cNvPr>
          <p:cNvSpPr>
            <a:spLocks noChangeArrowheads="1"/>
          </p:cNvSpPr>
          <p:nvPr/>
        </p:nvSpPr>
        <p:spPr bwMode="auto">
          <a:xfrm>
            <a:off x="1103140" y="4997450"/>
            <a:ext cx="790575" cy="288925"/>
          </a:xfrm>
          <a:prstGeom prst="flowChartAlternateProcess">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sz="1400">
                <a:latin typeface="Trebuchet MS" panose="020B0603020202020204" pitchFamily="34" charset="0"/>
              </a:rPr>
              <a:t>Tel</a:t>
            </a:r>
          </a:p>
        </p:txBody>
      </p:sp>
      <p:grpSp>
        <p:nvGrpSpPr>
          <p:cNvPr id="33" name="Group 33">
            <a:extLst>
              <a:ext uri="{FF2B5EF4-FFF2-40B4-BE49-F238E27FC236}">
                <a16:creationId xmlns:a16="http://schemas.microsoft.com/office/drawing/2014/main" id="{4FE20AEA-3F59-4DAB-BA86-40F033613EA8}"/>
              </a:ext>
            </a:extLst>
          </p:cNvPr>
          <p:cNvGrpSpPr>
            <a:grpSpLocks/>
          </p:cNvGrpSpPr>
          <p:nvPr/>
        </p:nvGrpSpPr>
        <p:grpSpPr bwMode="auto">
          <a:xfrm>
            <a:off x="815802" y="3752850"/>
            <a:ext cx="3276600" cy="990600"/>
            <a:chOff x="432" y="1920"/>
            <a:chExt cx="2064" cy="624"/>
          </a:xfrm>
        </p:grpSpPr>
        <p:grpSp>
          <p:nvGrpSpPr>
            <p:cNvPr id="34" name="Group 34">
              <a:extLst>
                <a:ext uri="{FF2B5EF4-FFF2-40B4-BE49-F238E27FC236}">
                  <a16:creationId xmlns:a16="http://schemas.microsoft.com/office/drawing/2014/main" id="{7CE50984-CD9C-479F-8D8B-122F72A726AB}"/>
                </a:ext>
              </a:extLst>
            </p:cNvPr>
            <p:cNvGrpSpPr>
              <a:grpSpLocks/>
            </p:cNvGrpSpPr>
            <p:nvPr/>
          </p:nvGrpSpPr>
          <p:grpSpPr bwMode="auto">
            <a:xfrm>
              <a:off x="432" y="1920"/>
              <a:ext cx="2064" cy="624"/>
              <a:chOff x="432" y="1920"/>
              <a:chExt cx="2064" cy="624"/>
            </a:xfrm>
          </p:grpSpPr>
          <p:sp>
            <p:nvSpPr>
              <p:cNvPr id="36" name="Rectangle 35">
                <a:extLst>
                  <a:ext uri="{FF2B5EF4-FFF2-40B4-BE49-F238E27FC236}">
                    <a16:creationId xmlns:a16="http://schemas.microsoft.com/office/drawing/2014/main" id="{61B7F846-8D2F-4B30-BEF1-CE817C0EBAD7}"/>
                  </a:ext>
                </a:extLst>
              </p:cNvPr>
              <p:cNvSpPr>
                <a:spLocks noChangeArrowheads="1"/>
              </p:cNvSpPr>
              <p:nvPr/>
            </p:nvSpPr>
            <p:spPr bwMode="auto">
              <a:xfrm>
                <a:off x="432" y="1920"/>
                <a:ext cx="2064" cy="62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N"/>
              </a:p>
            </p:txBody>
          </p:sp>
          <p:grpSp>
            <p:nvGrpSpPr>
              <p:cNvPr id="37" name="Group 36">
                <a:extLst>
                  <a:ext uri="{FF2B5EF4-FFF2-40B4-BE49-F238E27FC236}">
                    <a16:creationId xmlns:a16="http://schemas.microsoft.com/office/drawing/2014/main" id="{3BD89D18-04BA-4189-BD6F-EC5C5B54E863}"/>
                  </a:ext>
                </a:extLst>
              </p:cNvPr>
              <p:cNvGrpSpPr>
                <a:grpSpLocks/>
              </p:cNvGrpSpPr>
              <p:nvPr/>
            </p:nvGrpSpPr>
            <p:grpSpPr bwMode="auto">
              <a:xfrm>
                <a:off x="680" y="1933"/>
                <a:ext cx="953" cy="591"/>
                <a:chOff x="680" y="1933"/>
                <a:chExt cx="953" cy="591"/>
              </a:xfrm>
            </p:grpSpPr>
            <p:sp>
              <p:nvSpPr>
                <p:cNvPr id="38" name="AutoShape 37">
                  <a:extLst>
                    <a:ext uri="{FF2B5EF4-FFF2-40B4-BE49-F238E27FC236}">
                      <a16:creationId xmlns:a16="http://schemas.microsoft.com/office/drawing/2014/main" id="{12704C96-5633-42E3-8AB7-44658ED7F53D}"/>
                    </a:ext>
                  </a:extLst>
                </p:cNvPr>
                <p:cNvSpPr>
                  <a:spLocks noChangeArrowheads="1"/>
                </p:cNvSpPr>
                <p:nvPr/>
              </p:nvSpPr>
              <p:spPr bwMode="auto">
                <a:xfrm>
                  <a:off x="748" y="2251"/>
                  <a:ext cx="861" cy="273"/>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PhD Student</a:t>
                  </a:r>
                </a:p>
              </p:txBody>
            </p:sp>
            <p:cxnSp>
              <p:nvCxnSpPr>
                <p:cNvPr id="39" name="AutoShape 38">
                  <a:extLst>
                    <a:ext uri="{FF2B5EF4-FFF2-40B4-BE49-F238E27FC236}">
                      <a16:creationId xmlns:a16="http://schemas.microsoft.com/office/drawing/2014/main" id="{FE75E3D9-5C5C-4827-891D-80D57D317442}"/>
                    </a:ext>
                  </a:extLst>
                </p:cNvPr>
                <p:cNvCxnSpPr>
                  <a:cxnSpLocks noChangeShapeType="1"/>
                  <a:stCxn id="90" idx="2"/>
                  <a:endCxn id="35" idx="0"/>
                </p:cNvCxnSpPr>
                <p:nvPr/>
              </p:nvCxnSpPr>
              <p:spPr bwMode="auto">
                <a:xfrm>
                  <a:off x="680" y="1933"/>
                  <a:ext cx="453" cy="272"/>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9">
                  <a:extLst>
                    <a:ext uri="{FF2B5EF4-FFF2-40B4-BE49-F238E27FC236}">
                      <a16:creationId xmlns:a16="http://schemas.microsoft.com/office/drawing/2014/main" id="{42F287BA-1A1E-4F28-B12B-164D7FF86B9A}"/>
                    </a:ext>
                  </a:extLst>
                </p:cNvPr>
                <p:cNvCxnSpPr>
                  <a:cxnSpLocks noChangeShapeType="1"/>
                  <a:stCxn id="89" idx="2"/>
                  <a:endCxn id="35" idx="0"/>
                </p:cNvCxnSpPr>
                <p:nvPr/>
              </p:nvCxnSpPr>
              <p:spPr bwMode="auto">
                <a:xfrm flipH="1">
                  <a:off x="1134" y="1933"/>
                  <a:ext cx="499" cy="272"/>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35" name="AutoShape 40">
              <a:extLst>
                <a:ext uri="{FF2B5EF4-FFF2-40B4-BE49-F238E27FC236}">
                  <a16:creationId xmlns:a16="http://schemas.microsoft.com/office/drawing/2014/main" id="{FA28F5B6-08AE-469D-A5C1-CAB02B4E32EB}"/>
                </a:ext>
              </a:extLst>
            </p:cNvPr>
            <p:cNvSpPr>
              <a:spLocks noChangeArrowheads="1"/>
            </p:cNvSpPr>
            <p:nvPr/>
          </p:nvSpPr>
          <p:spPr bwMode="auto">
            <a:xfrm>
              <a:off x="703" y="2205"/>
              <a:ext cx="861" cy="273"/>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PhD Student</a:t>
              </a:r>
            </a:p>
          </p:txBody>
        </p:sp>
      </p:grpSp>
      <p:cxnSp>
        <p:nvCxnSpPr>
          <p:cNvPr id="41" name="AutoShape 41">
            <a:extLst>
              <a:ext uri="{FF2B5EF4-FFF2-40B4-BE49-F238E27FC236}">
                <a16:creationId xmlns:a16="http://schemas.microsoft.com/office/drawing/2014/main" id="{EB42596E-EC36-4D73-8089-B7F598B1DB96}"/>
              </a:ext>
            </a:extLst>
          </p:cNvPr>
          <p:cNvCxnSpPr>
            <a:cxnSpLocks noChangeShapeType="1"/>
            <a:stCxn id="28" idx="2"/>
            <a:endCxn id="29" idx="0"/>
          </p:cNvCxnSpPr>
          <p:nvPr/>
        </p:nvCxnSpPr>
        <p:spPr bwMode="auto">
          <a:xfrm flipH="1">
            <a:off x="1930227" y="2046288"/>
            <a:ext cx="2735263" cy="358775"/>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42">
            <a:extLst>
              <a:ext uri="{FF2B5EF4-FFF2-40B4-BE49-F238E27FC236}">
                <a16:creationId xmlns:a16="http://schemas.microsoft.com/office/drawing/2014/main" id="{02306848-A1DE-48E6-8D24-256142DB4466}"/>
              </a:ext>
            </a:extLst>
          </p:cNvPr>
          <p:cNvCxnSpPr>
            <a:cxnSpLocks noChangeShapeType="1"/>
            <a:stCxn id="28" idx="2"/>
            <a:endCxn id="30" idx="0"/>
          </p:cNvCxnSpPr>
          <p:nvPr/>
        </p:nvCxnSpPr>
        <p:spPr bwMode="auto">
          <a:xfrm>
            <a:off x="4665490" y="2046288"/>
            <a:ext cx="0" cy="358775"/>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43">
            <a:extLst>
              <a:ext uri="{FF2B5EF4-FFF2-40B4-BE49-F238E27FC236}">
                <a16:creationId xmlns:a16="http://schemas.microsoft.com/office/drawing/2014/main" id="{54C80A8B-3044-4061-B2E4-811CDD00D9BB}"/>
              </a:ext>
            </a:extLst>
          </p:cNvPr>
          <p:cNvCxnSpPr>
            <a:cxnSpLocks noChangeShapeType="1"/>
            <a:stCxn id="28" idx="2"/>
            <a:endCxn id="31" idx="0"/>
          </p:cNvCxnSpPr>
          <p:nvPr/>
        </p:nvCxnSpPr>
        <p:spPr bwMode="auto">
          <a:xfrm>
            <a:off x="4665490" y="2046288"/>
            <a:ext cx="3457575" cy="358775"/>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4" name="Group 44">
            <a:extLst>
              <a:ext uri="{FF2B5EF4-FFF2-40B4-BE49-F238E27FC236}">
                <a16:creationId xmlns:a16="http://schemas.microsoft.com/office/drawing/2014/main" id="{4680E92A-EA26-41AC-BD72-826D2BBBE92F}"/>
              </a:ext>
            </a:extLst>
          </p:cNvPr>
          <p:cNvGrpSpPr>
            <a:grpSpLocks/>
          </p:cNvGrpSpPr>
          <p:nvPr/>
        </p:nvGrpSpPr>
        <p:grpSpPr bwMode="auto">
          <a:xfrm>
            <a:off x="3693940" y="3254375"/>
            <a:ext cx="1366837" cy="520700"/>
            <a:chOff x="2245" y="1606"/>
            <a:chExt cx="861" cy="328"/>
          </a:xfrm>
        </p:grpSpPr>
        <p:sp>
          <p:nvSpPr>
            <p:cNvPr id="45" name="AutoShape 45">
              <a:extLst>
                <a:ext uri="{FF2B5EF4-FFF2-40B4-BE49-F238E27FC236}">
                  <a16:creationId xmlns:a16="http://schemas.microsoft.com/office/drawing/2014/main" id="{76CD6146-9B32-489E-9633-B589575F4B18}"/>
                </a:ext>
              </a:extLst>
            </p:cNvPr>
            <p:cNvSpPr>
              <a:spLocks noChangeArrowheads="1"/>
            </p:cNvSpPr>
            <p:nvPr/>
          </p:nvSpPr>
          <p:spPr bwMode="auto">
            <a:xfrm>
              <a:off x="2245" y="1661"/>
              <a:ext cx="861" cy="273"/>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Semantics</a:t>
              </a:r>
            </a:p>
          </p:txBody>
        </p:sp>
        <p:cxnSp>
          <p:nvCxnSpPr>
            <p:cNvPr id="46" name="AutoShape 46">
              <a:extLst>
                <a:ext uri="{FF2B5EF4-FFF2-40B4-BE49-F238E27FC236}">
                  <a16:creationId xmlns:a16="http://schemas.microsoft.com/office/drawing/2014/main" id="{D5C9C5E8-1752-46C3-A581-F31ED3BB6F02}"/>
                </a:ext>
              </a:extLst>
            </p:cNvPr>
            <p:cNvCxnSpPr>
              <a:cxnSpLocks noChangeShapeType="1"/>
              <a:stCxn id="30" idx="2"/>
              <a:endCxn id="45" idx="0"/>
            </p:cNvCxnSpPr>
            <p:nvPr/>
          </p:nvCxnSpPr>
          <p:spPr bwMode="auto">
            <a:xfrm flipH="1">
              <a:off x="2676" y="1606"/>
              <a:ext cx="263" cy="55"/>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47" name="AutoShape 47">
            <a:extLst>
              <a:ext uri="{FF2B5EF4-FFF2-40B4-BE49-F238E27FC236}">
                <a16:creationId xmlns:a16="http://schemas.microsoft.com/office/drawing/2014/main" id="{A43631D2-D2BD-4FB8-A7DB-DA6EBB8202AA}"/>
              </a:ext>
            </a:extLst>
          </p:cNvPr>
          <p:cNvCxnSpPr>
            <a:cxnSpLocks noChangeShapeType="1"/>
            <a:stCxn id="29" idx="2"/>
            <a:endCxn id="89" idx="0"/>
          </p:cNvCxnSpPr>
          <p:nvPr/>
        </p:nvCxnSpPr>
        <p:spPr bwMode="auto">
          <a:xfrm>
            <a:off x="1930227" y="2838450"/>
            <a:ext cx="792163" cy="501650"/>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48">
            <a:extLst>
              <a:ext uri="{FF2B5EF4-FFF2-40B4-BE49-F238E27FC236}">
                <a16:creationId xmlns:a16="http://schemas.microsoft.com/office/drawing/2014/main" id="{AB9AE816-ED2B-47C2-8F6E-E2C694CE5B80}"/>
              </a:ext>
            </a:extLst>
          </p:cNvPr>
          <p:cNvCxnSpPr>
            <a:cxnSpLocks noChangeShapeType="1"/>
            <a:stCxn id="29" idx="2"/>
            <a:endCxn id="90" idx="0"/>
          </p:cNvCxnSpPr>
          <p:nvPr/>
        </p:nvCxnSpPr>
        <p:spPr bwMode="auto">
          <a:xfrm flipH="1">
            <a:off x="1211090" y="2838450"/>
            <a:ext cx="719137" cy="501650"/>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9" name="Group 49">
            <a:extLst>
              <a:ext uri="{FF2B5EF4-FFF2-40B4-BE49-F238E27FC236}">
                <a16:creationId xmlns:a16="http://schemas.microsoft.com/office/drawing/2014/main" id="{92D896D1-6352-4115-A66E-87139CD69DD5}"/>
              </a:ext>
            </a:extLst>
          </p:cNvPr>
          <p:cNvGrpSpPr>
            <a:grpSpLocks/>
          </p:cNvGrpSpPr>
          <p:nvPr/>
        </p:nvGrpSpPr>
        <p:grpSpPr bwMode="auto">
          <a:xfrm>
            <a:off x="2743027" y="2328863"/>
            <a:ext cx="1368425" cy="708025"/>
            <a:chOff x="1646" y="1023"/>
            <a:chExt cx="862" cy="446"/>
          </a:xfrm>
        </p:grpSpPr>
        <p:cxnSp>
          <p:nvCxnSpPr>
            <p:cNvPr id="50" name="AutoShape 50">
              <a:extLst>
                <a:ext uri="{FF2B5EF4-FFF2-40B4-BE49-F238E27FC236}">
                  <a16:creationId xmlns:a16="http://schemas.microsoft.com/office/drawing/2014/main" id="{1FDADD2E-F0CD-46FE-A504-13394BA548B3}"/>
                </a:ext>
              </a:extLst>
            </p:cNvPr>
            <p:cNvCxnSpPr>
              <a:cxnSpLocks noChangeShapeType="1"/>
              <a:stCxn id="29" idx="3"/>
              <a:endCxn id="30" idx="1"/>
            </p:cNvCxnSpPr>
            <p:nvPr/>
          </p:nvCxnSpPr>
          <p:spPr bwMode="auto">
            <a:xfrm>
              <a:off x="1646" y="1469"/>
              <a:ext cx="862" cy="0"/>
            </a:xfrm>
            <a:prstGeom prst="straightConnector1">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51">
              <a:extLst>
                <a:ext uri="{FF2B5EF4-FFF2-40B4-BE49-F238E27FC236}">
                  <a16:creationId xmlns:a16="http://schemas.microsoft.com/office/drawing/2014/main" id="{2F56079B-A141-4CFC-BD0F-498CBBDA0E1B}"/>
                </a:ext>
              </a:extLst>
            </p:cNvPr>
            <p:cNvSpPr txBox="1">
              <a:spLocks noChangeArrowheads="1"/>
            </p:cNvSpPr>
            <p:nvPr/>
          </p:nvSpPr>
          <p:spPr bwMode="auto">
            <a:xfrm>
              <a:off x="1759" y="1023"/>
              <a:ext cx="44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knows</a:t>
              </a:r>
            </a:p>
          </p:txBody>
        </p:sp>
      </p:grpSp>
      <p:cxnSp>
        <p:nvCxnSpPr>
          <p:cNvPr id="52" name="AutoShape 52">
            <a:extLst>
              <a:ext uri="{FF2B5EF4-FFF2-40B4-BE49-F238E27FC236}">
                <a16:creationId xmlns:a16="http://schemas.microsoft.com/office/drawing/2014/main" id="{F0761A1A-B817-4E6D-80D2-FEC17062D948}"/>
              </a:ext>
            </a:extLst>
          </p:cNvPr>
          <p:cNvCxnSpPr>
            <a:cxnSpLocks noChangeShapeType="1"/>
            <a:stCxn id="30" idx="3"/>
            <a:endCxn id="31" idx="1"/>
          </p:cNvCxnSpPr>
          <p:nvPr/>
        </p:nvCxnSpPr>
        <p:spPr bwMode="auto">
          <a:xfrm>
            <a:off x="5348115" y="2622550"/>
            <a:ext cx="2090737" cy="0"/>
          </a:xfrm>
          <a:prstGeom prst="straightConnector1">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 Box 53">
            <a:extLst>
              <a:ext uri="{FF2B5EF4-FFF2-40B4-BE49-F238E27FC236}">
                <a16:creationId xmlns:a16="http://schemas.microsoft.com/office/drawing/2014/main" id="{34FA6DB5-8316-4026-84F6-4FC23A4BFB18}"/>
              </a:ext>
            </a:extLst>
          </p:cNvPr>
          <p:cNvSpPr txBox="1">
            <a:spLocks noChangeArrowheads="1"/>
          </p:cNvSpPr>
          <p:nvPr/>
        </p:nvSpPr>
        <p:spPr bwMode="auto">
          <a:xfrm>
            <a:off x="5789440" y="2349500"/>
            <a:ext cx="1254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described_in</a:t>
            </a:r>
          </a:p>
        </p:txBody>
      </p:sp>
      <p:sp>
        <p:nvSpPr>
          <p:cNvPr id="54" name="Text Box 54">
            <a:extLst>
              <a:ext uri="{FF2B5EF4-FFF2-40B4-BE49-F238E27FC236}">
                <a16:creationId xmlns:a16="http://schemas.microsoft.com/office/drawing/2014/main" id="{513A3027-C0DA-4D33-87D3-FBD996F5CCCB}"/>
              </a:ext>
            </a:extLst>
          </p:cNvPr>
          <p:cNvSpPr txBox="1">
            <a:spLocks noChangeArrowheads="1"/>
          </p:cNvSpPr>
          <p:nvPr/>
        </p:nvSpPr>
        <p:spPr bwMode="auto">
          <a:xfrm>
            <a:off x="3041477" y="2779713"/>
            <a:ext cx="7000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writes</a:t>
            </a:r>
          </a:p>
        </p:txBody>
      </p:sp>
      <p:cxnSp>
        <p:nvCxnSpPr>
          <p:cNvPr id="55" name="AutoShape 55">
            <a:extLst>
              <a:ext uri="{FF2B5EF4-FFF2-40B4-BE49-F238E27FC236}">
                <a16:creationId xmlns:a16="http://schemas.microsoft.com/office/drawing/2014/main" id="{39D299AF-125C-45A1-A3B7-DCF30CACCF9B}"/>
              </a:ext>
            </a:extLst>
          </p:cNvPr>
          <p:cNvCxnSpPr>
            <a:cxnSpLocks noChangeShapeType="1"/>
            <a:stCxn id="29" idx="2"/>
            <a:endCxn id="31" idx="2"/>
          </p:cNvCxnSpPr>
          <p:nvPr/>
        </p:nvCxnSpPr>
        <p:spPr bwMode="auto">
          <a:xfrm rot="16200000" flipH="1">
            <a:off x="5025852" y="-257175"/>
            <a:ext cx="1588" cy="6192838"/>
          </a:xfrm>
          <a:prstGeom prst="curvedConnector3">
            <a:avLst>
              <a:gd name="adj1" fmla="val 14400000"/>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56">
            <a:extLst>
              <a:ext uri="{FF2B5EF4-FFF2-40B4-BE49-F238E27FC236}">
                <a16:creationId xmlns:a16="http://schemas.microsoft.com/office/drawing/2014/main" id="{636CCEDB-CA90-4F67-93BE-9AD43CE5F399}"/>
              </a:ext>
            </a:extLst>
          </p:cNvPr>
          <p:cNvCxnSpPr>
            <a:cxnSpLocks noChangeShapeType="1"/>
            <a:stCxn id="35" idx="2"/>
            <a:endCxn id="32" idx="0"/>
          </p:cNvCxnSpPr>
          <p:nvPr/>
        </p:nvCxnSpPr>
        <p:spPr bwMode="auto">
          <a:xfrm flipH="1">
            <a:off x="1498427" y="4638675"/>
            <a:ext cx="431800" cy="358775"/>
          </a:xfrm>
          <a:prstGeom prst="straightConnector1">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7" name="Group 57">
            <a:extLst>
              <a:ext uri="{FF2B5EF4-FFF2-40B4-BE49-F238E27FC236}">
                <a16:creationId xmlns:a16="http://schemas.microsoft.com/office/drawing/2014/main" id="{A15895DA-F788-4671-B023-65F68034933F}"/>
              </a:ext>
            </a:extLst>
          </p:cNvPr>
          <p:cNvGrpSpPr>
            <a:grpSpLocks/>
          </p:cNvGrpSpPr>
          <p:nvPr/>
        </p:nvGrpSpPr>
        <p:grpSpPr bwMode="auto">
          <a:xfrm>
            <a:off x="1965152" y="4997450"/>
            <a:ext cx="790575" cy="288925"/>
            <a:chOff x="1156" y="2704"/>
            <a:chExt cx="498" cy="182"/>
          </a:xfrm>
        </p:grpSpPr>
        <p:sp>
          <p:nvSpPr>
            <p:cNvPr id="58" name="AutoShape 58">
              <a:extLst>
                <a:ext uri="{FF2B5EF4-FFF2-40B4-BE49-F238E27FC236}">
                  <a16:creationId xmlns:a16="http://schemas.microsoft.com/office/drawing/2014/main" id="{FAAF1503-F3FD-41D8-A5B2-394F026A6B48}"/>
                </a:ext>
              </a:extLst>
            </p:cNvPr>
            <p:cNvSpPr>
              <a:spLocks noChangeArrowheads="1"/>
            </p:cNvSpPr>
            <p:nvPr/>
          </p:nvSpPr>
          <p:spPr bwMode="auto">
            <a:xfrm>
              <a:off x="1156" y="2704"/>
              <a:ext cx="498" cy="182"/>
            </a:xfrm>
            <a:prstGeom prst="flowChartAlternateProcess">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sz="1400">
                  <a:latin typeface="Trebuchet MS" panose="020B0603020202020204" pitchFamily="34" charset="0"/>
                </a:rPr>
                <a:t>Affiliation</a:t>
              </a:r>
            </a:p>
          </p:txBody>
        </p:sp>
        <p:cxnSp>
          <p:nvCxnSpPr>
            <p:cNvPr id="59" name="AutoShape 59">
              <a:extLst>
                <a:ext uri="{FF2B5EF4-FFF2-40B4-BE49-F238E27FC236}">
                  <a16:creationId xmlns:a16="http://schemas.microsoft.com/office/drawing/2014/main" id="{20ACFECD-1692-45AB-9EA3-BCC942B687BD}"/>
                </a:ext>
              </a:extLst>
            </p:cNvPr>
            <p:cNvCxnSpPr>
              <a:cxnSpLocks noChangeShapeType="1"/>
              <a:stCxn id="35" idx="2"/>
              <a:endCxn id="58" idx="0"/>
            </p:cNvCxnSpPr>
            <p:nvPr/>
          </p:nvCxnSpPr>
          <p:spPr bwMode="auto">
            <a:xfrm flipV="1">
              <a:off x="1215" y="2704"/>
              <a:ext cx="190" cy="36"/>
            </a:xfrm>
            <a:prstGeom prst="straightConnector1">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0" name="Group 60">
            <a:extLst>
              <a:ext uri="{FF2B5EF4-FFF2-40B4-BE49-F238E27FC236}">
                <a16:creationId xmlns:a16="http://schemas.microsoft.com/office/drawing/2014/main" id="{A4951597-488F-4848-A1F4-44263C6D6AD9}"/>
              </a:ext>
            </a:extLst>
          </p:cNvPr>
          <p:cNvGrpSpPr>
            <a:grpSpLocks/>
          </p:cNvGrpSpPr>
          <p:nvPr/>
        </p:nvGrpSpPr>
        <p:grpSpPr bwMode="auto">
          <a:xfrm>
            <a:off x="4220990" y="4278313"/>
            <a:ext cx="4824412" cy="1727200"/>
            <a:chOff x="2517" y="2251"/>
            <a:chExt cx="3039" cy="1088"/>
          </a:xfrm>
        </p:grpSpPr>
        <p:sp>
          <p:nvSpPr>
            <p:cNvPr id="61" name="Text Box 61">
              <a:extLst>
                <a:ext uri="{FF2B5EF4-FFF2-40B4-BE49-F238E27FC236}">
                  <a16:creationId xmlns:a16="http://schemas.microsoft.com/office/drawing/2014/main" id="{4F4590DE-E6D3-4EC8-9D30-4E1C1DFA63ED}"/>
                </a:ext>
              </a:extLst>
            </p:cNvPr>
            <p:cNvSpPr txBox="1">
              <a:spLocks noChangeArrowheads="1"/>
            </p:cNvSpPr>
            <p:nvPr/>
          </p:nvSpPr>
          <p:spPr bwMode="auto">
            <a:xfrm>
              <a:off x="3379" y="2614"/>
              <a:ext cx="80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Arial" panose="020B0604020202020204" pitchFamily="34" charset="0"/>
                </a:rPr>
                <a:t>described_in</a:t>
              </a:r>
            </a:p>
          </p:txBody>
        </p:sp>
        <p:sp>
          <p:nvSpPr>
            <p:cNvPr id="62" name="Line 62">
              <a:extLst>
                <a:ext uri="{FF2B5EF4-FFF2-40B4-BE49-F238E27FC236}">
                  <a16:creationId xmlns:a16="http://schemas.microsoft.com/office/drawing/2014/main" id="{C8C8BE9A-BCAF-40E2-883D-D55CA3811AFB}"/>
                </a:ext>
              </a:extLst>
            </p:cNvPr>
            <p:cNvSpPr>
              <a:spLocks noChangeShapeType="1"/>
            </p:cNvSpPr>
            <p:nvPr/>
          </p:nvSpPr>
          <p:spPr bwMode="auto">
            <a:xfrm>
              <a:off x="3424" y="2796"/>
              <a:ext cx="681" cy="0"/>
            </a:xfrm>
            <a:prstGeom prst="line">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3" name="AutoShape 63">
              <a:extLst>
                <a:ext uri="{FF2B5EF4-FFF2-40B4-BE49-F238E27FC236}">
                  <a16:creationId xmlns:a16="http://schemas.microsoft.com/office/drawing/2014/main" id="{8DE1B89B-EED8-4FB6-A5E2-1F21BF5CA8E5}"/>
                </a:ext>
              </a:extLst>
            </p:cNvPr>
            <p:cNvSpPr>
              <a:spLocks noChangeArrowheads="1"/>
            </p:cNvSpPr>
            <p:nvPr/>
          </p:nvSpPr>
          <p:spPr bwMode="auto">
            <a:xfrm>
              <a:off x="4332" y="2614"/>
              <a:ext cx="226" cy="18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 name="Text Box 64">
              <a:extLst>
                <a:ext uri="{FF2B5EF4-FFF2-40B4-BE49-F238E27FC236}">
                  <a16:creationId xmlns:a16="http://schemas.microsoft.com/office/drawing/2014/main" id="{AE745E5D-7F02-4A0E-B392-90A34018520D}"/>
                </a:ext>
              </a:extLst>
            </p:cNvPr>
            <p:cNvSpPr txBox="1">
              <a:spLocks noChangeArrowheads="1"/>
            </p:cNvSpPr>
            <p:nvPr/>
          </p:nvSpPr>
          <p:spPr bwMode="auto">
            <a:xfrm>
              <a:off x="4710" y="2614"/>
              <a:ext cx="57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Arial" panose="020B0604020202020204" pitchFamily="34" charset="0"/>
                </a:rPr>
                <a:t>is_about</a:t>
              </a:r>
            </a:p>
          </p:txBody>
        </p:sp>
        <p:sp>
          <p:nvSpPr>
            <p:cNvPr id="65" name="Line 65">
              <a:extLst>
                <a:ext uri="{FF2B5EF4-FFF2-40B4-BE49-F238E27FC236}">
                  <a16:creationId xmlns:a16="http://schemas.microsoft.com/office/drawing/2014/main" id="{F630FC53-CFB1-4E4A-AFA1-1BB8B469E4F1}"/>
                </a:ext>
              </a:extLst>
            </p:cNvPr>
            <p:cNvSpPr>
              <a:spLocks noChangeShapeType="1"/>
            </p:cNvSpPr>
            <p:nvPr/>
          </p:nvSpPr>
          <p:spPr bwMode="auto">
            <a:xfrm>
              <a:off x="4755" y="2796"/>
              <a:ext cx="529" cy="0"/>
            </a:xfrm>
            <a:prstGeom prst="line">
              <a:avLst/>
            </a:prstGeom>
            <a:noFill/>
            <a:ln w="38100">
              <a:solidFill>
                <a:srgbClr val="FFCC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6" name="Text Box 66">
              <a:extLst>
                <a:ext uri="{FF2B5EF4-FFF2-40B4-BE49-F238E27FC236}">
                  <a16:creationId xmlns:a16="http://schemas.microsoft.com/office/drawing/2014/main" id="{93C1EE78-A9D1-43BE-B112-457B33ECD3E7}"/>
                </a:ext>
              </a:extLst>
            </p:cNvPr>
            <p:cNvSpPr txBox="1">
              <a:spLocks noChangeArrowheads="1"/>
            </p:cNvSpPr>
            <p:nvPr/>
          </p:nvSpPr>
          <p:spPr bwMode="auto">
            <a:xfrm>
              <a:off x="4876" y="2977"/>
              <a:ext cx="4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Arial" panose="020B0604020202020204" pitchFamily="34" charset="0"/>
                </a:rPr>
                <a:t>knows</a:t>
              </a:r>
            </a:p>
          </p:txBody>
        </p:sp>
        <p:sp>
          <p:nvSpPr>
            <p:cNvPr id="67" name="Line 67">
              <a:extLst>
                <a:ext uri="{FF2B5EF4-FFF2-40B4-BE49-F238E27FC236}">
                  <a16:creationId xmlns:a16="http://schemas.microsoft.com/office/drawing/2014/main" id="{6ACB51FC-F37F-45C7-A01B-72AABEC357D2}"/>
                </a:ext>
              </a:extLst>
            </p:cNvPr>
            <p:cNvSpPr>
              <a:spLocks noChangeShapeType="1"/>
            </p:cNvSpPr>
            <p:nvPr/>
          </p:nvSpPr>
          <p:spPr bwMode="auto">
            <a:xfrm>
              <a:off x="4830" y="3158"/>
              <a:ext cx="454" cy="0"/>
            </a:xfrm>
            <a:prstGeom prst="line">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8" name="AutoShape 68">
              <a:extLst>
                <a:ext uri="{FF2B5EF4-FFF2-40B4-BE49-F238E27FC236}">
                  <a16:creationId xmlns:a16="http://schemas.microsoft.com/office/drawing/2014/main" id="{C296FB41-AB58-4B76-9F28-403733FA11CD}"/>
                </a:ext>
              </a:extLst>
            </p:cNvPr>
            <p:cNvSpPr>
              <a:spLocks noChangeArrowheads="1"/>
            </p:cNvSpPr>
            <p:nvPr/>
          </p:nvSpPr>
          <p:spPr bwMode="auto">
            <a:xfrm>
              <a:off x="2654" y="2931"/>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P</a:t>
              </a:r>
            </a:p>
          </p:txBody>
        </p:sp>
        <p:sp>
          <p:nvSpPr>
            <p:cNvPr id="69" name="Text Box 69">
              <a:extLst>
                <a:ext uri="{FF2B5EF4-FFF2-40B4-BE49-F238E27FC236}">
                  <a16:creationId xmlns:a16="http://schemas.microsoft.com/office/drawing/2014/main" id="{828A4FB2-2F52-49BB-BBFB-E128E52C3B1F}"/>
                </a:ext>
              </a:extLst>
            </p:cNvPr>
            <p:cNvSpPr txBox="1">
              <a:spLocks noChangeArrowheads="1"/>
            </p:cNvSpPr>
            <p:nvPr/>
          </p:nvSpPr>
          <p:spPr bwMode="auto">
            <a:xfrm>
              <a:off x="2790" y="2976"/>
              <a:ext cx="43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Arial" panose="020B0604020202020204" pitchFamily="34" charset="0"/>
                </a:rPr>
                <a:t>writes</a:t>
              </a:r>
            </a:p>
          </p:txBody>
        </p:sp>
        <p:sp>
          <p:nvSpPr>
            <p:cNvPr id="70" name="Line 70">
              <a:extLst>
                <a:ext uri="{FF2B5EF4-FFF2-40B4-BE49-F238E27FC236}">
                  <a16:creationId xmlns:a16="http://schemas.microsoft.com/office/drawing/2014/main" id="{EB403DEC-EB31-4B75-BE99-DBC0EF1F0C3E}"/>
                </a:ext>
              </a:extLst>
            </p:cNvPr>
            <p:cNvSpPr>
              <a:spLocks noChangeShapeType="1"/>
            </p:cNvSpPr>
            <p:nvPr/>
          </p:nvSpPr>
          <p:spPr bwMode="auto">
            <a:xfrm>
              <a:off x="2790" y="3157"/>
              <a:ext cx="544" cy="1"/>
            </a:xfrm>
            <a:prstGeom prst="line">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1" name="AutoShape 71">
              <a:extLst>
                <a:ext uri="{FF2B5EF4-FFF2-40B4-BE49-F238E27FC236}">
                  <a16:creationId xmlns:a16="http://schemas.microsoft.com/office/drawing/2014/main" id="{4877D5CF-2B79-41F2-BFB2-754757038591}"/>
                </a:ext>
              </a:extLst>
            </p:cNvPr>
            <p:cNvSpPr>
              <a:spLocks noChangeArrowheads="1"/>
            </p:cNvSpPr>
            <p:nvPr/>
          </p:nvSpPr>
          <p:spPr bwMode="auto">
            <a:xfrm>
              <a:off x="3334" y="2931"/>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D</a:t>
              </a:r>
            </a:p>
          </p:txBody>
        </p:sp>
        <p:sp>
          <p:nvSpPr>
            <p:cNvPr id="72" name="Text Box 72">
              <a:extLst>
                <a:ext uri="{FF2B5EF4-FFF2-40B4-BE49-F238E27FC236}">
                  <a16:creationId xmlns:a16="http://schemas.microsoft.com/office/drawing/2014/main" id="{61315242-E8E0-419D-8EC2-206763DA1D35}"/>
                </a:ext>
              </a:extLst>
            </p:cNvPr>
            <p:cNvSpPr txBox="1">
              <a:spLocks noChangeArrowheads="1"/>
            </p:cNvSpPr>
            <p:nvPr/>
          </p:nvSpPr>
          <p:spPr bwMode="auto">
            <a:xfrm>
              <a:off x="3515" y="2976"/>
              <a:ext cx="57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Arial" panose="020B0604020202020204" pitchFamily="34" charset="0"/>
                </a:rPr>
                <a:t>is_about</a:t>
              </a:r>
            </a:p>
          </p:txBody>
        </p:sp>
        <p:sp>
          <p:nvSpPr>
            <p:cNvPr id="73" name="Line 73">
              <a:extLst>
                <a:ext uri="{FF2B5EF4-FFF2-40B4-BE49-F238E27FC236}">
                  <a16:creationId xmlns:a16="http://schemas.microsoft.com/office/drawing/2014/main" id="{A90F7D1A-3A44-4EED-977D-DE4F49E5EB7F}"/>
                </a:ext>
              </a:extLst>
            </p:cNvPr>
            <p:cNvSpPr>
              <a:spLocks noChangeShapeType="1"/>
            </p:cNvSpPr>
            <p:nvPr/>
          </p:nvSpPr>
          <p:spPr bwMode="auto">
            <a:xfrm>
              <a:off x="3469" y="3158"/>
              <a:ext cx="681" cy="0"/>
            </a:xfrm>
            <a:prstGeom prst="line">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4" name="AutoShape 74">
              <a:extLst>
                <a:ext uri="{FF2B5EF4-FFF2-40B4-BE49-F238E27FC236}">
                  <a16:creationId xmlns:a16="http://schemas.microsoft.com/office/drawing/2014/main" id="{3FC11B92-9A4A-445E-B2F2-98FCBF3AE9F5}"/>
                </a:ext>
              </a:extLst>
            </p:cNvPr>
            <p:cNvSpPr>
              <a:spLocks noChangeArrowheads="1"/>
            </p:cNvSpPr>
            <p:nvPr/>
          </p:nvSpPr>
          <p:spPr bwMode="auto">
            <a:xfrm>
              <a:off x="4150" y="2931"/>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T</a:t>
              </a:r>
            </a:p>
          </p:txBody>
        </p:sp>
        <p:sp>
          <p:nvSpPr>
            <p:cNvPr id="75" name="AutoShape 75">
              <a:extLst>
                <a:ext uri="{FF2B5EF4-FFF2-40B4-BE49-F238E27FC236}">
                  <a16:creationId xmlns:a16="http://schemas.microsoft.com/office/drawing/2014/main" id="{B96EE703-BA8F-4508-8C48-C301FFC2C73E}"/>
                </a:ext>
              </a:extLst>
            </p:cNvPr>
            <p:cNvSpPr>
              <a:spLocks noChangeArrowheads="1"/>
            </p:cNvSpPr>
            <p:nvPr/>
          </p:nvSpPr>
          <p:spPr bwMode="auto">
            <a:xfrm>
              <a:off x="4694" y="2931"/>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P</a:t>
              </a:r>
            </a:p>
          </p:txBody>
        </p:sp>
        <p:sp>
          <p:nvSpPr>
            <p:cNvPr id="76" name="AutoShape 76">
              <a:extLst>
                <a:ext uri="{FF2B5EF4-FFF2-40B4-BE49-F238E27FC236}">
                  <a16:creationId xmlns:a16="http://schemas.microsoft.com/office/drawing/2014/main" id="{F8A5CC07-1020-40CF-A6FD-17C51240E130}"/>
                </a:ext>
              </a:extLst>
            </p:cNvPr>
            <p:cNvSpPr>
              <a:spLocks noChangeArrowheads="1"/>
            </p:cNvSpPr>
            <p:nvPr/>
          </p:nvSpPr>
          <p:spPr bwMode="auto">
            <a:xfrm>
              <a:off x="5329" y="2931"/>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T</a:t>
              </a:r>
            </a:p>
          </p:txBody>
        </p:sp>
        <p:sp>
          <p:nvSpPr>
            <p:cNvPr id="77" name="AutoShape 77">
              <a:extLst>
                <a:ext uri="{FF2B5EF4-FFF2-40B4-BE49-F238E27FC236}">
                  <a16:creationId xmlns:a16="http://schemas.microsoft.com/office/drawing/2014/main" id="{D1335A9C-E228-4C59-A50F-7B53B812487C}"/>
                </a:ext>
              </a:extLst>
            </p:cNvPr>
            <p:cNvSpPr>
              <a:spLocks noChangeArrowheads="1"/>
            </p:cNvSpPr>
            <p:nvPr/>
          </p:nvSpPr>
          <p:spPr bwMode="auto">
            <a:xfrm>
              <a:off x="4105" y="2569"/>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D</a:t>
              </a:r>
            </a:p>
          </p:txBody>
        </p:sp>
        <p:sp>
          <p:nvSpPr>
            <p:cNvPr id="78" name="AutoShape 78">
              <a:extLst>
                <a:ext uri="{FF2B5EF4-FFF2-40B4-BE49-F238E27FC236}">
                  <a16:creationId xmlns:a16="http://schemas.microsoft.com/office/drawing/2014/main" id="{7ABB5E7B-CCEE-4DE3-A8B9-F14D1A380AB8}"/>
                </a:ext>
              </a:extLst>
            </p:cNvPr>
            <p:cNvSpPr>
              <a:spLocks noChangeArrowheads="1"/>
            </p:cNvSpPr>
            <p:nvPr/>
          </p:nvSpPr>
          <p:spPr bwMode="auto">
            <a:xfrm>
              <a:off x="3243" y="2569"/>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T</a:t>
              </a:r>
            </a:p>
          </p:txBody>
        </p:sp>
        <p:sp>
          <p:nvSpPr>
            <p:cNvPr id="79" name="AutoShape 79">
              <a:extLst>
                <a:ext uri="{FF2B5EF4-FFF2-40B4-BE49-F238E27FC236}">
                  <a16:creationId xmlns:a16="http://schemas.microsoft.com/office/drawing/2014/main" id="{5B71CCD1-07A2-4EC6-BF92-828512494612}"/>
                </a:ext>
              </a:extLst>
            </p:cNvPr>
            <p:cNvSpPr>
              <a:spLocks noChangeArrowheads="1"/>
            </p:cNvSpPr>
            <p:nvPr/>
          </p:nvSpPr>
          <p:spPr bwMode="auto">
            <a:xfrm>
              <a:off x="4604" y="2569"/>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T</a:t>
              </a:r>
            </a:p>
          </p:txBody>
        </p:sp>
        <p:sp>
          <p:nvSpPr>
            <p:cNvPr id="80" name="AutoShape 80">
              <a:extLst>
                <a:ext uri="{FF2B5EF4-FFF2-40B4-BE49-F238E27FC236}">
                  <a16:creationId xmlns:a16="http://schemas.microsoft.com/office/drawing/2014/main" id="{AFD15E8E-6446-4386-AF57-924396AEA998}"/>
                </a:ext>
              </a:extLst>
            </p:cNvPr>
            <p:cNvSpPr>
              <a:spLocks noChangeArrowheads="1"/>
            </p:cNvSpPr>
            <p:nvPr/>
          </p:nvSpPr>
          <p:spPr bwMode="auto">
            <a:xfrm>
              <a:off x="5329" y="2569"/>
              <a:ext cx="136" cy="273"/>
            </a:xfrm>
            <a:prstGeom prst="flowChartAlternate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Arial" panose="020B0604020202020204" pitchFamily="34" charset="0"/>
                </a:rPr>
                <a:t>D</a:t>
              </a:r>
            </a:p>
          </p:txBody>
        </p:sp>
        <p:sp>
          <p:nvSpPr>
            <p:cNvPr id="81" name="AutoShape 81">
              <a:extLst>
                <a:ext uri="{FF2B5EF4-FFF2-40B4-BE49-F238E27FC236}">
                  <a16:creationId xmlns:a16="http://schemas.microsoft.com/office/drawing/2014/main" id="{BFCFC487-20BA-4B3C-96A9-7BDAC77BEBCD}"/>
                </a:ext>
              </a:extLst>
            </p:cNvPr>
            <p:cNvSpPr>
              <a:spLocks noChangeArrowheads="1"/>
            </p:cNvSpPr>
            <p:nvPr/>
          </p:nvSpPr>
          <p:spPr bwMode="auto">
            <a:xfrm>
              <a:off x="4377" y="2977"/>
              <a:ext cx="226" cy="18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 name="Text Box 82">
              <a:extLst>
                <a:ext uri="{FF2B5EF4-FFF2-40B4-BE49-F238E27FC236}">
                  <a16:creationId xmlns:a16="http://schemas.microsoft.com/office/drawing/2014/main" id="{044DF57E-71EC-49C6-AC29-E12A6F119CEF}"/>
                </a:ext>
              </a:extLst>
            </p:cNvPr>
            <p:cNvSpPr txBox="1">
              <a:spLocks noChangeArrowheads="1"/>
            </p:cNvSpPr>
            <p:nvPr/>
          </p:nvSpPr>
          <p:spPr bwMode="auto">
            <a:xfrm>
              <a:off x="4869" y="2296"/>
              <a:ext cx="5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b="1">
                  <a:latin typeface="Arial" panose="020B0604020202020204" pitchFamily="34" charset="0"/>
                </a:rPr>
                <a:t>Rules</a:t>
              </a:r>
            </a:p>
          </p:txBody>
        </p:sp>
        <p:sp>
          <p:nvSpPr>
            <p:cNvPr id="83" name="Rectangle 83">
              <a:extLst>
                <a:ext uri="{FF2B5EF4-FFF2-40B4-BE49-F238E27FC236}">
                  <a16:creationId xmlns:a16="http://schemas.microsoft.com/office/drawing/2014/main" id="{78B36FA8-2597-42C0-94C4-8B14A65841AC}"/>
                </a:ext>
              </a:extLst>
            </p:cNvPr>
            <p:cNvSpPr>
              <a:spLocks noChangeArrowheads="1"/>
            </p:cNvSpPr>
            <p:nvPr/>
          </p:nvSpPr>
          <p:spPr bwMode="auto">
            <a:xfrm>
              <a:off x="2517" y="2251"/>
              <a:ext cx="3039" cy="10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cxnSp>
        <p:nvCxnSpPr>
          <p:cNvPr id="84" name="AutoShape 84">
            <a:extLst>
              <a:ext uri="{FF2B5EF4-FFF2-40B4-BE49-F238E27FC236}">
                <a16:creationId xmlns:a16="http://schemas.microsoft.com/office/drawing/2014/main" id="{942DF24C-4AC7-40B0-A4B4-82ECA7E7C1B9}"/>
              </a:ext>
            </a:extLst>
          </p:cNvPr>
          <p:cNvCxnSpPr>
            <a:cxnSpLocks noChangeShapeType="1"/>
          </p:cNvCxnSpPr>
          <p:nvPr/>
        </p:nvCxnSpPr>
        <p:spPr bwMode="auto">
          <a:xfrm flipH="1">
            <a:off x="704677" y="4638675"/>
            <a:ext cx="1225550" cy="358775"/>
          </a:xfrm>
          <a:prstGeom prst="straightConnector1">
            <a:avLst/>
          </a:prstGeom>
          <a:noFill/>
          <a:ln w="38100">
            <a:solidFill>
              <a:srgbClr val="6699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5" name="Group 86">
            <a:extLst>
              <a:ext uri="{FF2B5EF4-FFF2-40B4-BE49-F238E27FC236}">
                <a16:creationId xmlns:a16="http://schemas.microsoft.com/office/drawing/2014/main" id="{919ED390-1F7D-4B10-90E7-3B044F620187}"/>
              </a:ext>
            </a:extLst>
          </p:cNvPr>
          <p:cNvGrpSpPr>
            <a:grpSpLocks/>
          </p:cNvGrpSpPr>
          <p:nvPr/>
        </p:nvGrpSpPr>
        <p:grpSpPr bwMode="auto">
          <a:xfrm>
            <a:off x="4341641" y="3989385"/>
            <a:ext cx="3195638" cy="304800"/>
            <a:chOff x="2653" y="2069"/>
            <a:chExt cx="2013" cy="192"/>
          </a:xfrm>
        </p:grpSpPr>
        <p:cxnSp>
          <p:nvCxnSpPr>
            <p:cNvPr id="86" name="AutoShape 87">
              <a:extLst>
                <a:ext uri="{FF2B5EF4-FFF2-40B4-BE49-F238E27FC236}">
                  <a16:creationId xmlns:a16="http://schemas.microsoft.com/office/drawing/2014/main" id="{18F11E32-CE1B-42EC-A10E-D4B64B90016B}"/>
                </a:ext>
              </a:extLst>
            </p:cNvPr>
            <p:cNvCxnSpPr>
              <a:cxnSpLocks noChangeShapeType="1"/>
              <a:stCxn id="45" idx="2"/>
              <a:endCxn id="20" idx="2"/>
            </p:cNvCxnSpPr>
            <p:nvPr/>
          </p:nvCxnSpPr>
          <p:spPr bwMode="auto">
            <a:xfrm rot="16200000" flipH="1">
              <a:off x="3256" y="1697"/>
              <a:ext cx="8" cy="998"/>
            </a:xfrm>
            <a:prstGeom prst="curvedConnector3">
              <a:avLst>
                <a:gd name="adj1" fmla="val 1800000"/>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AutoShape 88">
              <a:extLst>
                <a:ext uri="{FF2B5EF4-FFF2-40B4-BE49-F238E27FC236}">
                  <a16:creationId xmlns:a16="http://schemas.microsoft.com/office/drawing/2014/main" id="{C243E374-81DD-45DE-8C2A-4491F9AAD9BD}"/>
                </a:ext>
              </a:extLst>
            </p:cNvPr>
            <p:cNvCxnSpPr>
              <a:cxnSpLocks noChangeShapeType="1"/>
              <a:stCxn id="45" idx="2"/>
              <a:endCxn id="18" idx="2"/>
            </p:cNvCxnSpPr>
            <p:nvPr/>
          </p:nvCxnSpPr>
          <p:spPr bwMode="auto">
            <a:xfrm rot="16200000" flipH="1">
              <a:off x="3710" y="1244"/>
              <a:ext cx="8" cy="1905"/>
            </a:xfrm>
            <a:prstGeom prst="curvedConnector3">
              <a:avLst>
                <a:gd name="adj1" fmla="val 1800000"/>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 Box 89">
              <a:extLst>
                <a:ext uri="{FF2B5EF4-FFF2-40B4-BE49-F238E27FC236}">
                  <a16:creationId xmlns:a16="http://schemas.microsoft.com/office/drawing/2014/main" id="{0E190826-C5AB-4A6B-8759-DFECA7FECBAA}"/>
                </a:ext>
              </a:extLst>
            </p:cNvPr>
            <p:cNvSpPr txBox="1">
              <a:spLocks noChangeArrowheads="1"/>
            </p:cNvSpPr>
            <p:nvPr/>
          </p:nvSpPr>
          <p:spPr bwMode="auto">
            <a:xfrm>
              <a:off x="2653" y="2069"/>
              <a:ext cx="7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subTopicOf</a:t>
              </a:r>
            </a:p>
          </p:txBody>
        </p:sp>
      </p:grpSp>
      <p:sp>
        <p:nvSpPr>
          <p:cNvPr id="89" name="AutoShape 91">
            <a:extLst>
              <a:ext uri="{FF2B5EF4-FFF2-40B4-BE49-F238E27FC236}">
                <a16:creationId xmlns:a16="http://schemas.microsoft.com/office/drawing/2014/main" id="{5CC4D5A3-21BB-4C85-B135-493A35FD0AE0}"/>
              </a:ext>
            </a:extLst>
          </p:cNvPr>
          <p:cNvSpPr>
            <a:spLocks noChangeArrowheads="1"/>
          </p:cNvSpPr>
          <p:nvPr/>
        </p:nvSpPr>
        <p:spPr bwMode="auto">
          <a:xfrm>
            <a:off x="2038177" y="3340100"/>
            <a:ext cx="1366838" cy="433388"/>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Researcher</a:t>
            </a:r>
          </a:p>
        </p:txBody>
      </p:sp>
      <p:sp>
        <p:nvSpPr>
          <p:cNvPr id="90" name="AutoShape 92">
            <a:extLst>
              <a:ext uri="{FF2B5EF4-FFF2-40B4-BE49-F238E27FC236}">
                <a16:creationId xmlns:a16="http://schemas.microsoft.com/office/drawing/2014/main" id="{8408A991-7B97-467D-BE58-EFE601492143}"/>
              </a:ext>
            </a:extLst>
          </p:cNvPr>
          <p:cNvSpPr>
            <a:spLocks noChangeArrowheads="1"/>
          </p:cNvSpPr>
          <p:nvPr/>
        </p:nvSpPr>
        <p:spPr bwMode="auto">
          <a:xfrm>
            <a:off x="526877" y="3340100"/>
            <a:ext cx="1366838" cy="433388"/>
          </a:xfrm>
          <a:prstGeom prst="flowChartAlternateProcess">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latin typeface="Trebuchet MS" panose="020B0603020202020204" pitchFamily="34" charset="0"/>
              </a:rPr>
              <a:t>Student</a:t>
            </a:r>
          </a:p>
        </p:txBody>
      </p:sp>
      <p:sp>
        <p:nvSpPr>
          <p:cNvPr id="91" name="Text Box 93">
            <a:extLst>
              <a:ext uri="{FF2B5EF4-FFF2-40B4-BE49-F238E27FC236}">
                <a16:creationId xmlns:a16="http://schemas.microsoft.com/office/drawing/2014/main" id="{1768B4F3-1BDB-4975-B8A1-33D67FFD2ADE}"/>
              </a:ext>
            </a:extLst>
          </p:cNvPr>
          <p:cNvSpPr txBox="1">
            <a:spLocks noChangeArrowheads="1"/>
          </p:cNvSpPr>
          <p:nvPr/>
        </p:nvSpPr>
        <p:spPr bwMode="auto">
          <a:xfrm>
            <a:off x="2731915" y="4730750"/>
            <a:ext cx="11493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instance_of</a:t>
            </a:r>
          </a:p>
        </p:txBody>
      </p:sp>
      <p:grpSp>
        <p:nvGrpSpPr>
          <p:cNvPr id="92" name="Group 94">
            <a:extLst>
              <a:ext uri="{FF2B5EF4-FFF2-40B4-BE49-F238E27FC236}">
                <a16:creationId xmlns:a16="http://schemas.microsoft.com/office/drawing/2014/main" id="{B64C5D7B-795B-454B-82B7-0D295B8086A5}"/>
              </a:ext>
            </a:extLst>
          </p:cNvPr>
          <p:cNvGrpSpPr>
            <a:grpSpLocks/>
          </p:cNvGrpSpPr>
          <p:nvPr/>
        </p:nvGrpSpPr>
        <p:grpSpPr bwMode="auto">
          <a:xfrm>
            <a:off x="914227" y="1930400"/>
            <a:ext cx="2309813" cy="2232025"/>
            <a:chOff x="494" y="772"/>
            <a:chExt cx="1455" cy="1406"/>
          </a:xfrm>
        </p:grpSpPr>
        <p:sp>
          <p:nvSpPr>
            <p:cNvPr id="93" name="Text Box 95">
              <a:extLst>
                <a:ext uri="{FF2B5EF4-FFF2-40B4-BE49-F238E27FC236}">
                  <a16:creationId xmlns:a16="http://schemas.microsoft.com/office/drawing/2014/main" id="{00B70EA7-8BD2-463E-9411-03D958CC3C02}"/>
                </a:ext>
              </a:extLst>
            </p:cNvPr>
            <p:cNvSpPr txBox="1">
              <a:spLocks noChangeArrowheads="1"/>
            </p:cNvSpPr>
            <p:nvPr/>
          </p:nvSpPr>
          <p:spPr bwMode="auto">
            <a:xfrm>
              <a:off x="1626" y="772"/>
              <a:ext cx="32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is_a</a:t>
              </a:r>
            </a:p>
          </p:txBody>
        </p:sp>
        <p:sp>
          <p:nvSpPr>
            <p:cNvPr id="94" name="Text Box 96">
              <a:extLst>
                <a:ext uri="{FF2B5EF4-FFF2-40B4-BE49-F238E27FC236}">
                  <a16:creationId xmlns:a16="http://schemas.microsoft.com/office/drawing/2014/main" id="{0E7F766C-EEC0-4915-9C35-AA4F4F009D74}"/>
                </a:ext>
              </a:extLst>
            </p:cNvPr>
            <p:cNvSpPr txBox="1">
              <a:spLocks noChangeArrowheads="1"/>
            </p:cNvSpPr>
            <p:nvPr/>
          </p:nvSpPr>
          <p:spPr bwMode="auto">
            <a:xfrm>
              <a:off x="494" y="1376"/>
              <a:ext cx="32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is_a</a:t>
              </a:r>
            </a:p>
          </p:txBody>
        </p:sp>
        <p:sp>
          <p:nvSpPr>
            <p:cNvPr id="95" name="Text Box 97">
              <a:extLst>
                <a:ext uri="{FF2B5EF4-FFF2-40B4-BE49-F238E27FC236}">
                  <a16:creationId xmlns:a16="http://schemas.microsoft.com/office/drawing/2014/main" id="{F1A4D9BF-1996-4EBE-BDE4-FA4A4B9A568F}"/>
                </a:ext>
              </a:extLst>
            </p:cNvPr>
            <p:cNvSpPr txBox="1">
              <a:spLocks noChangeArrowheads="1"/>
            </p:cNvSpPr>
            <p:nvPr/>
          </p:nvSpPr>
          <p:spPr bwMode="auto">
            <a:xfrm>
              <a:off x="544" y="1986"/>
              <a:ext cx="32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tLang="en-US" sz="1400" b="1">
                  <a:latin typeface="Trebuchet MS" panose="020B0603020202020204" pitchFamily="34" charset="0"/>
                </a:rPr>
                <a:t>is_a</a:t>
              </a:r>
            </a:p>
          </p:txBody>
        </p:sp>
      </p:grpSp>
      <p:grpSp>
        <p:nvGrpSpPr>
          <p:cNvPr id="96" name="Group 98">
            <a:extLst>
              <a:ext uri="{FF2B5EF4-FFF2-40B4-BE49-F238E27FC236}">
                <a16:creationId xmlns:a16="http://schemas.microsoft.com/office/drawing/2014/main" id="{8E1389E2-18E0-49DE-B4F5-70C462568978}"/>
              </a:ext>
            </a:extLst>
          </p:cNvPr>
          <p:cNvGrpSpPr>
            <a:grpSpLocks/>
          </p:cNvGrpSpPr>
          <p:nvPr/>
        </p:nvGrpSpPr>
        <p:grpSpPr bwMode="auto">
          <a:xfrm>
            <a:off x="1928640" y="3797300"/>
            <a:ext cx="1725612" cy="1484313"/>
            <a:chOff x="1133" y="1948"/>
            <a:chExt cx="1087" cy="935"/>
          </a:xfrm>
        </p:grpSpPr>
        <p:grpSp>
          <p:nvGrpSpPr>
            <p:cNvPr id="97" name="Group 99">
              <a:extLst>
                <a:ext uri="{FF2B5EF4-FFF2-40B4-BE49-F238E27FC236}">
                  <a16:creationId xmlns:a16="http://schemas.microsoft.com/office/drawing/2014/main" id="{015EE681-F071-4006-918E-745097BF7D05}"/>
                </a:ext>
              </a:extLst>
            </p:cNvPr>
            <p:cNvGrpSpPr>
              <a:grpSpLocks/>
            </p:cNvGrpSpPr>
            <p:nvPr/>
          </p:nvGrpSpPr>
          <p:grpSpPr bwMode="auto">
            <a:xfrm>
              <a:off x="1700" y="1948"/>
              <a:ext cx="520" cy="408"/>
              <a:chOff x="1134" y="2478"/>
              <a:chExt cx="520" cy="408"/>
            </a:xfrm>
          </p:grpSpPr>
          <p:sp>
            <p:nvSpPr>
              <p:cNvPr id="101" name="AutoShape 100">
                <a:extLst>
                  <a:ext uri="{FF2B5EF4-FFF2-40B4-BE49-F238E27FC236}">
                    <a16:creationId xmlns:a16="http://schemas.microsoft.com/office/drawing/2014/main" id="{550DFBBB-7820-4E38-8838-FADAFD897E92}"/>
                  </a:ext>
                </a:extLst>
              </p:cNvPr>
              <p:cNvSpPr>
                <a:spLocks noChangeArrowheads="1"/>
              </p:cNvSpPr>
              <p:nvPr/>
            </p:nvSpPr>
            <p:spPr bwMode="auto">
              <a:xfrm>
                <a:off x="1156" y="2704"/>
                <a:ext cx="498" cy="182"/>
              </a:xfrm>
              <a:prstGeom prst="flowChartAlternateProcess">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sz="1400">
                    <a:latin typeface="Trebuchet MS" panose="020B0603020202020204" pitchFamily="34" charset="0"/>
                  </a:rPr>
                  <a:t>Affiliation</a:t>
                </a:r>
              </a:p>
            </p:txBody>
          </p:sp>
          <p:cxnSp>
            <p:nvCxnSpPr>
              <p:cNvPr id="102" name="AutoShape 101">
                <a:extLst>
                  <a:ext uri="{FF2B5EF4-FFF2-40B4-BE49-F238E27FC236}">
                    <a16:creationId xmlns:a16="http://schemas.microsoft.com/office/drawing/2014/main" id="{AA38E6BA-8FEE-4041-BA98-4EF9065E7840}"/>
                  </a:ext>
                </a:extLst>
              </p:cNvPr>
              <p:cNvCxnSpPr>
                <a:cxnSpLocks noChangeShapeType="1"/>
                <a:endCxn id="101" idx="0"/>
              </p:cNvCxnSpPr>
              <p:nvPr/>
            </p:nvCxnSpPr>
            <p:spPr bwMode="auto">
              <a:xfrm>
                <a:off x="1134" y="2478"/>
                <a:ext cx="271" cy="226"/>
              </a:xfrm>
              <a:prstGeom prst="straightConnector1">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8" name="Group 102">
              <a:extLst>
                <a:ext uri="{FF2B5EF4-FFF2-40B4-BE49-F238E27FC236}">
                  <a16:creationId xmlns:a16="http://schemas.microsoft.com/office/drawing/2014/main" id="{20B25E32-DC22-4F82-9E98-379F777BAAB5}"/>
                </a:ext>
              </a:extLst>
            </p:cNvPr>
            <p:cNvGrpSpPr>
              <a:grpSpLocks/>
            </p:cNvGrpSpPr>
            <p:nvPr/>
          </p:nvGrpSpPr>
          <p:grpSpPr bwMode="auto">
            <a:xfrm>
              <a:off x="1133" y="2475"/>
              <a:ext cx="520" cy="408"/>
              <a:chOff x="235" y="3212"/>
              <a:chExt cx="520" cy="408"/>
            </a:xfrm>
          </p:grpSpPr>
          <p:sp>
            <p:nvSpPr>
              <p:cNvPr id="99" name="AutoShape 103">
                <a:extLst>
                  <a:ext uri="{FF2B5EF4-FFF2-40B4-BE49-F238E27FC236}">
                    <a16:creationId xmlns:a16="http://schemas.microsoft.com/office/drawing/2014/main" id="{3A65E2AE-C696-4FA0-80C9-44E6F718DC19}"/>
                  </a:ext>
                </a:extLst>
              </p:cNvPr>
              <p:cNvSpPr>
                <a:spLocks noChangeArrowheads="1"/>
              </p:cNvSpPr>
              <p:nvPr/>
            </p:nvSpPr>
            <p:spPr bwMode="auto">
              <a:xfrm>
                <a:off x="257" y="3438"/>
                <a:ext cx="498" cy="182"/>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sz="1400">
                    <a:latin typeface="Trebuchet MS" panose="020B0603020202020204" pitchFamily="34" charset="0"/>
                  </a:rPr>
                  <a:t>Affiliation</a:t>
                </a:r>
              </a:p>
            </p:txBody>
          </p:sp>
          <p:cxnSp>
            <p:nvCxnSpPr>
              <p:cNvPr id="100" name="AutoShape 104">
                <a:extLst>
                  <a:ext uri="{FF2B5EF4-FFF2-40B4-BE49-F238E27FC236}">
                    <a16:creationId xmlns:a16="http://schemas.microsoft.com/office/drawing/2014/main" id="{F829E2D6-F979-4B1A-BC19-122AC80B0E52}"/>
                  </a:ext>
                </a:extLst>
              </p:cNvPr>
              <p:cNvCxnSpPr>
                <a:cxnSpLocks noChangeShapeType="1"/>
                <a:endCxn id="99" idx="0"/>
              </p:cNvCxnSpPr>
              <p:nvPr/>
            </p:nvCxnSpPr>
            <p:spPr bwMode="auto">
              <a:xfrm>
                <a:off x="235" y="3212"/>
                <a:ext cx="271" cy="226"/>
              </a:xfrm>
              <a:prstGeom prst="straightConnector1">
                <a:avLst/>
              </a:prstGeom>
              <a:noFill/>
              <a:ln w="38100">
                <a:solidFill>
                  <a:schemeClr val="bg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03" name="Group 105">
            <a:extLst>
              <a:ext uri="{FF2B5EF4-FFF2-40B4-BE49-F238E27FC236}">
                <a16:creationId xmlns:a16="http://schemas.microsoft.com/office/drawing/2014/main" id="{D9CCA88C-50D7-4914-8F2D-6F2FB878A954}"/>
              </a:ext>
            </a:extLst>
          </p:cNvPr>
          <p:cNvGrpSpPr>
            <a:grpSpLocks/>
          </p:cNvGrpSpPr>
          <p:nvPr/>
        </p:nvGrpSpPr>
        <p:grpSpPr bwMode="auto">
          <a:xfrm>
            <a:off x="1465090" y="5054600"/>
            <a:ext cx="2587625" cy="1095375"/>
            <a:chOff x="841" y="2740"/>
            <a:chExt cx="1630" cy="690"/>
          </a:xfrm>
        </p:grpSpPr>
        <p:sp>
          <p:nvSpPr>
            <p:cNvPr id="104" name="AutoShape 106">
              <a:extLst>
                <a:ext uri="{FF2B5EF4-FFF2-40B4-BE49-F238E27FC236}">
                  <a16:creationId xmlns:a16="http://schemas.microsoft.com/office/drawing/2014/main" id="{A9A35318-5C7C-4F87-8EE1-9A1ABEE9FB0D}"/>
                </a:ext>
              </a:extLst>
            </p:cNvPr>
            <p:cNvSpPr>
              <a:spLocks noChangeArrowheads="1"/>
            </p:cNvSpPr>
            <p:nvPr/>
          </p:nvSpPr>
          <p:spPr bwMode="auto">
            <a:xfrm>
              <a:off x="1519" y="2840"/>
              <a:ext cx="861" cy="273"/>
            </a:xfrm>
            <a:prstGeom prst="flowChartAlternateProcess">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a:solidFill>
                    <a:schemeClr val="bg2"/>
                  </a:solidFill>
                  <a:latin typeface="Trebuchet MS" panose="020B0603020202020204" pitchFamily="34" charset="0"/>
                </a:rPr>
                <a:t>Siggi</a:t>
              </a:r>
            </a:p>
          </p:txBody>
        </p:sp>
        <p:cxnSp>
          <p:nvCxnSpPr>
            <p:cNvPr id="105" name="AutoShape 107">
              <a:extLst>
                <a:ext uri="{FF2B5EF4-FFF2-40B4-BE49-F238E27FC236}">
                  <a16:creationId xmlns:a16="http://schemas.microsoft.com/office/drawing/2014/main" id="{0C2F27CF-FEFE-4444-B3AF-265073526252}"/>
                </a:ext>
              </a:extLst>
            </p:cNvPr>
            <p:cNvCxnSpPr>
              <a:cxnSpLocks noChangeShapeType="1"/>
              <a:stCxn id="35" idx="2"/>
              <a:endCxn id="104" idx="0"/>
            </p:cNvCxnSpPr>
            <p:nvPr/>
          </p:nvCxnSpPr>
          <p:spPr bwMode="auto">
            <a:xfrm>
              <a:off x="1215" y="2740"/>
              <a:ext cx="734" cy="100"/>
            </a:xfrm>
            <a:prstGeom prst="straightConnector1">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108">
              <a:extLst>
                <a:ext uri="{FF2B5EF4-FFF2-40B4-BE49-F238E27FC236}">
                  <a16:creationId xmlns:a16="http://schemas.microsoft.com/office/drawing/2014/main" id="{53A89C26-89B8-4AAA-88F0-29218EA84AFB}"/>
                </a:ext>
              </a:extLst>
            </p:cNvPr>
            <p:cNvSpPr>
              <a:spLocks noChangeArrowheads="1"/>
            </p:cNvSpPr>
            <p:nvPr/>
          </p:nvSpPr>
          <p:spPr bwMode="auto">
            <a:xfrm>
              <a:off x="1973" y="3248"/>
              <a:ext cx="498" cy="182"/>
            </a:xfrm>
            <a:prstGeom prst="flowChartAlternateProcess">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sz="1400">
                  <a:latin typeface="Trebuchet MS" panose="020B0603020202020204" pitchFamily="34" charset="0"/>
                </a:rPr>
                <a:t>AIFB</a:t>
              </a:r>
            </a:p>
          </p:txBody>
        </p:sp>
        <p:sp>
          <p:nvSpPr>
            <p:cNvPr id="107" name="AutoShape 109">
              <a:extLst>
                <a:ext uri="{FF2B5EF4-FFF2-40B4-BE49-F238E27FC236}">
                  <a16:creationId xmlns:a16="http://schemas.microsoft.com/office/drawing/2014/main" id="{1F322663-B234-4135-82C6-4FA69C0D6098}"/>
                </a:ext>
              </a:extLst>
            </p:cNvPr>
            <p:cNvSpPr>
              <a:spLocks noChangeArrowheads="1"/>
            </p:cNvSpPr>
            <p:nvPr/>
          </p:nvSpPr>
          <p:spPr bwMode="auto">
            <a:xfrm>
              <a:off x="841" y="3248"/>
              <a:ext cx="1040" cy="182"/>
            </a:xfrm>
            <a:prstGeom prst="flowChartAlternateProcess">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de-DE" altLang="en-US" sz="1400">
                  <a:latin typeface="Trebuchet MS" panose="020B0603020202020204" pitchFamily="34" charset="0"/>
                </a:rPr>
                <a:t>+49 721 608 6554</a:t>
              </a:r>
            </a:p>
          </p:txBody>
        </p:sp>
        <p:cxnSp>
          <p:nvCxnSpPr>
            <p:cNvPr id="108" name="AutoShape 110">
              <a:extLst>
                <a:ext uri="{FF2B5EF4-FFF2-40B4-BE49-F238E27FC236}">
                  <a16:creationId xmlns:a16="http://schemas.microsoft.com/office/drawing/2014/main" id="{0F13B45C-8DFA-42AF-907C-2CB1DE96F5A8}"/>
                </a:ext>
              </a:extLst>
            </p:cNvPr>
            <p:cNvCxnSpPr>
              <a:cxnSpLocks noChangeShapeType="1"/>
              <a:stCxn id="104" idx="2"/>
              <a:endCxn id="107" idx="0"/>
            </p:cNvCxnSpPr>
            <p:nvPr/>
          </p:nvCxnSpPr>
          <p:spPr bwMode="auto">
            <a:xfrm flipH="1">
              <a:off x="1361" y="3113"/>
              <a:ext cx="589" cy="135"/>
            </a:xfrm>
            <a:prstGeom prst="straightConnector1">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111">
              <a:extLst>
                <a:ext uri="{FF2B5EF4-FFF2-40B4-BE49-F238E27FC236}">
                  <a16:creationId xmlns:a16="http://schemas.microsoft.com/office/drawing/2014/main" id="{33B31A68-88F6-4E0C-B891-6704E68D1312}"/>
                </a:ext>
              </a:extLst>
            </p:cNvPr>
            <p:cNvCxnSpPr>
              <a:cxnSpLocks noChangeShapeType="1"/>
              <a:stCxn id="104" idx="2"/>
              <a:endCxn id="106" idx="0"/>
            </p:cNvCxnSpPr>
            <p:nvPr/>
          </p:nvCxnSpPr>
          <p:spPr bwMode="auto">
            <a:xfrm>
              <a:off x="1950" y="3113"/>
              <a:ext cx="272" cy="135"/>
            </a:xfrm>
            <a:prstGeom prst="straightConnector1">
              <a:avLst/>
            </a:prstGeom>
            <a:noFill/>
            <a:ln w="38100">
              <a:solidFill>
                <a:srgbClr val="FFCC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0" name="Rectangle 113">
            <a:extLst>
              <a:ext uri="{FF2B5EF4-FFF2-40B4-BE49-F238E27FC236}">
                <a16:creationId xmlns:a16="http://schemas.microsoft.com/office/drawing/2014/main" id="{ED7766CB-85B6-413E-8601-B2B906B4E2AE}"/>
              </a:ext>
            </a:extLst>
          </p:cNvPr>
          <p:cNvSpPr>
            <a:spLocks noChangeArrowheads="1"/>
          </p:cNvSpPr>
          <p:nvPr/>
        </p:nvSpPr>
        <p:spPr bwMode="auto">
          <a:xfrm>
            <a:off x="7829377" y="6588125"/>
            <a:ext cx="1444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200">
                <a:latin typeface="Comic Sans MS" panose="030F0702030302020204" pitchFamily="66" charset="0"/>
              </a:rPr>
              <a:t>[Studer et al, 04]</a:t>
            </a:r>
          </a:p>
        </p:txBody>
      </p:sp>
    </p:spTree>
    <p:extLst>
      <p:ext uri="{BB962C8B-B14F-4D97-AF65-F5344CB8AC3E}">
        <p14:creationId xmlns:p14="http://schemas.microsoft.com/office/powerpoint/2010/main" val="87523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500" fill="hold"/>
                                        <p:tgtEl>
                                          <p:spTgt spid="92"/>
                                        </p:tgtEl>
                                        <p:attrNameLst>
                                          <p:attrName>ppt_x</p:attrName>
                                        </p:attrNameLst>
                                      </p:cBhvr>
                                      <p:tavLst>
                                        <p:tav tm="0">
                                          <p:val>
                                            <p:strVal val="0-#ppt_w/2"/>
                                          </p:val>
                                        </p:tav>
                                        <p:tav tm="100000">
                                          <p:val>
                                            <p:strVal val="#ppt_x"/>
                                          </p:val>
                                        </p:tav>
                                      </p:tavLst>
                                    </p:anim>
                                    <p:anim calcmode="lin" valueType="num">
                                      <p:cBhvr additive="base">
                                        <p:cTn id="8"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heckerboard(across)">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85"/>
                                        </p:tgtEl>
                                        <p:attrNameLst>
                                          <p:attrName>style.visibility</p:attrName>
                                        </p:attrNameLst>
                                      </p:cBhvr>
                                      <p:to>
                                        <p:strVal val="visible"/>
                                      </p:to>
                                    </p:set>
                                    <p:anim calcmode="lin" valueType="num">
                                      <p:cBhvr additive="base">
                                        <p:cTn id="18" dur="500" fill="hold"/>
                                        <p:tgtEl>
                                          <p:spTgt spid="85"/>
                                        </p:tgtEl>
                                        <p:attrNameLst>
                                          <p:attrName>ppt_x</p:attrName>
                                        </p:attrNameLst>
                                      </p:cBhvr>
                                      <p:tavLst>
                                        <p:tav tm="0">
                                          <p:val>
                                            <p:strVal val="1+#ppt_w/2"/>
                                          </p:val>
                                        </p:tav>
                                        <p:tav tm="100000">
                                          <p:val>
                                            <p:strVal val="#ppt_x"/>
                                          </p:val>
                                        </p:tav>
                                      </p:tavLst>
                                    </p:anim>
                                    <p:anim calcmode="lin" valueType="num">
                                      <p:cBhvr additive="base">
                                        <p:cTn id="19"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checkerboard(across)">
                                      <p:cBhvr>
                                        <p:cTn id="24" dur="500"/>
                                        <p:tgtEl>
                                          <p:spTgt spid="33"/>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96"/>
                                        </p:tgtEl>
                                        <p:attrNameLst>
                                          <p:attrName>style.visibility</p:attrName>
                                        </p:attrNameLst>
                                      </p:cBhvr>
                                      <p:to>
                                        <p:strVal val="visible"/>
                                      </p:to>
                                    </p:set>
                                    <p:animEffect transition="in" filter="box(out)">
                                      <p:cBhvr>
                                        <p:cTn id="29" dur="500"/>
                                        <p:tgtEl>
                                          <p:spTgt spid="9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103"/>
                                        </p:tgtEl>
                                        <p:attrNameLst>
                                          <p:attrName>style.visibility</p:attrName>
                                        </p:attrNameLst>
                                      </p:cBhvr>
                                      <p:to>
                                        <p:strVal val="visible"/>
                                      </p:to>
                                    </p:set>
                                    <p:anim calcmode="lin" valueType="num">
                                      <p:cBhvr additive="base">
                                        <p:cTn id="34" dur="500" fill="hold"/>
                                        <p:tgtEl>
                                          <p:spTgt spid="103"/>
                                        </p:tgtEl>
                                        <p:attrNameLst>
                                          <p:attrName>ppt_x</p:attrName>
                                        </p:attrNameLst>
                                      </p:cBhvr>
                                      <p:tavLst>
                                        <p:tav tm="0">
                                          <p:val>
                                            <p:strVal val="1+#ppt_w/2"/>
                                          </p:val>
                                        </p:tav>
                                        <p:tav tm="100000">
                                          <p:val>
                                            <p:strVal val="#ppt_x"/>
                                          </p:val>
                                        </p:tav>
                                      </p:tavLst>
                                    </p:anim>
                                    <p:anim calcmode="lin" valueType="num">
                                      <p:cBhvr additive="base">
                                        <p:cTn id="35" dur="500" fill="hold"/>
                                        <p:tgtEl>
                                          <p:spTgt spid="103"/>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2" presetClass="entr" presetSubtype="8" fill="hold" grpId="0" nodeType="afterEffect">
                                  <p:stCondLst>
                                    <p:cond delay="0"/>
                                  </p:stCondLst>
                                  <p:childTnLst>
                                    <p:set>
                                      <p:cBhvr>
                                        <p:cTn id="38" dur="1" fill="hold">
                                          <p:stCondLst>
                                            <p:cond delay="0"/>
                                          </p:stCondLst>
                                        </p:cTn>
                                        <p:tgtEl>
                                          <p:spTgt spid="91"/>
                                        </p:tgtEl>
                                        <p:attrNameLst>
                                          <p:attrName>style.visibility</p:attrName>
                                        </p:attrNameLst>
                                      </p:cBhvr>
                                      <p:to>
                                        <p:strVal val="visible"/>
                                      </p:to>
                                    </p:set>
                                    <p:anim calcmode="lin" valueType="num">
                                      <p:cBhvr additive="base">
                                        <p:cTn id="39" dur="500" fill="hold"/>
                                        <p:tgtEl>
                                          <p:spTgt spid="91"/>
                                        </p:tgtEl>
                                        <p:attrNameLst>
                                          <p:attrName>ppt_x</p:attrName>
                                        </p:attrNameLst>
                                      </p:cBhvr>
                                      <p:tavLst>
                                        <p:tav tm="0">
                                          <p:val>
                                            <p:strVal val="0-#ppt_w/2"/>
                                          </p:val>
                                        </p:tav>
                                        <p:tav tm="100000">
                                          <p:val>
                                            <p:strVal val="#ppt_x"/>
                                          </p:val>
                                        </p:tav>
                                      </p:tavLst>
                                    </p:anim>
                                    <p:anim calcmode="lin" valueType="num">
                                      <p:cBhvr additive="base">
                                        <p:cTn id="40"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1+#ppt_w/2"/>
                                          </p:val>
                                        </p:tav>
                                        <p:tav tm="100000">
                                          <p:val>
                                            <p:strVal val="#ppt_x"/>
                                          </p:val>
                                        </p:tav>
                                      </p:tavLst>
                                    </p:anim>
                                    <p:anim calcmode="lin" valueType="num">
                                      <p:cBhvr additive="base">
                                        <p:cTn id="46"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67907" y="311085"/>
            <a:ext cx="8596668" cy="1496767"/>
          </a:xfrm>
          <a:prstGeom prst="rect">
            <a:avLst/>
          </a:prstGeom>
          <a:noFill/>
          <a:ln>
            <a:noFill/>
          </a:ln>
        </p:spPr>
        <p:txBody>
          <a:bodyPr spcFirstLastPara="1" wrap="square" lIns="91425" tIns="45700" rIns="91425" bIns="45700" anchor="t" anchorCtr="0">
            <a:normAutofit/>
          </a:bodyPr>
          <a:lstStyle/>
          <a:p>
            <a:pPr>
              <a:buSzPts val="3600"/>
            </a:pPr>
            <a:r>
              <a:rPr lang="en-GB" altLang="en-US" dirty="0">
                <a:latin typeface="Trebuchet MS" panose="020B0603020202020204" pitchFamily="34" charset="0"/>
              </a:rPr>
              <a:t>Semantic Web Content: New “Users”</a:t>
            </a:r>
            <a:endParaRPr dirty="0">
              <a:latin typeface="Trebuchet MS" panose="020B0603020202020204" pitchFamily="34" charset="0"/>
            </a:endParaRPr>
          </a:p>
        </p:txBody>
      </p:sp>
      <p:graphicFrame>
        <p:nvGraphicFramePr>
          <p:cNvPr id="7" name="Object 3">
            <a:extLst>
              <a:ext uri="{FF2B5EF4-FFF2-40B4-BE49-F238E27FC236}">
                <a16:creationId xmlns:a16="http://schemas.microsoft.com/office/drawing/2014/main" id="{82228AA5-42B6-4F6D-B358-5F34CDFB1151}"/>
              </a:ext>
            </a:extLst>
          </p:cNvPr>
          <p:cNvGraphicFramePr>
            <a:graphicFrameLocks noChangeAspect="1"/>
          </p:cNvGraphicFramePr>
          <p:nvPr>
            <p:extLst>
              <p:ext uri="{D42A27DB-BD31-4B8C-83A1-F6EECF244321}">
                <p14:modId xmlns:p14="http://schemas.microsoft.com/office/powerpoint/2010/main" val="1694821187"/>
              </p:ext>
            </p:extLst>
          </p:nvPr>
        </p:nvGraphicFramePr>
        <p:xfrm>
          <a:off x="993497" y="1259183"/>
          <a:ext cx="6119813" cy="4956175"/>
        </p:xfrm>
        <a:graphic>
          <a:graphicData uri="http://schemas.openxmlformats.org/presentationml/2006/ole">
            <mc:AlternateContent xmlns:mc="http://schemas.openxmlformats.org/markup-compatibility/2006">
              <mc:Choice xmlns:v="urn:schemas-microsoft-com:vml" Requires="v">
                <p:oleObj spid="_x0000_s1053" name="Picture" r:id="rId4" imgW="7058160" imgH="5715000" progId="Word.Picture.8">
                  <p:embed/>
                </p:oleObj>
              </mc:Choice>
              <mc:Fallback>
                <p:oleObj name="Picture" r:id="rId4" imgW="7058160" imgH="5715000" progId="Word.Picture.8">
                  <p:embed/>
                  <p:pic>
                    <p:nvPicPr>
                      <p:cNvPr id="120835" name="Object 3">
                        <a:extLst>
                          <a:ext uri="{FF2B5EF4-FFF2-40B4-BE49-F238E27FC236}">
                            <a16:creationId xmlns:a16="http://schemas.microsoft.com/office/drawing/2014/main" id="{3605E741-FBAE-4120-A621-120040FF948A}"/>
                          </a:ext>
                        </a:extLst>
                      </p:cNvPr>
                      <p:cNvPicPr>
                        <a:picLocks noChangeAspect="1" noChangeArrowheads="1"/>
                      </p:cNvPicPr>
                      <p:nvPr/>
                    </p:nvPicPr>
                    <p:blipFill>
                      <a:blip r:embed="rId5"/>
                      <a:srcRect/>
                      <a:stretch>
                        <a:fillRect/>
                      </a:stretch>
                    </p:blipFill>
                    <p:spPr bwMode="auto">
                      <a:xfrm>
                        <a:off x="993497" y="1259183"/>
                        <a:ext cx="6119813" cy="495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 name="Straight Arrow Connector 3">
            <a:extLst>
              <a:ext uri="{FF2B5EF4-FFF2-40B4-BE49-F238E27FC236}">
                <a16:creationId xmlns:a16="http://schemas.microsoft.com/office/drawing/2014/main" id="{ED74F2E6-E492-46A3-AFFC-46BA6330F5D7}"/>
              </a:ext>
            </a:extLst>
          </p:cNvPr>
          <p:cNvCxnSpPr/>
          <p:nvPr/>
        </p:nvCxnSpPr>
        <p:spPr>
          <a:xfrm flipV="1">
            <a:off x="7113310" y="1404594"/>
            <a:ext cx="635523" cy="235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941B2CB-E9C6-4FEC-BCF8-0C8C5F78EBDB}"/>
              </a:ext>
            </a:extLst>
          </p:cNvPr>
          <p:cNvSpPr/>
          <p:nvPr/>
        </p:nvSpPr>
        <p:spPr>
          <a:xfrm>
            <a:off x="7776126" y="1137339"/>
            <a:ext cx="1583704" cy="38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rebuchet MS" panose="020B0603020202020204" pitchFamily="34" charset="0"/>
              </a:rPr>
              <a:t>Applications</a:t>
            </a:r>
          </a:p>
        </p:txBody>
      </p:sp>
      <p:cxnSp>
        <p:nvCxnSpPr>
          <p:cNvPr id="8" name="Straight Arrow Connector 7">
            <a:extLst>
              <a:ext uri="{FF2B5EF4-FFF2-40B4-BE49-F238E27FC236}">
                <a16:creationId xmlns:a16="http://schemas.microsoft.com/office/drawing/2014/main" id="{F2925E71-91A0-4D0D-B25D-03ED7708A290}"/>
              </a:ext>
            </a:extLst>
          </p:cNvPr>
          <p:cNvCxnSpPr/>
          <p:nvPr/>
        </p:nvCxnSpPr>
        <p:spPr>
          <a:xfrm>
            <a:off x="7113310" y="1951348"/>
            <a:ext cx="635523" cy="377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63DE4EB-E403-4E05-81E3-564355D9E660}"/>
              </a:ext>
            </a:extLst>
          </p:cNvPr>
          <p:cNvSpPr/>
          <p:nvPr/>
        </p:nvSpPr>
        <p:spPr>
          <a:xfrm>
            <a:off x="7776127" y="2215299"/>
            <a:ext cx="1583704" cy="38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rebuchet MS" panose="020B0603020202020204" pitchFamily="34" charset="0"/>
              </a:rPr>
              <a:t>Agents</a:t>
            </a:r>
          </a:p>
        </p:txBody>
      </p:sp>
    </p:spTree>
    <p:extLst>
      <p:ext uri="{BB962C8B-B14F-4D97-AF65-F5344CB8AC3E}">
        <p14:creationId xmlns:p14="http://schemas.microsoft.com/office/powerpoint/2010/main" val="4269837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Trebuchet MS" panose="020B0603020202020204" pitchFamily="34" charset="0"/>
              </a:rPr>
              <a:t>Web 1.0,2.0 and 3.0</a:t>
            </a:r>
            <a:endParaRPr dirty="0">
              <a:latin typeface="Trebuchet MS" panose="020B0603020202020204" pitchFamily="34" charset="0"/>
            </a:endParaRPr>
          </a:p>
        </p:txBody>
      </p:sp>
      <p:pic>
        <p:nvPicPr>
          <p:cNvPr id="3" name="Picture 2">
            <a:extLst>
              <a:ext uri="{FF2B5EF4-FFF2-40B4-BE49-F238E27FC236}">
                <a16:creationId xmlns:a16="http://schemas.microsoft.com/office/drawing/2014/main" id="{740D700E-21DE-4790-92ED-19B0A92F1698}"/>
              </a:ext>
            </a:extLst>
          </p:cNvPr>
          <p:cNvPicPr>
            <a:picLocks noChangeAspect="1"/>
          </p:cNvPicPr>
          <p:nvPr/>
        </p:nvPicPr>
        <p:blipFill>
          <a:blip r:embed="rId3"/>
          <a:stretch>
            <a:fillRect/>
          </a:stretch>
        </p:blipFill>
        <p:spPr>
          <a:xfrm>
            <a:off x="795091" y="1341012"/>
            <a:ext cx="7802153" cy="5516988"/>
          </a:xfrm>
          <a:prstGeom prst="rect">
            <a:avLst/>
          </a:prstGeom>
        </p:spPr>
      </p:pic>
    </p:spTree>
    <p:extLst>
      <p:ext uri="{BB962C8B-B14F-4D97-AF65-F5344CB8AC3E}">
        <p14:creationId xmlns:p14="http://schemas.microsoft.com/office/powerpoint/2010/main" val="3000702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Autofit/>
          </a:bodyPr>
          <a:lstStyle/>
          <a:p>
            <a:pPr>
              <a:buSzPts val="3600"/>
            </a:pPr>
            <a:r>
              <a:rPr lang="en-US" b="1" dirty="0">
                <a:latin typeface="Trebuchet MS" panose="020B0603020202020204" pitchFamily="34" charset="0"/>
              </a:rPr>
              <a:t>From Internet of Things to Semantic Web of Things</a:t>
            </a:r>
            <a:br>
              <a:rPr lang="en-US" b="1" dirty="0">
                <a:latin typeface="Trebuchet MS" panose="020B0603020202020204" pitchFamily="34" charset="0"/>
              </a:rPr>
            </a:br>
            <a:endParaRPr dirty="0">
              <a:latin typeface="Trebuchet MS" panose="020B0603020202020204" pitchFamily="34" charset="0"/>
            </a:endParaRPr>
          </a:p>
        </p:txBody>
      </p:sp>
      <p:pic>
        <p:nvPicPr>
          <p:cNvPr id="3" name="Picture 2">
            <a:extLst>
              <a:ext uri="{FF2B5EF4-FFF2-40B4-BE49-F238E27FC236}">
                <a16:creationId xmlns:a16="http://schemas.microsoft.com/office/drawing/2014/main" id="{DCBFBCFE-E1E4-416A-AEEE-DA0D46386150}"/>
              </a:ext>
            </a:extLst>
          </p:cNvPr>
          <p:cNvPicPr>
            <a:picLocks noChangeAspect="1"/>
          </p:cNvPicPr>
          <p:nvPr/>
        </p:nvPicPr>
        <p:blipFill>
          <a:blip r:embed="rId3"/>
          <a:stretch>
            <a:fillRect/>
          </a:stretch>
        </p:blipFill>
        <p:spPr>
          <a:xfrm>
            <a:off x="461913" y="1772240"/>
            <a:ext cx="8257881" cy="4911364"/>
          </a:xfrm>
          <a:prstGeom prst="rect">
            <a:avLst/>
          </a:prstGeom>
        </p:spPr>
      </p:pic>
    </p:spTree>
    <p:extLst>
      <p:ext uri="{BB962C8B-B14F-4D97-AF65-F5344CB8AC3E}">
        <p14:creationId xmlns:p14="http://schemas.microsoft.com/office/powerpoint/2010/main" val="1148210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Bahnschrift" panose="020B0502040204020203" pitchFamily="34" charset="0"/>
              </a:rPr>
              <a:t>Advantages </a:t>
            </a:r>
            <a:r>
              <a:rPr lang="en-IN" dirty="0">
                <a:latin typeface="Trebuchet MS" panose="020B0603020202020204" pitchFamily="34" charset="0"/>
              </a:rPr>
              <a:t>Of</a:t>
            </a:r>
            <a:r>
              <a:rPr lang="en-IN" dirty="0">
                <a:latin typeface="Bahnschrift" panose="020B0502040204020203" pitchFamily="34" charset="0"/>
              </a:rPr>
              <a:t> Semantic Web</a:t>
            </a:r>
            <a:endParaRPr dirty="0">
              <a:latin typeface="Bahnschrift" panose="020B0502040204020203" pitchFamily="34" charset="0"/>
            </a:endParaRPr>
          </a:p>
        </p:txBody>
      </p:sp>
      <p:sp>
        <p:nvSpPr>
          <p:cNvPr id="3" name="Isosceles Triangle 2">
            <a:extLst>
              <a:ext uri="{FF2B5EF4-FFF2-40B4-BE49-F238E27FC236}">
                <a16:creationId xmlns:a16="http://schemas.microsoft.com/office/drawing/2014/main" id="{14F28062-548E-4B58-A34C-2C419459D4F0}"/>
              </a:ext>
            </a:extLst>
          </p:cNvPr>
          <p:cNvSpPr/>
          <p:nvPr/>
        </p:nvSpPr>
        <p:spPr>
          <a:xfrm>
            <a:off x="677334" y="1270913"/>
            <a:ext cx="5028800" cy="5363350"/>
          </a:xfrm>
          <a:prstGeom prst="triangle">
            <a:avLst>
              <a:gd name="adj" fmla="val 50866"/>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Flowchart: Alternate Process 8">
            <a:extLst>
              <a:ext uri="{FF2B5EF4-FFF2-40B4-BE49-F238E27FC236}">
                <a16:creationId xmlns:a16="http://schemas.microsoft.com/office/drawing/2014/main" id="{3A7935EA-5AED-4C81-8426-656B71934580}"/>
              </a:ext>
            </a:extLst>
          </p:cNvPr>
          <p:cNvSpPr/>
          <p:nvPr/>
        </p:nvSpPr>
        <p:spPr>
          <a:xfrm>
            <a:off x="3191734" y="1492655"/>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Searches</a:t>
            </a:r>
          </a:p>
        </p:txBody>
      </p:sp>
      <p:sp>
        <p:nvSpPr>
          <p:cNvPr id="12" name="Flowchart: Alternate Process 11">
            <a:extLst>
              <a:ext uri="{FF2B5EF4-FFF2-40B4-BE49-F238E27FC236}">
                <a16:creationId xmlns:a16="http://schemas.microsoft.com/office/drawing/2014/main" id="{B11BDCA4-60DE-4BB3-8584-7FAA09913D2E}"/>
              </a:ext>
            </a:extLst>
          </p:cNvPr>
          <p:cNvSpPr/>
          <p:nvPr/>
        </p:nvSpPr>
        <p:spPr>
          <a:xfrm>
            <a:off x="3191729" y="2002504"/>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Agents</a:t>
            </a:r>
          </a:p>
        </p:txBody>
      </p:sp>
      <p:sp>
        <p:nvSpPr>
          <p:cNvPr id="13" name="Flowchart: Alternate Process 12">
            <a:extLst>
              <a:ext uri="{FF2B5EF4-FFF2-40B4-BE49-F238E27FC236}">
                <a16:creationId xmlns:a16="http://schemas.microsoft.com/office/drawing/2014/main" id="{493BC99F-F9FA-48A2-917C-1C1ABC6FAC7F}"/>
              </a:ext>
            </a:extLst>
          </p:cNvPr>
          <p:cNvSpPr/>
          <p:nvPr/>
        </p:nvSpPr>
        <p:spPr>
          <a:xfrm>
            <a:off x="3191729" y="2520876"/>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Knowledge management</a:t>
            </a:r>
          </a:p>
        </p:txBody>
      </p:sp>
      <p:sp>
        <p:nvSpPr>
          <p:cNvPr id="14" name="Flowchart: Alternate Process 13">
            <a:extLst>
              <a:ext uri="{FF2B5EF4-FFF2-40B4-BE49-F238E27FC236}">
                <a16:creationId xmlns:a16="http://schemas.microsoft.com/office/drawing/2014/main" id="{68BFF454-D971-4AE1-8DA1-DE79AAAC122C}"/>
              </a:ext>
            </a:extLst>
          </p:cNvPr>
          <p:cNvSpPr/>
          <p:nvPr/>
        </p:nvSpPr>
        <p:spPr>
          <a:xfrm>
            <a:off x="3191729" y="3034749"/>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Integration</a:t>
            </a:r>
          </a:p>
        </p:txBody>
      </p:sp>
      <p:sp>
        <p:nvSpPr>
          <p:cNvPr id="15" name="Flowchart: Alternate Process 14">
            <a:extLst>
              <a:ext uri="{FF2B5EF4-FFF2-40B4-BE49-F238E27FC236}">
                <a16:creationId xmlns:a16="http://schemas.microsoft.com/office/drawing/2014/main" id="{F8227CF6-AA34-4F1A-AFEB-8E9F1A2B02F6}"/>
              </a:ext>
            </a:extLst>
          </p:cNvPr>
          <p:cNvSpPr/>
          <p:nvPr/>
        </p:nvSpPr>
        <p:spPr>
          <a:xfrm>
            <a:off x="3191729" y="3543597"/>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Virtual community</a:t>
            </a:r>
          </a:p>
        </p:txBody>
      </p:sp>
      <p:sp>
        <p:nvSpPr>
          <p:cNvPr id="16" name="Flowchart: Alternate Process 15">
            <a:extLst>
              <a:ext uri="{FF2B5EF4-FFF2-40B4-BE49-F238E27FC236}">
                <a16:creationId xmlns:a16="http://schemas.microsoft.com/office/drawing/2014/main" id="{4E100BBB-8AD8-4333-8AB5-D366CB60BC8F}"/>
              </a:ext>
            </a:extLst>
          </p:cNvPr>
          <p:cNvSpPr/>
          <p:nvPr/>
        </p:nvSpPr>
        <p:spPr>
          <a:xfrm>
            <a:off x="3191730" y="4059918"/>
            <a:ext cx="4017522"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Machine dialogue across domain</a:t>
            </a:r>
          </a:p>
        </p:txBody>
      </p:sp>
      <p:sp>
        <p:nvSpPr>
          <p:cNvPr id="17" name="Flowchart: Alternate Process 16">
            <a:extLst>
              <a:ext uri="{FF2B5EF4-FFF2-40B4-BE49-F238E27FC236}">
                <a16:creationId xmlns:a16="http://schemas.microsoft.com/office/drawing/2014/main" id="{95396E75-A84D-4A78-96E7-CD0535BD6478}"/>
              </a:ext>
            </a:extLst>
          </p:cNvPr>
          <p:cNvSpPr/>
          <p:nvPr/>
        </p:nvSpPr>
        <p:spPr>
          <a:xfrm>
            <a:off x="3191728" y="4576239"/>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Online advertising</a:t>
            </a:r>
          </a:p>
        </p:txBody>
      </p:sp>
      <p:sp>
        <p:nvSpPr>
          <p:cNvPr id="18" name="Flowchart: Alternate Process 17">
            <a:extLst>
              <a:ext uri="{FF2B5EF4-FFF2-40B4-BE49-F238E27FC236}">
                <a16:creationId xmlns:a16="http://schemas.microsoft.com/office/drawing/2014/main" id="{06A26858-29CC-4C3F-8314-5D1D1C5D98A1}"/>
              </a:ext>
            </a:extLst>
          </p:cNvPr>
          <p:cNvSpPr/>
          <p:nvPr/>
        </p:nvSpPr>
        <p:spPr>
          <a:xfrm>
            <a:off x="3191728" y="5085087"/>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Multimedia collection</a:t>
            </a:r>
          </a:p>
        </p:txBody>
      </p:sp>
      <p:sp>
        <p:nvSpPr>
          <p:cNvPr id="19" name="Flowchart: Alternate Process 18">
            <a:extLst>
              <a:ext uri="{FF2B5EF4-FFF2-40B4-BE49-F238E27FC236}">
                <a16:creationId xmlns:a16="http://schemas.microsoft.com/office/drawing/2014/main" id="{FCA93009-2E10-4750-89FB-892463C1FDEF}"/>
              </a:ext>
            </a:extLst>
          </p:cNvPr>
          <p:cNvSpPr/>
          <p:nvPr/>
        </p:nvSpPr>
        <p:spPr>
          <a:xfrm>
            <a:off x="3191728" y="5593935"/>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Information Filtering</a:t>
            </a:r>
          </a:p>
        </p:txBody>
      </p:sp>
      <p:sp>
        <p:nvSpPr>
          <p:cNvPr id="20" name="Flowchart: Alternate Process 19">
            <a:extLst>
              <a:ext uri="{FF2B5EF4-FFF2-40B4-BE49-F238E27FC236}">
                <a16:creationId xmlns:a16="http://schemas.microsoft.com/office/drawing/2014/main" id="{E9160219-36FB-41E7-9D34-946AD1B6341F}"/>
              </a:ext>
            </a:extLst>
          </p:cNvPr>
          <p:cNvSpPr/>
          <p:nvPr/>
        </p:nvSpPr>
        <p:spPr>
          <a:xfrm>
            <a:off x="3191728" y="6114099"/>
            <a:ext cx="4017523" cy="437745"/>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latin typeface="Trebuchet MS" panose="020B0603020202020204" pitchFamily="34" charset="0"/>
              </a:rPr>
              <a:t>Serendipity</a:t>
            </a:r>
          </a:p>
        </p:txBody>
      </p:sp>
    </p:spTree>
    <p:extLst>
      <p:ext uri="{BB962C8B-B14F-4D97-AF65-F5344CB8AC3E}">
        <p14:creationId xmlns:p14="http://schemas.microsoft.com/office/powerpoint/2010/main" val="1989060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Bahnschrift" panose="020B0502040204020203" pitchFamily="34" charset="0"/>
              </a:rPr>
              <a:t>Disadvantages </a:t>
            </a:r>
            <a:r>
              <a:rPr lang="en-IN" dirty="0">
                <a:latin typeface="Trebuchet MS" panose="020B0603020202020204" pitchFamily="34" charset="0"/>
              </a:rPr>
              <a:t>Of</a:t>
            </a:r>
            <a:r>
              <a:rPr lang="en-IN" dirty="0">
                <a:latin typeface="Bahnschrift" panose="020B0502040204020203" pitchFamily="34" charset="0"/>
              </a:rPr>
              <a:t> Semantic Web</a:t>
            </a:r>
            <a:endParaRPr dirty="0">
              <a:latin typeface="Bahnschrift" panose="020B0502040204020203" pitchFamily="34" charset="0"/>
            </a:endParaRPr>
          </a:p>
        </p:txBody>
      </p:sp>
      <p:sp>
        <p:nvSpPr>
          <p:cNvPr id="3" name="Isosceles Triangle 2">
            <a:extLst>
              <a:ext uri="{FF2B5EF4-FFF2-40B4-BE49-F238E27FC236}">
                <a16:creationId xmlns:a16="http://schemas.microsoft.com/office/drawing/2014/main" id="{14F28062-548E-4B58-A34C-2C419459D4F0}"/>
              </a:ext>
            </a:extLst>
          </p:cNvPr>
          <p:cNvSpPr/>
          <p:nvPr/>
        </p:nvSpPr>
        <p:spPr>
          <a:xfrm>
            <a:off x="677334" y="1270913"/>
            <a:ext cx="5028800" cy="5363350"/>
          </a:xfrm>
          <a:prstGeom prst="triangle">
            <a:avLst>
              <a:gd name="adj" fmla="val 50866"/>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9" name="Flowchart: Alternate Process 8">
            <a:extLst>
              <a:ext uri="{FF2B5EF4-FFF2-40B4-BE49-F238E27FC236}">
                <a16:creationId xmlns:a16="http://schemas.microsoft.com/office/drawing/2014/main" id="{3A7935EA-5AED-4C81-8426-656B71934580}"/>
              </a:ext>
            </a:extLst>
          </p:cNvPr>
          <p:cNvSpPr/>
          <p:nvPr/>
        </p:nvSpPr>
        <p:spPr>
          <a:xfrm>
            <a:off x="3191728" y="1558643"/>
            <a:ext cx="4717361" cy="1299197"/>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solidFill>
                  <a:srgbClr val="000000"/>
                </a:solidFill>
                <a:latin typeface="Trebuchet MS" panose="020B0603020202020204" pitchFamily="34" charset="0"/>
              </a:rPr>
              <a:t>The fact that the actual WWW is not compatible with the semantic web is a huge problem.</a:t>
            </a:r>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endParaRPr>
          </a:p>
        </p:txBody>
      </p:sp>
      <p:sp>
        <p:nvSpPr>
          <p:cNvPr id="12" name="Flowchart: Alternate Process 11">
            <a:extLst>
              <a:ext uri="{FF2B5EF4-FFF2-40B4-BE49-F238E27FC236}">
                <a16:creationId xmlns:a16="http://schemas.microsoft.com/office/drawing/2014/main" id="{B11BDCA4-60DE-4BB3-8584-7FAA09913D2E}"/>
              </a:ext>
            </a:extLst>
          </p:cNvPr>
          <p:cNvSpPr/>
          <p:nvPr/>
        </p:nvSpPr>
        <p:spPr>
          <a:xfrm>
            <a:off x="3201155" y="3186676"/>
            <a:ext cx="4717361" cy="1299197"/>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solidFill>
                  <a:srgbClr val="000000"/>
                </a:solidFill>
                <a:latin typeface="Trebuchet MS" panose="020B0603020202020204" pitchFamily="34" charset="0"/>
              </a:rPr>
              <a:t>If a company decide to write its site in RDF,it won’t be readable by conventional web browsers.</a:t>
            </a:r>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endParaRPr>
          </a:p>
        </p:txBody>
      </p:sp>
      <p:sp>
        <p:nvSpPr>
          <p:cNvPr id="7" name="Flowchart: Alternate Process 6">
            <a:extLst>
              <a:ext uri="{FF2B5EF4-FFF2-40B4-BE49-F238E27FC236}">
                <a16:creationId xmlns:a16="http://schemas.microsoft.com/office/drawing/2014/main" id="{1925AD1D-AF3F-4E7E-9CED-655C52B45772}"/>
              </a:ext>
            </a:extLst>
          </p:cNvPr>
          <p:cNvSpPr/>
          <p:nvPr/>
        </p:nvSpPr>
        <p:spPr>
          <a:xfrm>
            <a:off x="3201155" y="4814709"/>
            <a:ext cx="4717361" cy="1299197"/>
          </a:xfrm>
          <a:prstGeom prst="flowChartAlternateProcess">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The semantic web is fairly unknown and only few people know how to write a web page in RDF.</a:t>
            </a:r>
          </a:p>
        </p:txBody>
      </p:sp>
    </p:spTree>
    <p:extLst>
      <p:ext uri="{BB962C8B-B14F-4D97-AF65-F5344CB8AC3E}">
        <p14:creationId xmlns:p14="http://schemas.microsoft.com/office/powerpoint/2010/main" val="12906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58480" y="232528"/>
            <a:ext cx="8596668" cy="1320800"/>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Trebuchet MS" panose="020B0603020202020204" pitchFamily="34" charset="0"/>
              </a:rPr>
              <a:t>Conclusion</a:t>
            </a:r>
            <a:endParaRPr dirty="0">
              <a:latin typeface="Trebuchet MS" panose="020B0603020202020204" pitchFamily="34" charset="0"/>
            </a:endParaRPr>
          </a:p>
        </p:txBody>
      </p:sp>
      <p:sp>
        <p:nvSpPr>
          <p:cNvPr id="2" name="Text Placeholder 1">
            <a:extLst>
              <a:ext uri="{FF2B5EF4-FFF2-40B4-BE49-F238E27FC236}">
                <a16:creationId xmlns:a16="http://schemas.microsoft.com/office/drawing/2014/main" id="{C027294E-CF60-4343-A21E-C78E54E7946E}"/>
              </a:ext>
            </a:extLst>
          </p:cNvPr>
          <p:cNvSpPr>
            <a:spLocks noGrp="1"/>
          </p:cNvSpPr>
          <p:nvPr>
            <p:ph type="body" idx="1"/>
          </p:nvPr>
        </p:nvSpPr>
        <p:spPr>
          <a:xfrm>
            <a:off x="799882" y="892928"/>
            <a:ext cx="8596668" cy="5639847"/>
          </a:xfrm>
        </p:spPr>
        <p:txBody>
          <a:bodyPr>
            <a:noAutofit/>
          </a:bodyPr>
          <a:lstStyle/>
          <a:p>
            <a:pPr algn="just"/>
            <a:r>
              <a:rPr lang="en-IN" sz="2800" dirty="0"/>
              <a:t>The semantic web in naming every concept simply by a URI, lets everyone express new concepts that they invent with minimal effort.</a:t>
            </a:r>
          </a:p>
          <a:p>
            <a:pPr algn="just"/>
            <a:r>
              <a:rPr lang="en-IN" sz="2800" dirty="0"/>
              <a:t>Its unifying modeling language will enable these concepts to be progressively linked into a universal web.</a:t>
            </a:r>
          </a:p>
          <a:p>
            <a:pPr algn="just"/>
            <a:r>
              <a:rPr lang="en-IN" sz="2800" dirty="0"/>
              <a:t>The structure of semantic web will open up the knowledge and workings of human kind to meaningful analysis by software agents, providing a new class of tools by which we can live, work and learn together.</a:t>
            </a:r>
          </a:p>
        </p:txBody>
      </p:sp>
    </p:spTree>
    <p:extLst>
      <p:ext uri="{BB962C8B-B14F-4D97-AF65-F5344CB8AC3E}">
        <p14:creationId xmlns:p14="http://schemas.microsoft.com/office/powerpoint/2010/main" val="4057798458"/>
      </p:ext>
    </p:extLst>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818</TotalTime>
  <Words>1423</Words>
  <Application>Microsoft Office PowerPoint</Application>
  <PresentationFormat>Widescreen</PresentationFormat>
  <Paragraphs>222</Paragraphs>
  <Slides>22</Slides>
  <Notes>18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Architects Daughter</vt:lpstr>
      <vt:lpstr>Trebuchet MS</vt:lpstr>
      <vt:lpstr>Noto Sans Symbols</vt:lpstr>
      <vt:lpstr>Bahnschrift</vt:lpstr>
      <vt:lpstr>Wingdings</vt:lpstr>
      <vt:lpstr>Arial</vt:lpstr>
      <vt:lpstr>Comic Sans MS</vt:lpstr>
      <vt:lpstr>Facet</vt:lpstr>
      <vt:lpstr>Picture</vt:lpstr>
      <vt:lpstr>Semantic Web</vt:lpstr>
      <vt:lpstr>What is Semantic Web?</vt:lpstr>
      <vt:lpstr>What is Semantic Web?</vt:lpstr>
      <vt:lpstr>Semantic Web Vision  </vt:lpstr>
      <vt:lpstr>Knowledge Representation</vt:lpstr>
      <vt:lpstr>Extensible Markup Language(XML)</vt:lpstr>
      <vt:lpstr>XML: limitations for semantic markup</vt:lpstr>
      <vt:lpstr>XML is a first step</vt:lpstr>
      <vt:lpstr>Resource Description Framework (RDF)</vt:lpstr>
      <vt:lpstr>Resource Description Framework (RDF)</vt:lpstr>
      <vt:lpstr>RDF for semantic annotation</vt:lpstr>
      <vt:lpstr>RDF Example</vt:lpstr>
      <vt:lpstr>What is an Ontology?</vt:lpstr>
      <vt:lpstr>Web Ontology Language(OWL)</vt:lpstr>
      <vt:lpstr>Web Ontology Language(OWL)</vt:lpstr>
      <vt:lpstr>A Sample Ontology</vt:lpstr>
      <vt:lpstr>Semantic Web Content: New “Users”</vt:lpstr>
      <vt:lpstr>Web 1.0,2.0 and 3.0</vt:lpstr>
      <vt:lpstr>From Internet of Things to Semantic Web of Things </vt:lpstr>
      <vt:lpstr>Advantages Of Semantic Web</vt:lpstr>
      <vt:lpstr>Disadvantages Of Semantic Web</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Web</dc:title>
  <dc:creator>Pruthviraj Sisodiya</dc:creator>
  <cp:lastModifiedBy>deep patel</cp:lastModifiedBy>
  <cp:revision>50</cp:revision>
  <dcterms:created xsi:type="dcterms:W3CDTF">2019-12-16T12:48:18Z</dcterms:created>
  <dcterms:modified xsi:type="dcterms:W3CDTF">2020-01-17T13:35:08Z</dcterms:modified>
</cp:coreProperties>
</file>