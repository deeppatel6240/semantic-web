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1" r:id="rId5"/>
    <p:sldId id="260" r:id="rId6"/>
    <p:sldId id="262" r:id="rId7"/>
    <p:sldId id="274" r:id="rId8"/>
    <p:sldId id="279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8" r:id="rId17"/>
    <p:sldId id="273" r:id="rId18"/>
    <p:sldId id="277" r:id="rId19"/>
    <p:sldId id="271" r:id="rId20"/>
    <p:sldId id="272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8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860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89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06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99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62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22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4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41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418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43828C7-6AF2-49E2-879E-46940CFFE852}" type="datetimeFigureOut">
              <a:rPr lang="en-IN" smtClean="0"/>
              <a:t>19-06-2020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D2947D-B8AF-4230-BA1E-448783E77F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97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mage result for ldrp">
            <a:extLst>
              <a:ext uri="{FF2B5EF4-FFF2-40B4-BE49-F238E27FC236}">
                <a16:creationId xmlns:a16="http://schemas.microsoft.com/office/drawing/2014/main" id="{3BFEC3D1-64A4-4166-A536-33081DC2A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749377" cy="174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mage result for ksv">
            <a:extLst>
              <a:ext uri="{FF2B5EF4-FFF2-40B4-BE49-F238E27FC236}">
                <a16:creationId xmlns:a16="http://schemas.microsoft.com/office/drawing/2014/main" id="{80C73662-604D-48C4-BA00-F3E2FAD9A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181" y="103076"/>
            <a:ext cx="2063594" cy="1646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145;p1">
            <a:extLst>
              <a:ext uri="{FF2B5EF4-FFF2-40B4-BE49-F238E27FC236}">
                <a16:creationId xmlns:a16="http://schemas.microsoft.com/office/drawing/2014/main" id="{2CF1CF63-54E7-43C5-8CDA-107FE02BE76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0996" y="1749378"/>
            <a:ext cx="2387255" cy="227918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7D1FBF-1F0B-4D8D-944C-0E5AD5361401}"/>
              </a:ext>
            </a:extLst>
          </p:cNvPr>
          <p:cNvSpPr txBox="1"/>
          <p:nvPr/>
        </p:nvSpPr>
        <p:spPr>
          <a:xfrm>
            <a:off x="4873839" y="2828230"/>
            <a:ext cx="51671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Algerian" panose="04020705040A02060702" pitchFamily="82" charset="0"/>
              </a:rPr>
              <a:t>SEMANTIC WEB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 vision to achieve “Machine Understandable Web”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514E5-4F42-456E-A143-4E6C674CC91F}"/>
              </a:ext>
            </a:extLst>
          </p:cNvPr>
          <p:cNvSpPr txBox="1"/>
          <p:nvPr/>
        </p:nvSpPr>
        <p:spPr>
          <a:xfrm>
            <a:off x="1225118" y="4554245"/>
            <a:ext cx="3932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Prepared By:</a:t>
            </a:r>
          </a:p>
          <a:p>
            <a:r>
              <a:rPr lang="en-US" dirty="0"/>
              <a:t>Pruthvirajsinh Sisodiya(1721BECE30160)</a:t>
            </a:r>
          </a:p>
          <a:p>
            <a:r>
              <a:rPr lang="en-US" dirty="0"/>
              <a:t>Deep Sherathiya(1721BECE153)</a:t>
            </a:r>
          </a:p>
          <a:p>
            <a:r>
              <a:rPr lang="en-US" dirty="0"/>
              <a:t>Dhruv Shekhat(1721BECE30152)</a:t>
            </a:r>
          </a:p>
          <a:p>
            <a:r>
              <a:rPr lang="en-US" dirty="0"/>
              <a:t>Dishank Sharma(1721BECE30150)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57E23F-BB94-4E2C-A332-FFD80BDF099B}"/>
              </a:ext>
            </a:extLst>
          </p:cNvPr>
          <p:cNvSpPr txBox="1"/>
          <p:nvPr/>
        </p:nvSpPr>
        <p:spPr>
          <a:xfrm>
            <a:off x="8993080" y="5385242"/>
            <a:ext cx="2166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Guided By:</a:t>
            </a:r>
          </a:p>
          <a:p>
            <a:r>
              <a:rPr lang="en-US" dirty="0"/>
              <a:t>Prof. Dharmesh Tank</a:t>
            </a:r>
          </a:p>
        </p:txBody>
      </p:sp>
    </p:spTree>
    <p:extLst>
      <p:ext uri="{BB962C8B-B14F-4D97-AF65-F5344CB8AC3E}">
        <p14:creationId xmlns:p14="http://schemas.microsoft.com/office/powerpoint/2010/main" val="3226705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4CF3EF8-B7E3-4003-979B-AA6DD520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accent1"/>
                </a:solidFill>
              </a:rPr>
              <a:t>Content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EBCDA3-794A-406B-9D36-530AA05E2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Components of Semantic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05329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556C2D-C0EF-49F8-BBA6-FB7731AE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The Semantic Web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F7957-9B15-4E47-958E-C4FBF78DA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The word semantic stands for the meaning of. The semantic of something is the meaning of something</a:t>
            </a:r>
            <a:endParaRPr lang="en-US" altLang="zh-CN" sz="3000" dirty="0"/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3000" dirty="0"/>
              <a:t>In a word, Semantic Web is: Next generation Web of data that is understandable by machines.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allow machines to understand the meaning of web.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It is an extension of web in which information is given well-defined meaning, better enabling computers and people to work in cooperation.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30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B4973F-FFCF-4750-A3CE-B70754336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59" y="5453269"/>
            <a:ext cx="1521040" cy="140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21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A6DD99-F31D-4001-8F97-8016EF92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Current Web Vs Semantic Web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47B7A-FFF1-45AE-879A-F79E96207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Current web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57513-78FB-4F9C-840B-84C43AF3C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586567"/>
            <a:ext cx="4937760" cy="3378200"/>
          </a:xfrm>
        </p:spPr>
        <p:txBody>
          <a:bodyPr>
            <a:normAutofit/>
          </a:bodyPr>
          <a:lstStyle/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r>
              <a:rPr lang="en-IN" dirty="0"/>
              <a:t>			 </a:t>
            </a:r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r>
              <a:rPr lang="en-IN" dirty="0"/>
              <a:t>                                         </a:t>
            </a:r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16770B-6123-4E87-8A2A-E1F4F9DC4C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IN" dirty="0"/>
              <a:t>Semantic web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7E879-4393-4200-A67F-B84B9E06F4D7}"/>
              </a:ext>
            </a:extLst>
          </p:cNvPr>
          <p:cNvSpPr txBox="1"/>
          <p:nvPr/>
        </p:nvSpPr>
        <p:spPr>
          <a:xfrm>
            <a:off x="2192784" y="5238203"/>
            <a:ext cx="17577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WWW</a:t>
            </a:r>
          </a:p>
          <a:p>
            <a:r>
              <a:rPr lang="en-IN" sz="1400" dirty="0"/>
              <a:t>URI,HTML,HTTP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B9F61F-F29A-4FCF-8FB4-42B9B977EB12}"/>
              </a:ext>
            </a:extLst>
          </p:cNvPr>
          <p:cNvCxnSpPr/>
          <p:nvPr/>
        </p:nvCxnSpPr>
        <p:spPr>
          <a:xfrm flipV="1">
            <a:off x="3293616" y="3036163"/>
            <a:ext cx="1846555" cy="254789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90FE765-E227-4FB3-BDEA-F9ED5CDF3325}"/>
              </a:ext>
            </a:extLst>
          </p:cNvPr>
          <p:cNvSpPr txBox="1"/>
          <p:nvPr/>
        </p:nvSpPr>
        <p:spPr>
          <a:xfrm>
            <a:off x="2831980" y="2885243"/>
            <a:ext cx="23703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500 </a:t>
            </a:r>
            <a:r>
              <a:rPr lang="en-US" spc="-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million</a:t>
            </a:r>
            <a:r>
              <a:rPr lang="en-US" spc="-70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 </a:t>
            </a:r>
            <a:r>
              <a:rPr lang="en-US" spc="-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user </a:t>
            </a:r>
            <a:r>
              <a:rPr lang="en-US" spc="-1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more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than 3 </a:t>
            </a:r>
            <a:r>
              <a:rPr lang="en-US" spc="-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billion</a:t>
            </a:r>
            <a:r>
              <a:rPr lang="en-US" spc="-4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 </a:t>
            </a:r>
            <a:r>
              <a:rPr lang="en-US" spc="-5" dirty="0">
                <a:solidFill>
                  <a:schemeClr val="tx1">
                    <a:lumMod val="85000"/>
                    <a:lumOff val="15000"/>
                  </a:schemeClr>
                </a:solidFill>
                <a:cs typeface="Times New Roman"/>
              </a:rPr>
              <a:t>pages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Times New Roman"/>
            </a:endParaRPr>
          </a:p>
          <a:p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156338-2D69-4D5D-8267-3FF6C1F0601D}"/>
              </a:ext>
            </a:extLst>
          </p:cNvPr>
          <p:cNvSpPr txBox="1"/>
          <p:nvPr/>
        </p:nvSpPr>
        <p:spPr>
          <a:xfrm>
            <a:off x="1311234" y="5447736"/>
            <a:ext cx="9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Static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91960B6-FCC0-49B0-8DBA-404B6E5F2A74}"/>
              </a:ext>
            </a:extLst>
          </p:cNvPr>
          <p:cNvCxnSpPr/>
          <p:nvPr/>
        </p:nvCxnSpPr>
        <p:spPr>
          <a:xfrm>
            <a:off x="2059619" y="2672179"/>
            <a:ext cx="0" cy="345341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01D24DAC-96BB-4E2D-B01D-8B9ED11887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43005" y="2666980"/>
            <a:ext cx="5498805" cy="337820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	</a:t>
            </a:r>
          </a:p>
          <a:p>
            <a:pPr marL="0" indent="0">
              <a:buNone/>
            </a:pPr>
            <a:endParaRPr lang="en-IN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BAE72EB-ECE0-4D17-BA3B-977093BE54E7}"/>
              </a:ext>
            </a:extLst>
          </p:cNvPr>
          <p:cNvCxnSpPr/>
          <p:nvPr/>
        </p:nvCxnSpPr>
        <p:spPr>
          <a:xfrm>
            <a:off x="6968971" y="2760955"/>
            <a:ext cx="0" cy="3364637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C2C4E7-BD83-403F-8AED-DAA940C548DD}"/>
              </a:ext>
            </a:extLst>
          </p:cNvPr>
          <p:cNvSpPr txBox="1"/>
          <p:nvPr/>
        </p:nvSpPr>
        <p:spPr>
          <a:xfrm>
            <a:off x="7132617" y="5240705"/>
            <a:ext cx="14988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WWW</a:t>
            </a:r>
          </a:p>
          <a:p>
            <a:r>
              <a:rPr lang="en-IN" sz="1400" dirty="0"/>
              <a:t>URI,HTML,HTTP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F481F5-1AD7-48F0-A680-3A4C5FCC049D}"/>
              </a:ext>
            </a:extLst>
          </p:cNvPr>
          <p:cNvSpPr txBox="1"/>
          <p:nvPr/>
        </p:nvSpPr>
        <p:spPr>
          <a:xfrm>
            <a:off x="6035040" y="5452056"/>
            <a:ext cx="802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Static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7B50EC-7AFA-4653-A822-3CD3B2B43D0D}"/>
              </a:ext>
            </a:extLst>
          </p:cNvPr>
          <p:cNvSpPr txBox="1"/>
          <p:nvPr/>
        </p:nvSpPr>
        <p:spPr>
          <a:xfrm>
            <a:off x="9115737" y="5238203"/>
            <a:ext cx="23260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Semantic Web</a:t>
            </a:r>
          </a:p>
          <a:p>
            <a:r>
              <a:rPr lang="en-IN" sz="1400" dirty="0"/>
              <a:t>RDF,RDF(S),OWL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A3EAF54-867E-473F-B402-278E0323D3E4}"/>
              </a:ext>
            </a:extLst>
          </p:cNvPr>
          <p:cNvSpPr/>
          <p:nvPr/>
        </p:nvSpPr>
        <p:spPr>
          <a:xfrm>
            <a:off x="8332237" y="5584054"/>
            <a:ext cx="783488" cy="15427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5EE045-2C5F-40E5-9843-A2EC71D5DEC5}"/>
              </a:ext>
            </a:extLst>
          </p:cNvPr>
          <p:cNvCxnSpPr/>
          <p:nvPr/>
        </p:nvCxnSpPr>
        <p:spPr>
          <a:xfrm>
            <a:off x="7287208" y="2885243"/>
            <a:ext cx="1950098" cy="2423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5E4444-5DB3-4CE3-9C85-577772B52B72}"/>
              </a:ext>
            </a:extLst>
          </p:cNvPr>
          <p:cNvSpPr txBox="1"/>
          <p:nvPr/>
        </p:nvSpPr>
        <p:spPr>
          <a:xfrm>
            <a:off x="7630015" y="2760955"/>
            <a:ext cx="35997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Serious Problem in Information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Finding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Extracting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Interpreting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Maintaining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IN" dirty="0"/>
              <a:t>Representing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9B9F84DF-0845-42C0-8F2B-9F1A8510DFA3}"/>
              </a:ext>
            </a:extLst>
          </p:cNvPr>
          <p:cNvSpPr/>
          <p:nvPr/>
        </p:nvSpPr>
        <p:spPr>
          <a:xfrm>
            <a:off x="7878258" y="2790630"/>
            <a:ext cx="298454" cy="287689"/>
          </a:xfrm>
          <a:prstGeom prst="star5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87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5BC0-E534-4402-A2C1-90F6917B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Semantic web Architecture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CB317D5-A38D-4C80-90E0-0AEA98855B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70" y="1835214"/>
            <a:ext cx="3830153" cy="418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FE630F-C32E-4CE9-BC8C-F041659F30E5}"/>
              </a:ext>
            </a:extLst>
          </p:cNvPr>
          <p:cNvSpPr/>
          <p:nvPr/>
        </p:nvSpPr>
        <p:spPr>
          <a:xfrm>
            <a:off x="7137179" y="1835214"/>
            <a:ext cx="3702761" cy="41838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Machine-processable, global </a:t>
            </a:r>
            <a:r>
              <a:rPr lang="en-GB" altLang="en-US" sz="2000" b="1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Web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 standards: 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514"/>
              </a:buClr>
              <a:buSzPct val="75000"/>
              <a:buFont typeface="Wingdings" panose="05000000000000000000" pitchFamily="2" charset="2"/>
              <a:buChar char="§"/>
            </a:pP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 Assigning unambiguous names (URI) 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514"/>
              </a:buClr>
              <a:buSzPct val="75000"/>
              <a:buFont typeface="Wingdings" panose="05000000000000000000" pitchFamily="2" charset="2"/>
              <a:buChar char="§"/>
            </a:pP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 Expressing data, including metadata (</a:t>
            </a: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RDF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) 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514"/>
              </a:buClr>
              <a:buSzPct val="75000"/>
              <a:buFont typeface="Wingdings" panose="05000000000000000000" pitchFamily="2" charset="2"/>
              <a:buChar char="§"/>
            </a:pP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 Capturing ontologies (</a:t>
            </a: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OWL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) </a:t>
            </a:r>
          </a:p>
          <a:p>
            <a:pPr lv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0514"/>
              </a:buClr>
              <a:buSzPct val="75000"/>
              <a:buFont typeface="Wingdings" panose="05000000000000000000" pitchFamily="2" charset="2"/>
              <a:buChar char="§"/>
            </a:pP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 Query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, </a:t>
            </a: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rules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, </a:t>
            </a: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transformations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, </a:t>
            </a:r>
            <a:r>
              <a:rPr lang="en-GB" altLang="en-US" sz="2000" kern="1200" dirty="0">
                <a:solidFill>
                  <a:srgbClr val="0000FF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deployment</a:t>
            </a:r>
            <a:r>
              <a:rPr lang="en-GB" altLang="en-US" sz="2000" kern="1200" dirty="0">
                <a:solidFill>
                  <a:srgbClr val="000000"/>
                </a:solidFill>
                <a:latin typeface="Trebuchet MS" panose="020B0603020202020204" pitchFamily="34" charset="0"/>
                <a:cs typeface="Arial" panose="020B0604020202020204" pitchFamily="34" charset="0"/>
              </a:rPr>
              <a:t>, application spaces, logic, proofs, trust (in progress)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GB" altLang="en-US" sz="2000" kern="1200" dirty="0">
              <a:solidFill>
                <a:srgbClr val="000000"/>
              </a:solidFill>
              <a:latin typeface="Trebuchet MS" panose="020B0603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57C96F9-54A2-46F8-9BA1-45C0D5948D68}"/>
              </a:ext>
            </a:extLst>
          </p:cNvPr>
          <p:cNvSpPr/>
          <p:nvPr/>
        </p:nvSpPr>
        <p:spPr>
          <a:xfrm>
            <a:off x="5566299" y="3731827"/>
            <a:ext cx="1056444" cy="39061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119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EC657CB-5A45-49B6-A4B8-914B0877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Components of Semantic Web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A3764C-1263-47E9-81B3-90F87F788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/>
              <a:t>Identifiers : Uniform Resource Identifier(URI)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Documents : Extensible Markup Language(XML)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Statements : Resource Description Framework(RDF)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Ontologies(OWL)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Proof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Logic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/>
              <a:t>Trust</a:t>
            </a:r>
          </a:p>
          <a:p>
            <a:pPr marL="514350" indent="-514350">
              <a:buFont typeface="+mj-lt"/>
              <a:buAutoNum type="arabicPeriod"/>
            </a:pPr>
            <a:endParaRPr lang="en-IN" sz="2800" dirty="0"/>
          </a:p>
          <a:p>
            <a:pPr marL="514350" indent="-514350">
              <a:buFont typeface="+mj-lt"/>
              <a:buAutoNum type="arabicPeriod"/>
            </a:pPr>
            <a:endParaRPr lang="en-IN" sz="2800" dirty="0"/>
          </a:p>
          <a:p>
            <a:pPr marL="514350" indent="-514350">
              <a:buFont typeface="+mj-lt"/>
              <a:buAutoNum type="arabicPeriod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35330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D0DA-33D8-4671-93A1-F06C1C12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D8CA5-4B94-48F0-A813-3C13FCE96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Stand for Uniform Resource Identifier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To identify items on the Web, we use identifiers. Because we use a uniform system of identifiers, and because each item identified is considered a “resource“.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We can give a URI to anything, and anything that has a URI can be said to be “on the Web“.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025531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FB17-9318-4AA5-A678-066AA964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A2FCC-DF2E-4B59-8066-198F51330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01714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 String of characters used to identify a name or a web resources</a:t>
            </a:r>
          </a:p>
          <a:p>
            <a:pPr marL="201168" lvl="1" indent="0">
              <a:buNone/>
            </a:pPr>
            <a:r>
              <a:rPr lang="en-IN" dirty="0"/>
              <a:t>	</a:t>
            </a:r>
          </a:p>
          <a:p>
            <a:pPr marL="201168" lvl="1" indent="0">
              <a:buNone/>
            </a:pPr>
            <a:r>
              <a:rPr lang="en-IN" dirty="0"/>
              <a:t>											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E05A1E-6A8E-4726-B1A3-292103619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330" y="2492248"/>
            <a:ext cx="2565899" cy="13706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6BA3F9-E221-40C2-A5AA-061D7C29F1B6}"/>
              </a:ext>
            </a:extLst>
          </p:cNvPr>
          <p:cNvSpPr txBox="1"/>
          <p:nvPr/>
        </p:nvSpPr>
        <p:spPr>
          <a:xfrm>
            <a:off x="1097280" y="4063112"/>
            <a:ext cx="1012931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URN(Uniform Resource Name)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Persistent, location-independent identifiers for resources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26A7D-4524-46C9-8C70-993A6FA10236}"/>
              </a:ext>
            </a:extLst>
          </p:cNvPr>
          <p:cNvSpPr txBox="1"/>
          <p:nvPr/>
        </p:nvSpPr>
        <p:spPr>
          <a:xfrm>
            <a:off x="1097280" y="5120641"/>
            <a:ext cx="1012931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URL(Uniform Resource Locator)</a:t>
            </a: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means of locating the resources</a:t>
            </a:r>
          </a:p>
        </p:txBody>
      </p:sp>
    </p:spTree>
    <p:extLst>
      <p:ext uri="{BB962C8B-B14F-4D97-AF65-F5344CB8AC3E}">
        <p14:creationId xmlns:p14="http://schemas.microsoft.com/office/powerpoint/2010/main" val="290224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55EC0-8A57-4DB7-9202-F2ADD28B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3761B-C013-49AF-8C87-BE36F5FA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XML lets everyone to create their own tags.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These tags can be used by the script programs in sophisticated ways to perform various tasks.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XML allows you to add arbitrary structure to the documents.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It has no built mechanism to convey the meaning of the user’s new tags to other users.</a:t>
            </a:r>
          </a:p>
          <a:p>
            <a:pPr algn="just"/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15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9798-FBCE-40B3-B802-67289B4F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XML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6BEBF-21C4-4450-B8D6-3FD9E6FC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86919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cs typeface="Comic Sans MS"/>
              </a:rPr>
              <a:t>XML </a:t>
            </a:r>
            <a:r>
              <a:rPr lang="en-US" sz="2800" spc="-5" dirty="0">
                <a:cs typeface="Comic Sans MS"/>
              </a:rPr>
              <a:t>schema provides similar service </a:t>
            </a:r>
            <a:r>
              <a:rPr lang="en-US" sz="2800" dirty="0">
                <a:cs typeface="Comic Sans MS"/>
              </a:rPr>
              <a:t>and</a:t>
            </a:r>
            <a:r>
              <a:rPr lang="en-US" sz="2800" spc="-45" dirty="0">
                <a:cs typeface="Comic Sans MS"/>
              </a:rPr>
              <a:t> </a:t>
            </a:r>
            <a:r>
              <a:rPr lang="en-US" sz="2800" spc="-5" dirty="0">
                <a:cs typeface="Comic Sans MS"/>
              </a:rPr>
              <a:t>add:</a:t>
            </a:r>
          </a:p>
          <a:p>
            <a:pPr marL="0" indent="0">
              <a:buNone/>
            </a:pPr>
            <a:endParaRPr lang="en-US" sz="2800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76202-0E57-422D-A1C6-BFDCB3687DA7}"/>
              </a:ext>
            </a:extLst>
          </p:cNvPr>
          <p:cNvSpPr txBox="1"/>
          <p:nvPr/>
        </p:nvSpPr>
        <p:spPr>
          <a:xfrm>
            <a:off x="1520890" y="2441027"/>
            <a:ext cx="947617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XML schemas definition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are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itself XML</a:t>
            </a:r>
            <a:r>
              <a:rPr lang="en-US" sz="2800" spc="2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documents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cs typeface="Comic Sans MS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XML schemas provide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a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rich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set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of datatypes that can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be 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used to define the values of elementary</a:t>
            </a:r>
            <a:r>
              <a:rPr lang="en-US" sz="2800" spc="3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tags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cs typeface="Comic Sans MS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XML schemas provide much richer means for defining  nested tags (such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as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tags with</a:t>
            </a:r>
            <a:r>
              <a:rPr lang="en-US" sz="2800" spc="1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subtags)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cs typeface="Comic Sans MS"/>
            </a:endParaRPr>
          </a:p>
          <a:p>
            <a:pPr marL="342900" indent="-342900" algn="just">
              <a:buClr>
                <a:schemeClr val="accent1"/>
              </a:buClr>
              <a:buFont typeface="+mj-lt"/>
              <a:buAutoNum type="arabicPeriod"/>
            </a:pP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XML schemas provide the namespace mechanism to  combine XML documents with heterogeneous</a:t>
            </a:r>
            <a:r>
              <a:rPr lang="en-US" sz="2800" spc="50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 </a:t>
            </a:r>
            <a:r>
              <a:rPr lang="en-US" sz="2800" spc="-5" dirty="0">
                <a:solidFill>
                  <a:schemeClr val="tx1">
                    <a:lumMod val="75000"/>
                    <a:lumOff val="25000"/>
                  </a:schemeClr>
                </a:solidFill>
                <a:cs typeface="Comic Sans MS"/>
              </a:rPr>
              <a:t>vocabulary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917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29F0-A170-438D-8083-A112C608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F7035-BB3C-4A4F-A44D-74218E3B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87115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Stand for Resource Description Framework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A schema for defining information on the web.</a:t>
            </a: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Markup language for describing information and resources.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RDF encodes information on the XML page in sets of triples.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triple is a combination of subject , verb and object similar to an elementary sentence.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is designed to be read and understood by computers.</a:t>
            </a:r>
            <a:r>
              <a:rPr lang="en-IN" sz="2800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RDF provides metadata about web resources.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6237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F0D70-602C-4329-9F3E-51B756DD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RDF Example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13F4652-2070-4F8A-A1DC-116FED90B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980" y="2045376"/>
            <a:ext cx="7040999" cy="33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702F2259-02F1-476C-AB8A-AE95F084B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355" y="6025697"/>
            <a:ext cx="33623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000" dirty="0">
                <a:latin typeface="Trebuchet MS" panose="020B0603020202020204" pitchFamily="34" charset="0"/>
              </a:rPr>
              <a:t>Source: http://www.w3.org/TR/swbp-skos-core-guide/</a:t>
            </a:r>
          </a:p>
        </p:txBody>
      </p:sp>
    </p:spTree>
    <p:extLst>
      <p:ext uri="{BB962C8B-B14F-4D97-AF65-F5344CB8AC3E}">
        <p14:creationId xmlns:p14="http://schemas.microsoft.com/office/powerpoint/2010/main" val="3751709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EA25-6BDE-45D5-9BFC-732B4034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OWL(ontology)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056C9-EFF3-4C72-BCDA-F7E50AECC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56764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spc="-30" dirty="0">
                <a:cs typeface="Comic Sans MS"/>
              </a:rPr>
              <a:t>an </a:t>
            </a:r>
            <a:r>
              <a:rPr lang="en-US" sz="2800" spc="-25" dirty="0">
                <a:cs typeface="Comic Sans MS"/>
              </a:rPr>
              <a:t>ontology </a:t>
            </a:r>
            <a:r>
              <a:rPr lang="en-US" sz="2800" spc="-20" dirty="0">
                <a:cs typeface="Comic Sans MS"/>
              </a:rPr>
              <a:t>is </a:t>
            </a:r>
            <a:r>
              <a:rPr lang="en-US" sz="2800" spc="-30" dirty="0">
                <a:cs typeface="Comic Sans MS"/>
              </a:rPr>
              <a:t>a formal, </a:t>
            </a:r>
            <a:r>
              <a:rPr lang="en-US" sz="2800" spc="-25" dirty="0">
                <a:cs typeface="Comic Sans MS"/>
              </a:rPr>
              <a:t>explicit specification </a:t>
            </a:r>
            <a:r>
              <a:rPr lang="en-US" sz="2800" spc="-30" dirty="0">
                <a:cs typeface="Comic Sans MS"/>
              </a:rPr>
              <a:t>of  a </a:t>
            </a:r>
            <a:r>
              <a:rPr lang="en-US" sz="2800" spc="-35" dirty="0">
                <a:cs typeface="Comic Sans MS"/>
              </a:rPr>
              <a:t>shared </a:t>
            </a:r>
            <a:r>
              <a:rPr lang="en-US" sz="2800" spc="-30" dirty="0">
                <a:cs typeface="Comic Sans MS"/>
              </a:rPr>
              <a:t>conceptualization </a:t>
            </a:r>
            <a:r>
              <a:rPr lang="en-US" sz="2800" spc="-35" dirty="0">
                <a:cs typeface="Comic Sans MS"/>
              </a:rPr>
              <a:t>–</a:t>
            </a:r>
            <a:r>
              <a:rPr lang="en-US" sz="2800" dirty="0">
                <a:cs typeface="Comic Sans MS"/>
              </a:rPr>
              <a:t> </a:t>
            </a:r>
            <a:r>
              <a:rPr lang="en-US" sz="2800" spc="-30" dirty="0">
                <a:cs typeface="Comic Sans MS"/>
              </a:rPr>
              <a:t>Gruber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 formal specification that provides sharable and reusable knowledge representation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Main Components of Ontology: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800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80D0-345F-4071-96D1-CB21CFE880BB}"/>
              </a:ext>
            </a:extLst>
          </p:cNvPr>
          <p:cNvSpPr txBox="1"/>
          <p:nvPr/>
        </p:nvSpPr>
        <p:spPr>
          <a:xfrm>
            <a:off x="1399592" y="4201517"/>
            <a:ext cx="547707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Classes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Functions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Axioms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IN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Instances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4560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B7AB-21DC-459A-B5C5-48260FA1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OWL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607E-9F5C-498E-A25B-602B82086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44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spc="-5" dirty="0">
                <a:cs typeface="Comic Sans MS"/>
              </a:rPr>
              <a:t>Knowledge Representation ontologies	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400" spc="-5" dirty="0">
                <a:cs typeface="Comic Sans MS"/>
              </a:rPr>
              <a:t>capture </a:t>
            </a:r>
            <a:r>
              <a:rPr lang="en-US" sz="2400" spc="-10" dirty="0">
                <a:cs typeface="Comic Sans MS"/>
              </a:rPr>
              <a:t>the </a:t>
            </a:r>
            <a:r>
              <a:rPr lang="en-US" sz="2400" spc="-5" dirty="0">
                <a:cs typeface="Comic Sans MS"/>
              </a:rPr>
              <a:t>representation primitives </a:t>
            </a:r>
            <a:r>
              <a:rPr lang="en-US" sz="2400" dirty="0">
                <a:cs typeface="Comic Sans MS"/>
              </a:rPr>
              <a:t>used </a:t>
            </a:r>
            <a:r>
              <a:rPr lang="en-US" sz="2400" spc="-5" dirty="0">
                <a:cs typeface="Comic Sans MS"/>
              </a:rPr>
              <a:t>to formalize  knowledge</a:t>
            </a:r>
            <a:r>
              <a:rPr lang="en-US" sz="2400" spc="10" dirty="0">
                <a:cs typeface="Comic Sans MS"/>
              </a:rPr>
              <a:t> </a:t>
            </a:r>
            <a:r>
              <a:rPr lang="en-US" sz="2400" dirty="0">
                <a:cs typeface="Comic Sans MS"/>
              </a:rPr>
              <a:t>in KR</a:t>
            </a:r>
            <a:r>
              <a:rPr lang="en-US" sz="2400" spc="5" dirty="0">
                <a:cs typeface="Comic Sans MS"/>
              </a:rPr>
              <a:t> </a:t>
            </a:r>
            <a:r>
              <a:rPr lang="en-US" sz="2400" dirty="0">
                <a:cs typeface="Comic Sans MS"/>
              </a:rPr>
              <a:t>paradigm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IN" sz="2400" spc="-5" dirty="0">
                <a:cs typeface="Comic Sans MS"/>
              </a:rPr>
              <a:t>such </a:t>
            </a:r>
            <a:r>
              <a:rPr lang="en-IN" sz="2400" dirty="0">
                <a:cs typeface="Comic Sans MS"/>
              </a:rPr>
              <a:t>as: </a:t>
            </a:r>
            <a:r>
              <a:rPr lang="en-IN" sz="2400" spc="-5" dirty="0">
                <a:cs typeface="Comic Sans MS"/>
              </a:rPr>
              <a:t>Frame-Ontology</a:t>
            </a:r>
            <a:endParaRPr lang="en-IN" sz="2400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spc="-5" dirty="0">
                <a:cs typeface="Comic Sans MS"/>
              </a:rPr>
              <a:t>General/Common ontologies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spc="-5" dirty="0">
                <a:cs typeface="Comic Sans MS"/>
              </a:rPr>
              <a:t>vocabulary related to things, events, time, </a:t>
            </a:r>
            <a:r>
              <a:rPr lang="en-US" sz="2400" dirty="0">
                <a:cs typeface="Comic Sans MS"/>
              </a:rPr>
              <a:t>space,</a:t>
            </a:r>
            <a:r>
              <a:rPr lang="en-US" sz="2400" spc="20" dirty="0">
                <a:cs typeface="Comic Sans MS"/>
              </a:rPr>
              <a:t> </a:t>
            </a:r>
            <a:r>
              <a:rPr lang="en-US" sz="2400" spc="-5" dirty="0">
                <a:cs typeface="Comic Sans MS"/>
              </a:rPr>
              <a:t>etc</a:t>
            </a:r>
            <a:r>
              <a:rPr lang="en-US" sz="2400" spc="-5" dirty="0">
                <a:latin typeface="Comic Sans MS"/>
                <a:cs typeface="Comic Sans MS"/>
              </a:rPr>
              <a:t>.</a:t>
            </a:r>
            <a:endParaRPr lang="en-US" sz="2400" dirty="0">
              <a:latin typeface="Comic Sans MS"/>
              <a:cs typeface="Comic Sans MS"/>
            </a:endParaRP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spc="-5" dirty="0">
                <a:cs typeface="Comic Sans MS"/>
              </a:rPr>
              <a:t>such </a:t>
            </a:r>
            <a:r>
              <a:rPr lang="en-US" sz="2400" dirty="0">
                <a:cs typeface="Comic Sans MS"/>
              </a:rPr>
              <a:t>as: </a:t>
            </a:r>
            <a:r>
              <a:rPr lang="en-US" sz="2400" spc="-5" dirty="0">
                <a:cs typeface="Comic Sans MS"/>
              </a:rPr>
              <a:t>meter </a:t>
            </a:r>
            <a:r>
              <a:rPr lang="en-US" sz="2400" dirty="0">
                <a:cs typeface="Comic Sans MS"/>
              </a:rPr>
              <a:t>and </a:t>
            </a:r>
            <a:r>
              <a:rPr lang="en-US" sz="2400" spc="-5" dirty="0">
                <a:cs typeface="Comic Sans MS"/>
              </a:rPr>
              <a:t>inch exchange</a:t>
            </a:r>
            <a:r>
              <a:rPr lang="en-US" sz="2400" spc="15" dirty="0">
                <a:cs typeface="Comic Sans MS"/>
              </a:rPr>
              <a:t> </a:t>
            </a:r>
            <a:r>
              <a:rPr lang="en-US" sz="2400" spc="-5" dirty="0">
                <a:cs typeface="Comic Sans MS"/>
              </a:rPr>
              <a:t>table</a:t>
            </a:r>
            <a:endParaRPr lang="en-IN" sz="2400" spc="-5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spc="-5" dirty="0">
                <a:cs typeface="Comic Sans MS"/>
              </a:rPr>
              <a:t>Meta-ontologies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IN" sz="2400" spc="-5" dirty="0">
                <a:cs typeface="Comic Sans MS"/>
              </a:rPr>
              <a:t>reusable across</a:t>
            </a:r>
            <a:r>
              <a:rPr lang="en-IN" sz="2400" spc="5" dirty="0">
                <a:cs typeface="Comic Sans MS"/>
              </a:rPr>
              <a:t> </a:t>
            </a:r>
            <a:r>
              <a:rPr lang="en-IN" sz="2400" spc="-5" dirty="0">
                <a:cs typeface="Comic Sans MS"/>
              </a:rPr>
              <a:t>domains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spc="-5" dirty="0">
                <a:cs typeface="Comic Sans MS"/>
              </a:rPr>
              <a:t>such </a:t>
            </a:r>
            <a:r>
              <a:rPr lang="en-US" sz="2400" dirty="0">
                <a:cs typeface="Comic Sans MS"/>
              </a:rPr>
              <a:t>as: </a:t>
            </a:r>
            <a:r>
              <a:rPr lang="en-US" sz="2400" spc="-5" dirty="0">
                <a:cs typeface="Comic Sans MS"/>
              </a:rPr>
              <a:t>mereology ontology (Borst, </a:t>
            </a:r>
            <a:r>
              <a:rPr lang="en-US" sz="2400" dirty="0">
                <a:cs typeface="Comic Sans MS"/>
              </a:rPr>
              <a:t>97)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sz="2400" dirty="0">
              <a:cs typeface="Comic Sans MS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n-IN" sz="2200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cs typeface="Comic Sans MS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9230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6495D-6CA5-4406-A81B-6C2B9AA44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OWL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6E79-7897-40AD-9534-A9D194F5E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Application: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Knowledge Management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Enterprise Application Integration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 – Commerce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used in many applications to capture relationships and boost knowledge management</a:t>
            </a:r>
            <a:r>
              <a:rPr lang="en-US" dirty="0"/>
              <a:t>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early hypotheses testing in Pharma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 fraud detection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semantic web mining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IN" sz="2200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812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5772-50CC-4FF3-B7E8-F7F58A73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5DBD-16BC-4DBD-92D1-12E10D7CB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Once we begin to build systems that follow logic, it makes sense to use them to prove things.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People all around the world could write logic statements. Then your machine could follow these Semantic "links" to construct proofs.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The proofs created are the signs of success of a semantic web because that’s signals the creation of new knowledge by the machine on its own.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418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2A92-2E84-4D96-B239-24690A28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B5A1A-6559-47C2-A41E-5114CF196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78995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For the Semantic Web to become expressive enough to help us in a wide range of situations, it will become necessary to construct a powerful logical language for making inferences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calls for a way to represent data in a machine readable logical format using appropriate predicates like ‘and’ , ‘or’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In Semantic web, types of Logic: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400" dirty="0"/>
              <a:t>Common Logics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400" dirty="0"/>
              <a:t>Description Logics</a:t>
            </a:r>
          </a:p>
        </p:txBody>
      </p:sp>
    </p:spTree>
    <p:extLst>
      <p:ext uri="{BB962C8B-B14F-4D97-AF65-F5344CB8AC3E}">
        <p14:creationId xmlns:p14="http://schemas.microsoft.com/office/powerpoint/2010/main" val="1219305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F3C5-DABC-42C3-A8CC-3065B1B8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5653-217C-4072-AD03-143A97B79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/>
              <a:t>Digital Signatures and web of trust.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Now since we have machines being able to create knowledge based on the logic supplied to them we have to make sure that the supplied logic is trustworthy.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That's where Digital Signatures come in. We can have a universal signing system just like we have today but with a slight modification- the signature is given for the logical accuracy of the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It’s the most difficult step because of the massive chunks of data we already have and the huge data inflow we have everyday.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268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DD9-4C87-4D6B-B097-C577FB08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Semantic Web Content: New “User”</a:t>
            </a: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C3939FE-3E8C-4A0D-AA7D-CDD042B821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718634"/>
              </p:ext>
            </p:extLst>
          </p:nvPr>
        </p:nvGraphicFramePr>
        <p:xfrm>
          <a:off x="2671889" y="1816670"/>
          <a:ext cx="5429969" cy="439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Picture" r:id="rId3" imgW="7058160" imgH="5715000" progId="Word.Picture.8">
                  <p:embed/>
                </p:oleObj>
              </mc:Choice>
              <mc:Fallback>
                <p:oleObj name="Picture" r:id="rId3" imgW="7058160" imgH="5715000" progId="Word.Picture.8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82228AA5-42B6-4F6D-B358-5F34CDFB11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889" y="1816670"/>
                        <a:ext cx="5429969" cy="439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5C9C12-703D-434E-BBFF-0428074441D5}"/>
              </a:ext>
            </a:extLst>
          </p:cNvPr>
          <p:cNvCxnSpPr/>
          <p:nvPr/>
        </p:nvCxnSpPr>
        <p:spPr>
          <a:xfrm flipV="1">
            <a:off x="8101858" y="1816670"/>
            <a:ext cx="1004820" cy="422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585F3F0-0298-4B33-8E42-567F7E3A3C17}"/>
              </a:ext>
            </a:extLst>
          </p:cNvPr>
          <p:cNvCxnSpPr/>
          <p:nvPr/>
        </p:nvCxnSpPr>
        <p:spPr>
          <a:xfrm>
            <a:off x="8101858" y="2239347"/>
            <a:ext cx="1004820" cy="354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23FB1E1-5E34-46FA-89AB-5EC125CB9E52}"/>
              </a:ext>
            </a:extLst>
          </p:cNvPr>
          <p:cNvSpPr/>
          <p:nvPr/>
        </p:nvSpPr>
        <p:spPr>
          <a:xfrm>
            <a:off x="9199984" y="1809672"/>
            <a:ext cx="1688840" cy="3573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Applications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42DF1-07F5-4602-8D52-0C31E3096F24}"/>
              </a:ext>
            </a:extLst>
          </p:cNvPr>
          <p:cNvSpPr/>
          <p:nvPr/>
        </p:nvSpPr>
        <p:spPr>
          <a:xfrm>
            <a:off x="9199984" y="2483342"/>
            <a:ext cx="1688840" cy="3573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955206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D03D-8D35-490D-A4DD-41C88B961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F6A71-60F7-47E1-B0DA-E9CFF9DB7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5242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Searches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Agents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Knowledge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Virtual community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Online advertising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Multimedia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rebuchet MS" panose="020B0603020202020204" pitchFamily="34" charset="0"/>
              </a:rPr>
              <a:t>Information Filtering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0945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54A5-2F28-4DDD-8B07-BE9AEA5E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1A421E-7C27-4561-AF94-705350F75BED}"/>
              </a:ext>
            </a:extLst>
          </p:cNvPr>
          <p:cNvSpPr txBox="1">
            <a:spLocks noChangeArrowheads="1"/>
          </p:cNvSpPr>
          <p:nvPr/>
        </p:nvSpPr>
        <p:spPr>
          <a:xfrm>
            <a:off x="1097280" y="1906556"/>
            <a:ext cx="10058400" cy="41148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The semantic web is not as complex as people believe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The semantic web doesn’t require huge investments before seeing its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Don’t forget privacy: set usage guidelines to safeguard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Don’t expect perfection: they’re far from perfect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800" dirty="0"/>
              <a:t>Don’t be impatient: there must be a multiyear commitment to have any hope of success</a:t>
            </a:r>
          </a:p>
        </p:txBody>
      </p:sp>
    </p:spTree>
    <p:extLst>
      <p:ext uri="{BB962C8B-B14F-4D97-AF65-F5344CB8AC3E}">
        <p14:creationId xmlns:p14="http://schemas.microsoft.com/office/powerpoint/2010/main" val="480672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5F1D8-708E-445F-90B3-671CA3334800}"/>
              </a:ext>
            </a:extLst>
          </p:cNvPr>
          <p:cNvSpPr txBox="1"/>
          <p:nvPr/>
        </p:nvSpPr>
        <p:spPr>
          <a:xfrm>
            <a:off x="3509087" y="2698207"/>
            <a:ext cx="5173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accent1"/>
                </a:solidFill>
                <a:latin typeface="+mj-lt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11248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335</TotalTime>
  <Words>1040</Words>
  <Application>Microsoft Office PowerPoint</Application>
  <PresentationFormat>Widescreen</PresentationFormat>
  <Paragraphs>173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Algerian</vt:lpstr>
      <vt:lpstr>Arial</vt:lpstr>
      <vt:lpstr>Calibri</vt:lpstr>
      <vt:lpstr>Calibri Light</vt:lpstr>
      <vt:lpstr>Comic Sans MS</vt:lpstr>
      <vt:lpstr>Trebuchet MS</vt:lpstr>
      <vt:lpstr>Wingdings</vt:lpstr>
      <vt:lpstr>Retrospect</vt:lpstr>
      <vt:lpstr>Picture</vt:lpstr>
      <vt:lpstr>PowerPoint Presentation</vt:lpstr>
      <vt:lpstr>Content</vt:lpstr>
      <vt:lpstr>The Semantic Web</vt:lpstr>
      <vt:lpstr>Current Web Vs Semantic Web</vt:lpstr>
      <vt:lpstr>Semantic web Architecture</vt:lpstr>
      <vt:lpstr>Components of Semantic Web</vt:lpstr>
      <vt:lpstr>URI</vt:lpstr>
      <vt:lpstr>URI</vt:lpstr>
      <vt:lpstr>XML</vt:lpstr>
      <vt:lpstr>XML Schema</vt:lpstr>
      <vt:lpstr>RDF</vt:lpstr>
      <vt:lpstr>RDF Example</vt:lpstr>
      <vt:lpstr>OWL(ontology)</vt:lpstr>
      <vt:lpstr>OWL</vt:lpstr>
      <vt:lpstr>OWL</vt:lpstr>
      <vt:lpstr>Proof</vt:lpstr>
      <vt:lpstr>Logic</vt:lpstr>
      <vt:lpstr>Trust</vt:lpstr>
      <vt:lpstr>Semantic Web Content: New “User”</vt:lpstr>
      <vt:lpstr>Features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 patel</dc:creator>
  <cp:lastModifiedBy>deep patel</cp:lastModifiedBy>
  <cp:revision>49</cp:revision>
  <dcterms:created xsi:type="dcterms:W3CDTF">2020-06-14T09:21:42Z</dcterms:created>
  <dcterms:modified xsi:type="dcterms:W3CDTF">2020-06-19T04:02:12Z</dcterms:modified>
</cp:coreProperties>
</file>