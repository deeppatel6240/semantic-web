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47641" y="193865"/>
            <a:ext cx="6248717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299" y="1896576"/>
            <a:ext cx="8153400" cy="4640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.org/XML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ntoknowledge.org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77632" y="1799167"/>
            <a:ext cx="3031067" cy="13504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3266" y="3048000"/>
            <a:ext cx="3467100" cy="13504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42732" y="3048000"/>
            <a:ext cx="3064932" cy="13504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07566" y="3048000"/>
            <a:ext cx="3365500" cy="13504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0243" y="1954085"/>
            <a:ext cx="7784465" cy="2004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660033"/>
                </a:solidFill>
                <a:latin typeface="Comic Sans MS"/>
                <a:cs typeface="Comic Sans MS"/>
              </a:rPr>
              <a:t>Lecture</a:t>
            </a:r>
            <a:endParaRPr sz="48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4065"/>
              </a:spcBef>
            </a:pPr>
            <a:r>
              <a:rPr sz="4800" b="1" spc="-5" dirty="0">
                <a:solidFill>
                  <a:srgbClr val="660033"/>
                </a:solidFill>
                <a:latin typeface="Comic Sans MS"/>
                <a:cs typeface="Comic Sans MS"/>
              </a:rPr>
              <a:t>Semantic </a:t>
            </a:r>
            <a:r>
              <a:rPr sz="4800" b="1" dirty="0">
                <a:solidFill>
                  <a:srgbClr val="660033"/>
                </a:solidFill>
                <a:latin typeface="Comic Sans MS"/>
                <a:cs typeface="Comic Sans MS"/>
              </a:rPr>
              <a:t>Web &amp;</a:t>
            </a:r>
            <a:r>
              <a:rPr sz="4800" b="1" spc="-30" dirty="0">
                <a:solidFill>
                  <a:srgbClr val="660033"/>
                </a:solidFill>
                <a:latin typeface="Comic Sans MS"/>
                <a:cs typeface="Comic Sans MS"/>
              </a:rPr>
              <a:t> </a:t>
            </a:r>
            <a:r>
              <a:rPr sz="4800" b="1" spc="-5" dirty="0">
                <a:solidFill>
                  <a:srgbClr val="660033"/>
                </a:solidFill>
                <a:latin typeface="Comic Sans MS"/>
                <a:cs typeface="Comic Sans MS"/>
              </a:rPr>
              <a:t>Ontology</a:t>
            </a:r>
            <a:endParaRPr sz="4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5362" y="803465"/>
            <a:ext cx="20732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</a:t>
            </a:r>
            <a:r>
              <a:rPr dirty="0"/>
              <a:t>te</a:t>
            </a:r>
            <a:r>
              <a:rPr spc="-5" dirty="0"/>
              <a:t>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96576"/>
            <a:ext cx="3187065" cy="412369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omic Sans MS"/>
                <a:cs typeface="Comic Sans MS"/>
              </a:rPr>
              <a:t>Introduction</a:t>
            </a:r>
            <a:endParaRPr sz="32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omic Sans MS"/>
                <a:cs typeface="Comic Sans MS"/>
              </a:rPr>
              <a:t>Ontology</a:t>
            </a:r>
            <a:endParaRPr sz="32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omic Sans MS"/>
                <a:cs typeface="Comic Sans MS"/>
              </a:rPr>
              <a:t>Semantic</a:t>
            </a:r>
            <a:r>
              <a:rPr sz="3200" spc="-35" dirty="0">
                <a:latin typeface="Comic Sans MS"/>
                <a:cs typeface="Comic Sans MS"/>
              </a:rPr>
              <a:t> </a:t>
            </a:r>
            <a:r>
              <a:rPr sz="3200" spc="-5" dirty="0">
                <a:latin typeface="Comic Sans MS"/>
                <a:cs typeface="Comic Sans MS"/>
              </a:rPr>
              <a:t>Web</a:t>
            </a:r>
            <a:endParaRPr sz="32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omic Sans MS"/>
                <a:cs typeface="Comic Sans MS"/>
              </a:rPr>
              <a:t>Web</a:t>
            </a:r>
            <a:r>
              <a:rPr sz="3200" spc="-10" dirty="0">
                <a:latin typeface="Comic Sans MS"/>
                <a:cs typeface="Comic Sans MS"/>
              </a:rPr>
              <a:t> </a:t>
            </a:r>
            <a:r>
              <a:rPr sz="3200" spc="-5" dirty="0">
                <a:latin typeface="Comic Sans MS"/>
                <a:cs typeface="Comic Sans MS"/>
              </a:rPr>
              <a:t>sevices</a:t>
            </a:r>
            <a:endParaRPr sz="32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omic Sans MS"/>
                <a:cs typeface="Comic Sans MS"/>
              </a:rPr>
              <a:t>Related</a:t>
            </a:r>
            <a:r>
              <a:rPr sz="3200" spc="-65" dirty="0">
                <a:latin typeface="Comic Sans MS"/>
                <a:cs typeface="Comic Sans MS"/>
              </a:rPr>
              <a:t> </a:t>
            </a:r>
            <a:r>
              <a:rPr sz="3200" dirty="0">
                <a:latin typeface="Comic Sans MS"/>
                <a:cs typeface="Comic Sans MS"/>
              </a:rPr>
              <a:t>topics</a:t>
            </a:r>
            <a:endParaRPr sz="32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omic Sans MS"/>
                <a:cs typeface="Comic Sans MS"/>
              </a:rPr>
              <a:t>Seminar</a:t>
            </a:r>
            <a:r>
              <a:rPr sz="3200" spc="-65" dirty="0">
                <a:latin typeface="Comic Sans MS"/>
                <a:cs typeface="Comic Sans MS"/>
              </a:rPr>
              <a:t> </a:t>
            </a:r>
            <a:r>
              <a:rPr sz="3200" dirty="0">
                <a:latin typeface="Comic Sans MS"/>
                <a:cs typeface="Comic Sans MS"/>
              </a:rPr>
              <a:t>topics</a:t>
            </a:r>
            <a:endParaRPr sz="32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7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omic Sans MS"/>
                <a:cs typeface="Comic Sans MS"/>
              </a:rPr>
              <a:t>Homework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1631" y="803465"/>
            <a:ext cx="33616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96576"/>
            <a:ext cx="3752215" cy="339090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omic Sans MS"/>
                <a:cs typeface="Comic Sans MS"/>
              </a:rPr>
              <a:t>Course</a:t>
            </a:r>
            <a:r>
              <a:rPr sz="3200" spc="-50" dirty="0">
                <a:latin typeface="Comic Sans MS"/>
                <a:cs typeface="Comic Sans MS"/>
              </a:rPr>
              <a:t> </a:t>
            </a:r>
            <a:r>
              <a:rPr sz="3200" spc="-5" dirty="0">
                <a:latin typeface="Comic Sans MS"/>
                <a:cs typeface="Comic Sans MS"/>
              </a:rPr>
              <a:t>objectives</a:t>
            </a:r>
            <a:endParaRPr sz="32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omic Sans MS"/>
                <a:cs typeface="Comic Sans MS"/>
              </a:rPr>
              <a:t>Methodology</a:t>
            </a:r>
            <a:endParaRPr sz="32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omic Sans MS"/>
                <a:cs typeface="Comic Sans MS"/>
              </a:rPr>
              <a:t>Assessment</a:t>
            </a:r>
            <a:endParaRPr sz="32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69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Comic Sans MS"/>
                <a:cs typeface="Comic Sans MS"/>
              </a:rPr>
              <a:t>Teamwork</a:t>
            </a:r>
            <a:endParaRPr sz="28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Comic Sans MS"/>
                <a:cs typeface="Comic Sans MS"/>
              </a:rPr>
              <a:t>Rubric</a:t>
            </a:r>
            <a:endParaRPr sz="28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omic Sans MS"/>
                <a:cs typeface="Comic Sans MS"/>
              </a:rPr>
              <a:t>Suggestions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94868" y="803465"/>
            <a:ext cx="23539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On</a:t>
            </a:r>
            <a:r>
              <a:rPr dirty="0"/>
              <a:t>t</a:t>
            </a:r>
            <a:r>
              <a:rPr spc="-5" dirty="0"/>
              <a:t>o</a:t>
            </a:r>
            <a:r>
              <a:rPr spc="-10" dirty="0"/>
              <a:t>l</a:t>
            </a:r>
            <a:r>
              <a:rPr spc="-5" dirty="0"/>
              <a:t>o</a:t>
            </a:r>
            <a:r>
              <a:rPr dirty="0"/>
              <a:t>gy</a:t>
            </a:r>
          </a:p>
        </p:txBody>
      </p:sp>
      <p:sp>
        <p:nvSpPr>
          <p:cNvPr id="4" name="object 4"/>
          <p:cNvSpPr/>
          <p:nvPr/>
        </p:nvSpPr>
        <p:spPr>
          <a:xfrm>
            <a:off x="1371600" y="2362200"/>
            <a:ext cx="6248400" cy="2438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5318" y="803465"/>
            <a:ext cx="27724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Ontology...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616265"/>
            <a:ext cx="7546340" cy="3938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9017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omic Sans MS"/>
                <a:cs typeface="Comic Sans MS"/>
              </a:rPr>
              <a:t>Long </a:t>
            </a:r>
            <a:r>
              <a:rPr sz="2800" dirty="0">
                <a:latin typeface="Comic Sans MS"/>
                <a:cs typeface="Comic Sans MS"/>
              </a:rPr>
              <a:t>history </a:t>
            </a:r>
            <a:r>
              <a:rPr sz="2800" spc="-5" dirty="0">
                <a:latin typeface="Comic Sans MS"/>
                <a:cs typeface="Comic Sans MS"/>
              </a:rPr>
              <a:t>coming </a:t>
            </a:r>
            <a:r>
              <a:rPr sz="2800" dirty="0">
                <a:latin typeface="Comic Sans MS"/>
                <a:cs typeface="Comic Sans MS"/>
              </a:rPr>
              <a:t>from </a:t>
            </a:r>
            <a:r>
              <a:rPr sz="2800" spc="-5" dirty="0">
                <a:latin typeface="Comic Sans MS"/>
                <a:cs typeface="Comic Sans MS"/>
              </a:rPr>
              <a:t>Philosophy </a:t>
            </a:r>
            <a:r>
              <a:rPr sz="2800" dirty="0">
                <a:latin typeface="Comic Sans MS"/>
                <a:cs typeface="Comic Sans MS"/>
              </a:rPr>
              <a:t>-  Aristoteles</a:t>
            </a:r>
            <a:endParaRPr sz="2800">
              <a:latin typeface="Comic Sans MS"/>
              <a:cs typeface="Comic Sans MS"/>
            </a:endParaRPr>
          </a:p>
          <a:p>
            <a:pPr marL="755015" marR="56515" lvl="1" indent="-285750">
              <a:lnSpc>
                <a:spcPts val="2900"/>
              </a:lnSpc>
              <a:spcBef>
                <a:spcPts val="66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25" dirty="0">
                <a:latin typeface="Comic Sans MS"/>
                <a:cs typeface="Comic Sans MS"/>
              </a:rPr>
              <a:t>“</a:t>
            </a:r>
            <a:r>
              <a:rPr sz="2450" i="1" spc="-25" dirty="0">
                <a:latin typeface="Comic Sans MS"/>
                <a:cs typeface="Comic Sans MS"/>
              </a:rPr>
              <a:t>The </a:t>
            </a:r>
            <a:r>
              <a:rPr sz="2450" i="1" spc="-30" dirty="0">
                <a:latin typeface="Comic Sans MS"/>
                <a:cs typeface="Comic Sans MS"/>
              </a:rPr>
              <a:t>metaphysical study of the nature of </a:t>
            </a:r>
            <a:r>
              <a:rPr sz="2450" i="1" spc="-25" dirty="0">
                <a:latin typeface="Comic Sans MS"/>
                <a:cs typeface="Comic Sans MS"/>
              </a:rPr>
              <a:t>being  </a:t>
            </a:r>
            <a:r>
              <a:rPr sz="2450" i="1" spc="-30" dirty="0">
                <a:latin typeface="Comic Sans MS"/>
                <a:cs typeface="Comic Sans MS"/>
              </a:rPr>
              <a:t>and</a:t>
            </a:r>
            <a:r>
              <a:rPr sz="2450" i="1" spc="-25" dirty="0">
                <a:latin typeface="Comic Sans MS"/>
                <a:cs typeface="Comic Sans MS"/>
              </a:rPr>
              <a:t> </a:t>
            </a:r>
            <a:r>
              <a:rPr sz="2450" i="1" spc="-30" dirty="0">
                <a:latin typeface="Comic Sans MS"/>
                <a:cs typeface="Comic Sans MS"/>
              </a:rPr>
              <a:t>existence</a:t>
            </a:r>
            <a:r>
              <a:rPr sz="2400" spc="-30" dirty="0">
                <a:latin typeface="Comic Sans MS"/>
                <a:cs typeface="Comic Sans MS"/>
              </a:rPr>
              <a:t>”</a:t>
            </a:r>
            <a:endParaRPr sz="2400">
              <a:latin typeface="Comic Sans MS"/>
              <a:cs typeface="Comic Sans MS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har char="–"/>
            </a:pPr>
            <a:endParaRPr sz="34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Comic Sans MS"/>
                <a:cs typeface="Comic Sans MS"/>
              </a:rPr>
              <a:t>Pick </a:t>
            </a:r>
            <a:r>
              <a:rPr sz="2800" spc="-5" dirty="0">
                <a:latin typeface="Comic Sans MS"/>
                <a:cs typeface="Comic Sans MS"/>
              </a:rPr>
              <a:t>up </a:t>
            </a:r>
            <a:r>
              <a:rPr sz="2800" dirty="0">
                <a:latin typeface="Comic Sans MS"/>
                <a:cs typeface="Comic Sans MS"/>
              </a:rPr>
              <a:t>by the Artificial</a:t>
            </a:r>
            <a:r>
              <a:rPr sz="2800" spc="-10" dirty="0">
                <a:latin typeface="Comic Sans MS"/>
                <a:cs typeface="Comic Sans MS"/>
              </a:rPr>
              <a:t> </a:t>
            </a:r>
            <a:r>
              <a:rPr sz="2800" spc="-5" dirty="0">
                <a:latin typeface="Comic Sans MS"/>
                <a:cs typeface="Comic Sans MS"/>
              </a:rPr>
              <a:t>Intelligence</a:t>
            </a:r>
            <a:endParaRPr sz="2800">
              <a:latin typeface="Comic Sans MS"/>
              <a:cs typeface="Comic Sans MS"/>
            </a:endParaRPr>
          </a:p>
          <a:p>
            <a:pPr marL="755015" marR="5080" lvl="1" indent="-285750">
              <a:lnSpc>
                <a:spcPct val="98200"/>
              </a:lnSpc>
              <a:spcBef>
                <a:spcPts val="730"/>
              </a:spcBef>
              <a:buFont typeface="Comic Sans MS"/>
              <a:buChar char="–"/>
              <a:tabLst>
                <a:tab pos="755650" algn="l"/>
              </a:tabLst>
            </a:pPr>
            <a:r>
              <a:rPr sz="2800" b="1" spc="-20" dirty="0">
                <a:latin typeface="Comic Sans MS"/>
                <a:cs typeface="Comic Sans MS"/>
              </a:rPr>
              <a:t>“</a:t>
            </a:r>
            <a:r>
              <a:rPr sz="2450" b="1" i="1" spc="-20" dirty="0">
                <a:latin typeface="Comic Sans MS"/>
                <a:cs typeface="Comic Sans MS"/>
              </a:rPr>
              <a:t>a </a:t>
            </a:r>
            <a:r>
              <a:rPr sz="2450" b="1" i="1" spc="-35" dirty="0">
                <a:latin typeface="Comic Sans MS"/>
                <a:cs typeface="Comic Sans MS"/>
              </a:rPr>
              <a:t>shared </a:t>
            </a:r>
            <a:r>
              <a:rPr sz="2450" b="1" i="1" spc="-30" dirty="0">
                <a:latin typeface="Comic Sans MS"/>
                <a:cs typeface="Comic Sans MS"/>
              </a:rPr>
              <a:t>and </a:t>
            </a:r>
            <a:r>
              <a:rPr sz="2450" b="1" i="1" spc="-35" dirty="0">
                <a:latin typeface="Comic Sans MS"/>
                <a:cs typeface="Comic Sans MS"/>
              </a:rPr>
              <a:t>common </a:t>
            </a:r>
            <a:r>
              <a:rPr sz="2450" b="1" i="1" spc="-30" dirty="0">
                <a:latin typeface="Comic Sans MS"/>
                <a:cs typeface="Comic Sans MS"/>
              </a:rPr>
              <a:t>understanding of </a:t>
            </a:r>
            <a:r>
              <a:rPr sz="2450" b="1" i="1" spc="-35" dirty="0">
                <a:latin typeface="Comic Sans MS"/>
                <a:cs typeface="Comic Sans MS"/>
              </a:rPr>
              <a:t>some  </a:t>
            </a:r>
            <a:r>
              <a:rPr sz="2450" b="1" i="1" spc="-30" dirty="0">
                <a:latin typeface="Comic Sans MS"/>
                <a:cs typeface="Comic Sans MS"/>
              </a:rPr>
              <a:t>domain that can be communicated </a:t>
            </a:r>
            <a:r>
              <a:rPr sz="2450" b="1" i="1" spc="-35" dirty="0">
                <a:latin typeface="Comic Sans MS"/>
                <a:cs typeface="Comic Sans MS"/>
              </a:rPr>
              <a:t>between  </a:t>
            </a:r>
            <a:r>
              <a:rPr sz="2450" b="1" i="1" spc="-25" dirty="0">
                <a:latin typeface="Comic Sans MS"/>
                <a:cs typeface="Comic Sans MS"/>
              </a:rPr>
              <a:t>people </a:t>
            </a:r>
            <a:r>
              <a:rPr sz="2450" b="1" i="1" spc="-30" dirty="0">
                <a:latin typeface="Comic Sans MS"/>
                <a:cs typeface="Comic Sans MS"/>
              </a:rPr>
              <a:t>and </a:t>
            </a:r>
            <a:r>
              <a:rPr sz="2450" b="1" i="1" spc="-25" dirty="0">
                <a:latin typeface="Comic Sans MS"/>
                <a:cs typeface="Comic Sans MS"/>
              </a:rPr>
              <a:t>application </a:t>
            </a:r>
            <a:r>
              <a:rPr sz="2450" b="1" i="1" spc="-35" dirty="0">
                <a:latin typeface="Comic Sans MS"/>
                <a:cs typeface="Comic Sans MS"/>
              </a:rPr>
              <a:t>systems</a:t>
            </a:r>
            <a:r>
              <a:rPr sz="2800" b="1" spc="-35" dirty="0">
                <a:latin typeface="Comic Sans MS"/>
                <a:cs typeface="Comic Sans MS"/>
              </a:rPr>
              <a:t>” </a:t>
            </a:r>
            <a:r>
              <a:rPr sz="2800" b="1" dirty="0">
                <a:latin typeface="Comic Sans MS"/>
                <a:cs typeface="Comic Sans MS"/>
              </a:rPr>
              <a:t>-</a:t>
            </a:r>
            <a:r>
              <a:rPr sz="2800" b="1" spc="25" dirty="0">
                <a:latin typeface="Comic Sans MS"/>
                <a:cs typeface="Comic Sans MS"/>
              </a:rPr>
              <a:t> </a:t>
            </a:r>
            <a:r>
              <a:rPr sz="2850" b="1" i="1" spc="-35" dirty="0">
                <a:latin typeface="Comic Sans MS"/>
                <a:cs typeface="Comic Sans MS"/>
              </a:rPr>
              <a:t>Gruber</a:t>
            </a:r>
            <a:endParaRPr sz="28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9125" y="803465"/>
            <a:ext cx="53676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What </a:t>
            </a:r>
            <a:r>
              <a:rPr dirty="0"/>
              <a:t>is</a:t>
            </a:r>
            <a:r>
              <a:rPr spc="-45" dirty="0"/>
              <a:t> </a:t>
            </a:r>
            <a:r>
              <a:rPr spc="-5" dirty="0"/>
              <a:t>Ontology…...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87885"/>
            <a:ext cx="7570470" cy="375602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54965" marR="42545" indent="-342900">
              <a:lnSpc>
                <a:spcPts val="2900"/>
              </a:lnSpc>
              <a:spcBef>
                <a:spcPts val="250"/>
              </a:spcBef>
              <a:buSzPct val="97959"/>
              <a:buFont typeface="Comic Sans MS"/>
              <a:buChar char="•"/>
              <a:tabLst>
                <a:tab pos="354965" algn="l"/>
                <a:tab pos="355600" algn="l"/>
              </a:tabLst>
            </a:pPr>
            <a:r>
              <a:rPr sz="2450" b="1" i="1" spc="-30" dirty="0">
                <a:latin typeface="Comic Sans MS"/>
                <a:cs typeface="Comic Sans MS"/>
              </a:rPr>
              <a:t>an </a:t>
            </a:r>
            <a:r>
              <a:rPr sz="2450" b="1" i="1" spc="-25" dirty="0">
                <a:latin typeface="Comic Sans MS"/>
                <a:cs typeface="Comic Sans MS"/>
              </a:rPr>
              <a:t>ontology </a:t>
            </a:r>
            <a:r>
              <a:rPr sz="2450" b="1" i="1" spc="-20" dirty="0">
                <a:latin typeface="Comic Sans MS"/>
                <a:cs typeface="Comic Sans MS"/>
              </a:rPr>
              <a:t>is </a:t>
            </a:r>
            <a:r>
              <a:rPr sz="2450" b="1" i="1" spc="-30" dirty="0">
                <a:latin typeface="Comic Sans MS"/>
                <a:cs typeface="Comic Sans MS"/>
              </a:rPr>
              <a:t>a formal, </a:t>
            </a:r>
            <a:r>
              <a:rPr sz="2450" b="1" i="1" spc="-25" dirty="0">
                <a:latin typeface="Comic Sans MS"/>
                <a:cs typeface="Comic Sans MS"/>
              </a:rPr>
              <a:t>explicit specification </a:t>
            </a:r>
            <a:r>
              <a:rPr sz="2450" b="1" i="1" spc="-30" dirty="0">
                <a:latin typeface="Comic Sans MS"/>
                <a:cs typeface="Comic Sans MS"/>
              </a:rPr>
              <a:t>of  a </a:t>
            </a:r>
            <a:r>
              <a:rPr sz="2450" b="1" i="1" spc="-35" dirty="0">
                <a:latin typeface="Comic Sans MS"/>
                <a:cs typeface="Comic Sans MS"/>
              </a:rPr>
              <a:t>shared </a:t>
            </a:r>
            <a:r>
              <a:rPr sz="2450" b="1" i="1" spc="-30" dirty="0">
                <a:latin typeface="Comic Sans MS"/>
                <a:cs typeface="Comic Sans MS"/>
              </a:rPr>
              <a:t>conceptualization </a:t>
            </a:r>
            <a:r>
              <a:rPr sz="2450" b="1" i="1" spc="-35" dirty="0">
                <a:latin typeface="Comic Sans MS"/>
                <a:cs typeface="Comic Sans MS"/>
              </a:rPr>
              <a:t>-</a:t>
            </a:r>
            <a:r>
              <a:rPr sz="2450" b="1" i="1" dirty="0">
                <a:latin typeface="Comic Sans MS"/>
                <a:cs typeface="Comic Sans MS"/>
              </a:rPr>
              <a:t> </a:t>
            </a:r>
            <a:r>
              <a:rPr sz="2450" b="1" i="1" spc="-30" dirty="0">
                <a:latin typeface="Comic Sans MS"/>
                <a:cs typeface="Comic Sans MS"/>
              </a:rPr>
              <a:t>Gruber</a:t>
            </a:r>
            <a:endParaRPr sz="2450">
              <a:latin typeface="Comic Sans MS"/>
              <a:cs typeface="Comic Sans MS"/>
            </a:endParaRPr>
          </a:p>
          <a:p>
            <a:pPr marL="755650" marR="75565" lvl="1" indent="-285750">
              <a:lnSpc>
                <a:spcPts val="2400"/>
              </a:lnSpc>
              <a:spcBef>
                <a:spcPts val="470"/>
              </a:spcBef>
              <a:buSzPct val="97560"/>
              <a:buFont typeface="Comic Sans MS"/>
              <a:buChar char="–"/>
              <a:tabLst>
                <a:tab pos="755015" algn="l"/>
                <a:tab pos="755650" algn="l"/>
              </a:tabLst>
            </a:pPr>
            <a:r>
              <a:rPr sz="2050" b="1" i="1" spc="-5" dirty="0">
                <a:latin typeface="Comic Sans MS"/>
                <a:cs typeface="Comic Sans MS"/>
              </a:rPr>
              <a:t>‘</a:t>
            </a:r>
            <a:r>
              <a:rPr sz="2000" spc="-5" dirty="0">
                <a:latin typeface="Comic Sans MS"/>
                <a:cs typeface="Comic Sans MS"/>
              </a:rPr>
              <a:t>Conceptualization’ refers to </a:t>
            </a:r>
            <a:r>
              <a:rPr sz="2000" dirty="0">
                <a:latin typeface="Comic Sans MS"/>
                <a:cs typeface="Comic Sans MS"/>
              </a:rPr>
              <a:t>an </a:t>
            </a:r>
            <a:r>
              <a:rPr sz="2000" spc="-5" dirty="0">
                <a:latin typeface="Comic Sans MS"/>
                <a:cs typeface="Comic Sans MS"/>
              </a:rPr>
              <a:t>abstract model of  phenomena </a:t>
            </a:r>
            <a:r>
              <a:rPr sz="2000" dirty="0">
                <a:latin typeface="Comic Sans MS"/>
                <a:cs typeface="Comic Sans MS"/>
              </a:rPr>
              <a:t>in </a:t>
            </a:r>
            <a:r>
              <a:rPr sz="2000" spc="-10" dirty="0">
                <a:latin typeface="Comic Sans MS"/>
                <a:cs typeface="Comic Sans MS"/>
              </a:rPr>
              <a:t>the </a:t>
            </a:r>
            <a:r>
              <a:rPr sz="2000" spc="-5" dirty="0">
                <a:latin typeface="Comic Sans MS"/>
                <a:cs typeface="Comic Sans MS"/>
              </a:rPr>
              <a:t>world </a:t>
            </a:r>
            <a:r>
              <a:rPr sz="2000" dirty="0">
                <a:latin typeface="Comic Sans MS"/>
                <a:cs typeface="Comic Sans MS"/>
              </a:rPr>
              <a:t>by </a:t>
            </a:r>
            <a:r>
              <a:rPr sz="2000" spc="-5" dirty="0">
                <a:latin typeface="Comic Sans MS"/>
                <a:cs typeface="Comic Sans MS"/>
              </a:rPr>
              <a:t>having identified </a:t>
            </a:r>
            <a:r>
              <a:rPr sz="2000" spc="-10" dirty="0">
                <a:latin typeface="Comic Sans MS"/>
                <a:cs typeface="Comic Sans MS"/>
              </a:rPr>
              <a:t>the </a:t>
            </a:r>
            <a:r>
              <a:rPr sz="2000" dirty="0">
                <a:latin typeface="Comic Sans MS"/>
                <a:cs typeface="Comic Sans MS"/>
              </a:rPr>
              <a:t>relevant  </a:t>
            </a:r>
            <a:r>
              <a:rPr sz="2000" spc="-5" dirty="0">
                <a:latin typeface="Comic Sans MS"/>
                <a:cs typeface="Comic Sans MS"/>
              </a:rPr>
              <a:t>concepts of those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phenomena.</a:t>
            </a:r>
            <a:endParaRPr sz="2000">
              <a:latin typeface="Comic Sans MS"/>
              <a:cs typeface="Comic Sans MS"/>
            </a:endParaRPr>
          </a:p>
          <a:p>
            <a:pPr marL="755650" marR="136525" lvl="1" indent="-285750">
              <a:lnSpc>
                <a:spcPct val="100000"/>
              </a:lnSpc>
              <a:spcBef>
                <a:spcPts val="420"/>
              </a:spcBef>
              <a:buFont typeface="Comic Sans MS"/>
              <a:buChar char="–"/>
              <a:tabLst>
                <a:tab pos="831215" algn="l"/>
                <a:tab pos="831850" algn="l"/>
              </a:tabLst>
            </a:pPr>
            <a:r>
              <a:rPr dirty="0"/>
              <a:t>	</a:t>
            </a:r>
            <a:r>
              <a:rPr sz="2000" spc="-5" dirty="0">
                <a:latin typeface="Comic Sans MS"/>
                <a:cs typeface="Comic Sans MS"/>
              </a:rPr>
              <a:t>‘Explicit’ means that the type of concepts used, </a:t>
            </a:r>
            <a:r>
              <a:rPr sz="2000" dirty="0">
                <a:latin typeface="Comic Sans MS"/>
                <a:cs typeface="Comic Sans MS"/>
              </a:rPr>
              <a:t>and </a:t>
            </a:r>
            <a:r>
              <a:rPr sz="2000" spc="-5" dirty="0">
                <a:latin typeface="Comic Sans MS"/>
                <a:cs typeface="Comic Sans MS"/>
              </a:rPr>
              <a:t>the  constraints on their use </a:t>
            </a:r>
            <a:r>
              <a:rPr sz="2000" dirty="0">
                <a:latin typeface="Comic Sans MS"/>
                <a:cs typeface="Comic Sans MS"/>
              </a:rPr>
              <a:t>are </a:t>
            </a:r>
            <a:r>
              <a:rPr sz="2000" spc="-5" dirty="0">
                <a:latin typeface="Comic Sans MS"/>
                <a:cs typeface="Comic Sans MS"/>
              </a:rPr>
              <a:t>explicitly</a:t>
            </a:r>
            <a:r>
              <a:rPr sz="2000" spc="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defined.</a:t>
            </a:r>
            <a:endParaRPr sz="2000">
              <a:latin typeface="Comic Sans MS"/>
              <a:cs typeface="Comic Sans MS"/>
            </a:endParaRPr>
          </a:p>
          <a:p>
            <a:pPr marL="755650" marR="328295" lvl="1" indent="-285750">
              <a:lnSpc>
                <a:spcPct val="100000"/>
              </a:lnSpc>
              <a:spcBef>
                <a:spcPts val="46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omic Sans MS"/>
                <a:cs typeface="Comic Sans MS"/>
              </a:rPr>
              <a:t>‘Formal’ refers to the fact that the ontology should </a:t>
            </a:r>
            <a:r>
              <a:rPr sz="2000" dirty="0">
                <a:latin typeface="Comic Sans MS"/>
                <a:cs typeface="Comic Sans MS"/>
              </a:rPr>
              <a:t>be  </a:t>
            </a:r>
            <a:r>
              <a:rPr sz="2000" spc="-5" dirty="0">
                <a:latin typeface="Comic Sans MS"/>
                <a:cs typeface="Comic Sans MS"/>
              </a:rPr>
              <a:t>machine</a:t>
            </a:r>
            <a:r>
              <a:rPr sz="2000" dirty="0">
                <a:latin typeface="Comic Sans MS"/>
                <a:cs typeface="Comic Sans MS"/>
              </a:rPr>
              <a:t> readable.</a:t>
            </a:r>
            <a:endParaRPr sz="2000">
              <a:latin typeface="Comic Sans MS"/>
              <a:cs typeface="Comic Sans MS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46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omic Sans MS"/>
                <a:cs typeface="Comic Sans MS"/>
              </a:rPr>
              <a:t>‘Shared’ reflects that ontology should capture consensual  knowledge accepted </a:t>
            </a:r>
            <a:r>
              <a:rPr sz="2000" dirty="0">
                <a:latin typeface="Comic Sans MS"/>
                <a:cs typeface="Comic Sans MS"/>
              </a:rPr>
              <a:t>by </a:t>
            </a:r>
            <a:r>
              <a:rPr sz="2000" spc="-10" dirty="0">
                <a:latin typeface="Comic Sans MS"/>
                <a:cs typeface="Comic Sans MS"/>
              </a:rPr>
              <a:t>the</a:t>
            </a:r>
            <a:r>
              <a:rPr sz="2000" spc="1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communities</a:t>
            </a:r>
            <a:endParaRPr sz="2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6805" y="868679"/>
            <a:ext cx="69081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Main components of an</a:t>
            </a:r>
            <a:r>
              <a:rPr sz="3600" spc="-50" dirty="0"/>
              <a:t> </a:t>
            </a:r>
            <a:r>
              <a:rPr sz="3600" spc="-5" dirty="0"/>
              <a:t>Ontology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624840" indent="-342900">
              <a:lnSpc>
                <a:spcPct val="100000"/>
              </a:lnSpc>
              <a:spcBef>
                <a:spcPts val="860"/>
              </a:spcBef>
              <a:buChar char="•"/>
              <a:tabLst>
                <a:tab pos="624205" algn="l"/>
                <a:tab pos="624840" algn="l"/>
              </a:tabLst>
            </a:pPr>
            <a:r>
              <a:rPr dirty="0"/>
              <a:t>Five </a:t>
            </a:r>
            <a:r>
              <a:rPr spc="-5" dirty="0"/>
              <a:t>kinds </a:t>
            </a:r>
            <a:r>
              <a:rPr dirty="0"/>
              <a:t>of components:</a:t>
            </a:r>
          </a:p>
          <a:p>
            <a:pPr marL="1024890" lvl="1" indent="-285750">
              <a:lnSpc>
                <a:spcPct val="100000"/>
              </a:lnSpc>
              <a:spcBef>
                <a:spcPts val="760"/>
              </a:spcBef>
              <a:buChar char="–"/>
              <a:tabLst>
                <a:tab pos="1024890" algn="l"/>
              </a:tabLst>
            </a:pPr>
            <a:r>
              <a:rPr sz="3200" dirty="0">
                <a:latin typeface="Comic Sans MS"/>
                <a:cs typeface="Comic Sans MS"/>
              </a:rPr>
              <a:t>classes:</a:t>
            </a:r>
            <a:endParaRPr sz="3200">
              <a:latin typeface="Comic Sans MS"/>
              <a:cs typeface="Comic Sans MS"/>
            </a:endParaRPr>
          </a:p>
          <a:p>
            <a:pPr marL="1424305" marR="629920" lvl="2" indent="-228600">
              <a:lnSpc>
                <a:spcPts val="2870"/>
              </a:lnSpc>
              <a:spcBef>
                <a:spcPts val="730"/>
              </a:spcBef>
              <a:buChar char="•"/>
              <a:tabLst>
                <a:tab pos="1424940" algn="l"/>
              </a:tabLst>
            </a:pPr>
            <a:r>
              <a:rPr sz="2400" spc="-5" dirty="0">
                <a:latin typeface="Comic Sans MS"/>
                <a:cs typeface="Comic Sans MS"/>
              </a:rPr>
              <a:t>concepts </a:t>
            </a:r>
            <a:r>
              <a:rPr sz="2400" dirty="0">
                <a:latin typeface="Comic Sans MS"/>
                <a:cs typeface="Comic Sans MS"/>
              </a:rPr>
              <a:t>of </a:t>
            </a:r>
            <a:r>
              <a:rPr sz="2400" spc="-5" dirty="0">
                <a:latin typeface="Comic Sans MS"/>
                <a:cs typeface="Comic Sans MS"/>
              </a:rPr>
              <a:t>the domain </a:t>
            </a:r>
            <a:r>
              <a:rPr sz="2400" dirty="0">
                <a:latin typeface="Comic Sans MS"/>
                <a:cs typeface="Comic Sans MS"/>
              </a:rPr>
              <a:t>or </a:t>
            </a:r>
            <a:r>
              <a:rPr sz="2400" spc="-10" dirty="0">
                <a:latin typeface="Comic Sans MS"/>
                <a:cs typeface="Comic Sans MS"/>
              </a:rPr>
              <a:t>tasks, </a:t>
            </a:r>
            <a:r>
              <a:rPr sz="2400" spc="-5" dirty="0">
                <a:latin typeface="Comic Sans MS"/>
                <a:cs typeface="Comic Sans MS"/>
              </a:rPr>
              <a:t>which are  usually organized </a:t>
            </a:r>
            <a:r>
              <a:rPr sz="2400" dirty="0">
                <a:latin typeface="Comic Sans MS"/>
                <a:cs typeface="Comic Sans MS"/>
              </a:rPr>
              <a:t>in</a:t>
            </a:r>
            <a:r>
              <a:rPr sz="2400" spc="-5" dirty="0">
                <a:latin typeface="Comic Sans MS"/>
                <a:cs typeface="Comic Sans MS"/>
              </a:rPr>
              <a:t> taxonomies</a:t>
            </a:r>
            <a:endParaRPr sz="2400">
              <a:latin typeface="Comic Sans MS"/>
              <a:cs typeface="Comic Sans MS"/>
            </a:endParaRPr>
          </a:p>
          <a:p>
            <a:pPr marL="1424305" marR="5080" lvl="2" indent="-228600">
              <a:lnSpc>
                <a:spcPct val="100699"/>
              </a:lnSpc>
              <a:spcBef>
                <a:spcPts val="470"/>
              </a:spcBef>
              <a:buChar char="•"/>
              <a:tabLst>
                <a:tab pos="1424940" algn="l"/>
              </a:tabLst>
            </a:pPr>
            <a:r>
              <a:rPr sz="2400" dirty="0">
                <a:latin typeface="Comic Sans MS"/>
                <a:cs typeface="Comic Sans MS"/>
              </a:rPr>
              <a:t>in </a:t>
            </a:r>
            <a:r>
              <a:rPr sz="2400" spc="-5" dirty="0">
                <a:latin typeface="Comic Sans MS"/>
                <a:cs typeface="Comic Sans MS"/>
              </a:rPr>
              <a:t>univ-ontology: student </a:t>
            </a:r>
            <a:r>
              <a:rPr sz="2400" dirty="0">
                <a:latin typeface="Comic Sans MS"/>
                <a:cs typeface="Comic Sans MS"/>
              </a:rPr>
              <a:t>and </a:t>
            </a:r>
            <a:r>
              <a:rPr sz="2400" spc="-5" dirty="0">
                <a:latin typeface="Comic Sans MS"/>
                <a:cs typeface="Comic Sans MS"/>
              </a:rPr>
              <a:t>professor are two  classes</a:t>
            </a:r>
            <a:endParaRPr sz="2400">
              <a:latin typeface="Comic Sans MS"/>
              <a:cs typeface="Comic Sans MS"/>
            </a:endParaRPr>
          </a:p>
          <a:p>
            <a:pPr marL="1024890" lvl="1" indent="-285750">
              <a:lnSpc>
                <a:spcPct val="100000"/>
              </a:lnSpc>
              <a:spcBef>
                <a:spcPts val="720"/>
              </a:spcBef>
              <a:buChar char="–"/>
              <a:tabLst>
                <a:tab pos="1024890" algn="l"/>
              </a:tabLst>
            </a:pPr>
            <a:r>
              <a:rPr sz="3200" spc="-5" dirty="0">
                <a:latin typeface="Comic Sans MS"/>
                <a:cs typeface="Comic Sans MS"/>
              </a:rPr>
              <a:t>relations:</a:t>
            </a:r>
            <a:endParaRPr sz="3200">
              <a:latin typeface="Comic Sans MS"/>
              <a:cs typeface="Comic Sans MS"/>
            </a:endParaRPr>
          </a:p>
          <a:p>
            <a:pPr marL="1424305" marR="169545" lvl="2" indent="-228600">
              <a:lnSpc>
                <a:spcPct val="100699"/>
              </a:lnSpc>
              <a:spcBef>
                <a:spcPts val="570"/>
              </a:spcBef>
              <a:buChar char="•"/>
              <a:tabLst>
                <a:tab pos="1424940" algn="l"/>
              </a:tabLst>
            </a:pPr>
            <a:r>
              <a:rPr sz="2400" dirty="0">
                <a:latin typeface="Comic Sans MS"/>
                <a:cs typeface="Comic Sans MS"/>
              </a:rPr>
              <a:t>a </a:t>
            </a:r>
            <a:r>
              <a:rPr sz="2400" spc="-5" dirty="0">
                <a:latin typeface="Comic Sans MS"/>
                <a:cs typeface="Comic Sans MS"/>
              </a:rPr>
              <a:t>type </a:t>
            </a:r>
            <a:r>
              <a:rPr sz="2400" dirty="0">
                <a:latin typeface="Comic Sans MS"/>
                <a:cs typeface="Comic Sans MS"/>
              </a:rPr>
              <a:t>of </a:t>
            </a:r>
            <a:r>
              <a:rPr sz="2400" spc="-5" dirty="0">
                <a:latin typeface="Comic Sans MS"/>
                <a:cs typeface="Comic Sans MS"/>
              </a:rPr>
              <a:t>interaction between concepts </a:t>
            </a:r>
            <a:r>
              <a:rPr sz="2400" dirty="0">
                <a:latin typeface="Comic Sans MS"/>
                <a:cs typeface="Comic Sans MS"/>
              </a:rPr>
              <a:t>of </a:t>
            </a:r>
            <a:r>
              <a:rPr sz="2400" spc="-5" dirty="0">
                <a:latin typeface="Comic Sans MS"/>
                <a:cs typeface="Comic Sans MS"/>
              </a:rPr>
              <a:t>the  domain</a:t>
            </a:r>
            <a:endParaRPr sz="2400">
              <a:latin typeface="Comic Sans MS"/>
              <a:cs typeface="Comic Sans MS"/>
            </a:endParaRPr>
          </a:p>
          <a:p>
            <a:pPr marL="1424940" lvl="2" indent="-229235">
              <a:lnSpc>
                <a:spcPct val="100000"/>
              </a:lnSpc>
              <a:spcBef>
                <a:spcPts val="590"/>
              </a:spcBef>
              <a:buChar char="•"/>
              <a:tabLst>
                <a:tab pos="1424940" algn="l"/>
              </a:tabLst>
            </a:pPr>
            <a:r>
              <a:rPr sz="2400" spc="-5" dirty="0">
                <a:latin typeface="Comic Sans MS"/>
                <a:cs typeface="Comic Sans MS"/>
              </a:rPr>
              <a:t>such as: subclass-of,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is-a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9287" y="522414"/>
            <a:ext cx="75438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Main components of an Ontology</a:t>
            </a:r>
            <a:r>
              <a:rPr sz="3200" spc="-45" dirty="0"/>
              <a:t> </a:t>
            </a:r>
            <a:r>
              <a:rPr sz="3200" dirty="0"/>
              <a:t>(Cont.)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12140" y="1074066"/>
            <a:ext cx="7847965" cy="53092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Comic Sans MS"/>
                <a:cs typeface="Comic Sans MS"/>
              </a:rPr>
              <a:t>Five </a:t>
            </a:r>
            <a:r>
              <a:rPr sz="2800" spc="-5" dirty="0">
                <a:latin typeface="Comic Sans MS"/>
                <a:cs typeface="Comic Sans MS"/>
              </a:rPr>
              <a:t>kinds </a:t>
            </a:r>
            <a:r>
              <a:rPr sz="2800" dirty="0">
                <a:latin typeface="Comic Sans MS"/>
                <a:cs typeface="Comic Sans MS"/>
              </a:rPr>
              <a:t>of</a:t>
            </a:r>
            <a:r>
              <a:rPr sz="2800" spc="-5" dirty="0">
                <a:latin typeface="Comic Sans MS"/>
                <a:cs typeface="Comic Sans MS"/>
              </a:rPr>
              <a:t> components:</a:t>
            </a:r>
            <a:endParaRPr sz="28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Comic Sans MS"/>
                <a:cs typeface="Comic Sans MS"/>
              </a:rPr>
              <a:t>functions:</a:t>
            </a:r>
            <a:endParaRPr sz="2400">
              <a:latin typeface="Comic Sans MS"/>
              <a:cs typeface="Comic Sans MS"/>
            </a:endParaRPr>
          </a:p>
          <a:p>
            <a:pPr marL="1155065" marR="279400" lvl="2" indent="-228600">
              <a:lnSpc>
                <a:spcPts val="2130"/>
              </a:lnSpc>
              <a:spcBef>
                <a:spcPts val="585"/>
              </a:spcBef>
              <a:buChar char="•"/>
              <a:tabLst>
                <a:tab pos="1155065" algn="l"/>
                <a:tab pos="1155700" algn="l"/>
              </a:tabLst>
            </a:pPr>
            <a:r>
              <a:rPr sz="1800" dirty="0">
                <a:latin typeface="Comic Sans MS"/>
                <a:cs typeface="Comic Sans MS"/>
              </a:rPr>
              <a:t>a </a:t>
            </a:r>
            <a:r>
              <a:rPr sz="1800" spc="-5" dirty="0">
                <a:latin typeface="Comic Sans MS"/>
                <a:cs typeface="Comic Sans MS"/>
              </a:rPr>
              <a:t>special case </a:t>
            </a:r>
            <a:r>
              <a:rPr sz="1800" dirty="0">
                <a:latin typeface="Comic Sans MS"/>
                <a:cs typeface="Comic Sans MS"/>
              </a:rPr>
              <a:t>of </a:t>
            </a:r>
            <a:r>
              <a:rPr sz="1800" spc="-5" dirty="0">
                <a:latin typeface="Comic Sans MS"/>
                <a:cs typeface="Comic Sans MS"/>
              </a:rPr>
              <a:t>relations in which the n-the element </a:t>
            </a:r>
            <a:r>
              <a:rPr sz="1800" dirty="0">
                <a:latin typeface="Comic Sans MS"/>
                <a:cs typeface="Comic Sans MS"/>
              </a:rPr>
              <a:t>of </a:t>
            </a:r>
            <a:r>
              <a:rPr sz="1800" spc="-5" dirty="0">
                <a:latin typeface="Comic Sans MS"/>
                <a:cs typeface="Comic Sans MS"/>
              </a:rPr>
              <a:t>the  relationship is unique for the n-1 preceding elements</a:t>
            </a:r>
            <a:endParaRPr sz="1800">
              <a:latin typeface="Comic Sans MS"/>
              <a:cs typeface="Comic Sans MS"/>
            </a:endParaRPr>
          </a:p>
          <a:p>
            <a:pPr marL="1155065" marR="5080" lvl="2" indent="-228600">
              <a:lnSpc>
                <a:spcPct val="100000"/>
              </a:lnSpc>
              <a:spcBef>
                <a:spcPts val="375"/>
              </a:spcBef>
              <a:buChar char="•"/>
              <a:tabLst>
                <a:tab pos="1155065" algn="l"/>
                <a:tab pos="1155700" algn="l"/>
                <a:tab pos="4684395" algn="l"/>
              </a:tabLst>
            </a:pPr>
            <a:r>
              <a:rPr sz="1800" spc="-5" dirty="0">
                <a:latin typeface="Comic Sans MS"/>
                <a:cs typeface="Comic Sans MS"/>
              </a:rPr>
              <a:t>Such as: Price-of-a-used-car </a:t>
            </a:r>
            <a:r>
              <a:rPr sz="1800" dirty="0">
                <a:latin typeface="Comic Sans MS"/>
                <a:cs typeface="Comic Sans MS"/>
              </a:rPr>
              <a:t>can </a:t>
            </a:r>
            <a:r>
              <a:rPr sz="1800" spc="-5" dirty="0">
                <a:latin typeface="Comic Sans MS"/>
                <a:cs typeface="Comic Sans MS"/>
              </a:rPr>
              <a:t>define the calculation </a:t>
            </a:r>
            <a:r>
              <a:rPr sz="1800" dirty="0">
                <a:latin typeface="Comic Sans MS"/>
                <a:cs typeface="Comic Sans MS"/>
              </a:rPr>
              <a:t>of </a:t>
            </a:r>
            <a:r>
              <a:rPr sz="1800" spc="-5" dirty="0">
                <a:latin typeface="Comic Sans MS"/>
                <a:cs typeface="Comic Sans MS"/>
              </a:rPr>
              <a:t>the  price </a:t>
            </a:r>
            <a:r>
              <a:rPr sz="1800" dirty="0">
                <a:latin typeface="Comic Sans MS"/>
                <a:cs typeface="Comic Sans MS"/>
              </a:rPr>
              <a:t>of </a:t>
            </a:r>
            <a:r>
              <a:rPr sz="1800" spc="-5" dirty="0">
                <a:latin typeface="Comic Sans MS"/>
                <a:cs typeface="Comic Sans MS"/>
              </a:rPr>
              <a:t>the second-hand</a:t>
            </a:r>
            <a:r>
              <a:rPr sz="1800" spc="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car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on	</a:t>
            </a:r>
            <a:r>
              <a:rPr sz="1800" spc="-5" dirty="0">
                <a:latin typeface="Comic Sans MS"/>
                <a:cs typeface="Comic Sans MS"/>
              </a:rPr>
              <a:t>the car-model, manufacturing  </a:t>
            </a:r>
            <a:r>
              <a:rPr sz="1800" dirty="0">
                <a:latin typeface="Comic Sans MS"/>
                <a:cs typeface="Comic Sans MS"/>
              </a:rPr>
              <a:t>data </a:t>
            </a:r>
            <a:r>
              <a:rPr sz="1800" spc="-5" dirty="0">
                <a:latin typeface="Comic Sans MS"/>
                <a:cs typeface="Comic Sans MS"/>
              </a:rPr>
              <a:t>and kilometres</a:t>
            </a:r>
            <a:endParaRPr sz="18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55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Comic Sans MS"/>
                <a:cs typeface="Comic Sans MS"/>
              </a:rPr>
              <a:t>axioms</a:t>
            </a:r>
            <a:endParaRPr sz="2400">
              <a:latin typeface="Comic Sans MS"/>
              <a:cs typeface="Comic Sans MS"/>
            </a:endParaRPr>
          </a:p>
          <a:p>
            <a:pPr marL="1155700" lvl="2" indent="-228600">
              <a:lnSpc>
                <a:spcPct val="100000"/>
              </a:lnSpc>
              <a:spcBef>
                <a:spcPts val="455"/>
              </a:spcBef>
              <a:buChar char="•"/>
              <a:tabLst>
                <a:tab pos="1155065" algn="l"/>
                <a:tab pos="1155700" algn="l"/>
              </a:tabLst>
            </a:pPr>
            <a:r>
              <a:rPr sz="1800" dirty="0">
                <a:latin typeface="Comic Sans MS"/>
                <a:cs typeface="Comic Sans MS"/>
              </a:rPr>
              <a:t>model </a:t>
            </a:r>
            <a:r>
              <a:rPr sz="1800" spc="-5" dirty="0">
                <a:latin typeface="Comic Sans MS"/>
                <a:cs typeface="Comic Sans MS"/>
              </a:rPr>
              <a:t>sentences that are always true</a:t>
            </a:r>
            <a:endParaRPr sz="1800">
              <a:latin typeface="Comic Sans MS"/>
              <a:cs typeface="Comic Sans MS"/>
            </a:endParaRPr>
          </a:p>
          <a:p>
            <a:pPr marL="1155065" marR="207010" lvl="2" indent="-228600">
              <a:lnSpc>
                <a:spcPct val="100000"/>
              </a:lnSpc>
              <a:spcBef>
                <a:spcPts val="439"/>
              </a:spcBef>
              <a:buChar char="•"/>
              <a:tabLst>
                <a:tab pos="1155065" algn="l"/>
                <a:tab pos="1155700" algn="l"/>
              </a:tabLst>
            </a:pPr>
            <a:r>
              <a:rPr sz="1800" spc="-5" dirty="0">
                <a:latin typeface="Comic Sans MS"/>
                <a:cs typeface="Comic Sans MS"/>
              </a:rPr>
              <a:t>such as: if the student attends both </a:t>
            </a:r>
            <a:r>
              <a:rPr sz="1800" dirty="0">
                <a:latin typeface="Comic Sans MS"/>
                <a:cs typeface="Comic Sans MS"/>
              </a:rPr>
              <a:t>A </a:t>
            </a:r>
            <a:r>
              <a:rPr sz="1800" spc="-5" dirty="0">
                <a:latin typeface="Comic Sans MS"/>
                <a:cs typeface="Comic Sans MS"/>
              </a:rPr>
              <a:t>and </a:t>
            </a:r>
            <a:r>
              <a:rPr sz="1800" dirty="0">
                <a:latin typeface="Comic Sans MS"/>
                <a:cs typeface="Comic Sans MS"/>
              </a:rPr>
              <a:t>B </a:t>
            </a:r>
            <a:r>
              <a:rPr sz="1800" spc="-5" dirty="0">
                <a:latin typeface="Comic Sans MS"/>
                <a:cs typeface="Comic Sans MS"/>
              </a:rPr>
              <a:t>course, then he  </a:t>
            </a:r>
            <a:r>
              <a:rPr sz="1800" dirty="0">
                <a:latin typeface="Comic Sans MS"/>
                <a:cs typeface="Comic Sans MS"/>
              </a:rPr>
              <a:t>or </a:t>
            </a:r>
            <a:r>
              <a:rPr sz="1800" spc="-5" dirty="0">
                <a:latin typeface="Comic Sans MS"/>
                <a:cs typeface="Comic Sans MS"/>
              </a:rPr>
              <a:t>she must be </a:t>
            </a:r>
            <a:r>
              <a:rPr sz="1800" dirty="0">
                <a:latin typeface="Comic Sans MS"/>
                <a:cs typeface="Comic Sans MS"/>
              </a:rPr>
              <a:t>a </a:t>
            </a:r>
            <a:r>
              <a:rPr sz="1800" spc="-5" dirty="0">
                <a:latin typeface="Comic Sans MS"/>
                <a:cs typeface="Comic Sans MS"/>
              </a:rPr>
              <a:t>second </a:t>
            </a:r>
            <a:r>
              <a:rPr sz="1800" dirty="0">
                <a:latin typeface="Comic Sans MS"/>
                <a:cs typeface="Comic Sans MS"/>
              </a:rPr>
              <a:t>year </a:t>
            </a:r>
            <a:r>
              <a:rPr sz="1800" spc="-5" dirty="0">
                <a:latin typeface="Comic Sans MS"/>
                <a:cs typeface="Comic Sans MS"/>
              </a:rPr>
              <a:t>student</a:t>
            </a:r>
            <a:endParaRPr sz="18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54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Comic Sans MS"/>
                <a:cs typeface="Comic Sans MS"/>
              </a:rPr>
              <a:t>instances</a:t>
            </a:r>
            <a:endParaRPr sz="2400">
              <a:latin typeface="Comic Sans MS"/>
              <a:cs typeface="Comic Sans MS"/>
            </a:endParaRPr>
          </a:p>
          <a:p>
            <a:pPr marL="1155700" lvl="2" indent="-228600">
              <a:lnSpc>
                <a:spcPct val="100000"/>
              </a:lnSpc>
              <a:spcBef>
                <a:spcPts val="484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Comic Sans MS"/>
                <a:cs typeface="Comic Sans MS"/>
              </a:rPr>
              <a:t>to </a:t>
            </a:r>
            <a:r>
              <a:rPr sz="2000" dirty="0">
                <a:latin typeface="Comic Sans MS"/>
                <a:cs typeface="Comic Sans MS"/>
              </a:rPr>
              <a:t>represent </a:t>
            </a:r>
            <a:r>
              <a:rPr sz="2000" spc="-5" dirty="0">
                <a:latin typeface="Comic Sans MS"/>
                <a:cs typeface="Comic Sans MS"/>
              </a:rPr>
              <a:t>specific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elements</a:t>
            </a:r>
            <a:endParaRPr sz="2000">
              <a:latin typeface="Comic Sans MS"/>
              <a:cs typeface="Comic Sans MS"/>
            </a:endParaRPr>
          </a:p>
          <a:p>
            <a:pPr marL="1155065" marR="12065" lvl="2" indent="-228600">
              <a:lnSpc>
                <a:spcPct val="100000"/>
              </a:lnSpc>
              <a:spcBef>
                <a:spcPts val="50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Comic Sans MS"/>
                <a:cs typeface="Comic Sans MS"/>
              </a:rPr>
              <a:t>such </a:t>
            </a:r>
            <a:r>
              <a:rPr sz="2000" dirty="0">
                <a:latin typeface="Comic Sans MS"/>
                <a:cs typeface="Comic Sans MS"/>
              </a:rPr>
              <a:t>as: </a:t>
            </a:r>
            <a:r>
              <a:rPr sz="2000" spc="-5" dirty="0">
                <a:latin typeface="Comic Sans MS"/>
                <a:cs typeface="Comic Sans MS"/>
              </a:rPr>
              <a:t>Student </a:t>
            </a:r>
            <a:r>
              <a:rPr sz="2000" dirty="0">
                <a:latin typeface="Comic Sans MS"/>
                <a:cs typeface="Comic Sans MS"/>
              </a:rPr>
              <a:t>called </a:t>
            </a:r>
            <a:r>
              <a:rPr sz="2000" spc="-5" dirty="0">
                <a:latin typeface="Comic Sans MS"/>
                <a:cs typeface="Comic Sans MS"/>
              </a:rPr>
              <a:t>Peter </a:t>
            </a:r>
            <a:r>
              <a:rPr sz="2000" dirty="0">
                <a:latin typeface="Comic Sans MS"/>
                <a:cs typeface="Comic Sans MS"/>
              </a:rPr>
              <a:t>is </a:t>
            </a:r>
            <a:r>
              <a:rPr sz="2000" spc="-10" dirty="0">
                <a:latin typeface="Comic Sans MS"/>
                <a:cs typeface="Comic Sans MS"/>
              </a:rPr>
              <a:t>the </a:t>
            </a:r>
            <a:r>
              <a:rPr sz="2000" spc="-5" dirty="0">
                <a:latin typeface="Comic Sans MS"/>
                <a:cs typeface="Comic Sans MS"/>
              </a:rPr>
              <a:t>instance of Student  class</a:t>
            </a:r>
            <a:endParaRPr sz="2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7881" y="803465"/>
            <a:ext cx="49523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Kinds of</a:t>
            </a:r>
            <a:r>
              <a:rPr spc="-45" dirty="0"/>
              <a:t> </a:t>
            </a:r>
            <a:r>
              <a:rPr spc="-5" dirty="0"/>
              <a:t>ontologies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7992"/>
            <a:ext cx="7407909" cy="38512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2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Knowledge Representation ontologies</a:t>
            </a:r>
            <a:endParaRPr sz="2400">
              <a:latin typeface="Comic Sans MS"/>
              <a:cs typeface="Comic Sans MS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20"/>
              </a:spcBef>
              <a:buChar char="–"/>
              <a:tabLst>
                <a:tab pos="755015" algn="l"/>
                <a:tab pos="755650" algn="l"/>
                <a:tab pos="2399665" algn="l"/>
              </a:tabLst>
            </a:pPr>
            <a:r>
              <a:rPr sz="2000" spc="-5" dirty="0">
                <a:latin typeface="Comic Sans MS"/>
                <a:cs typeface="Comic Sans MS"/>
              </a:rPr>
              <a:t>capture </a:t>
            </a:r>
            <a:r>
              <a:rPr sz="2000" spc="-10" dirty="0">
                <a:latin typeface="Comic Sans MS"/>
                <a:cs typeface="Comic Sans MS"/>
              </a:rPr>
              <a:t>the </a:t>
            </a:r>
            <a:r>
              <a:rPr sz="2000" spc="-5" dirty="0">
                <a:latin typeface="Comic Sans MS"/>
                <a:cs typeface="Comic Sans MS"/>
              </a:rPr>
              <a:t>representation primitives </a:t>
            </a:r>
            <a:r>
              <a:rPr sz="2000" dirty="0">
                <a:latin typeface="Comic Sans MS"/>
                <a:cs typeface="Comic Sans MS"/>
              </a:rPr>
              <a:t>used </a:t>
            </a:r>
            <a:r>
              <a:rPr sz="2000" spc="-5" dirty="0">
                <a:latin typeface="Comic Sans MS"/>
                <a:cs typeface="Comic Sans MS"/>
              </a:rPr>
              <a:t>to formalize  knowledge</a:t>
            </a:r>
            <a:r>
              <a:rPr sz="2000" spc="1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in	KR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paradigm</a:t>
            </a:r>
            <a:endParaRPr sz="20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46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omic Sans MS"/>
                <a:cs typeface="Comic Sans MS"/>
              </a:rPr>
              <a:t>such </a:t>
            </a:r>
            <a:r>
              <a:rPr sz="2000" dirty="0">
                <a:latin typeface="Comic Sans MS"/>
                <a:cs typeface="Comic Sans MS"/>
              </a:rPr>
              <a:t>as: </a:t>
            </a:r>
            <a:r>
              <a:rPr sz="2000" spc="-5" dirty="0">
                <a:latin typeface="Comic Sans MS"/>
                <a:cs typeface="Comic Sans MS"/>
              </a:rPr>
              <a:t>Frame-Ontology</a:t>
            </a:r>
            <a:endParaRPr sz="20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56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General/Common ontologies</a:t>
            </a:r>
            <a:endParaRPr sz="24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489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omic Sans MS"/>
                <a:cs typeface="Comic Sans MS"/>
              </a:rPr>
              <a:t>vocabulary related to things, events, time, </a:t>
            </a:r>
            <a:r>
              <a:rPr sz="2000" dirty="0">
                <a:latin typeface="Comic Sans MS"/>
                <a:cs typeface="Comic Sans MS"/>
              </a:rPr>
              <a:t>space,</a:t>
            </a:r>
            <a:r>
              <a:rPr sz="2000" spc="2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etc.</a:t>
            </a:r>
            <a:endParaRPr sz="20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50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omic Sans MS"/>
                <a:cs typeface="Comic Sans MS"/>
              </a:rPr>
              <a:t>such </a:t>
            </a:r>
            <a:r>
              <a:rPr sz="2000" dirty="0">
                <a:latin typeface="Comic Sans MS"/>
                <a:cs typeface="Comic Sans MS"/>
              </a:rPr>
              <a:t>as: </a:t>
            </a:r>
            <a:r>
              <a:rPr sz="2000" spc="-5" dirty="0">
                <a:latin typeface="Comic Sans MS"/>
                <a:cs typeface="Comic Sans MS"/>
              </a:rPr>
              <a:t>meter </a:t>
            </a:r>
            <a:r>
              <a:rPr sz="2000" dirty="0">
                <a:latin typeface="Comic Sans MS"/>
                <a:cs typeface="Comic Sans MS"/>
              </a:rPr>
              <a:t>and </a:t>
            </a:r>
            <a:r>
              <a:rPr sz="2000" spc="-5" dirty="0">
                <a:latin typeface="Comic Sans MS"/>
                <a:cs typeface="Comic Sans MS"/>
              </a:rPr>
              <a:t>inch exchange</a:t>
            </a:r>
            <a:r>
              <a:rPr sz="2000" spc="1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table</a:t>
            </a:r>
            <a:endParaRPr sz="20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Meta-ontologies</a:t>
            </a:r>
            <a:endParaRPr sz="24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omic Sans MS"/>
                <a:cs typeface="Comic Sans MS"/>
              </a:rPr>
              <a:t>reusable across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domains</a:t>
            </a:r>
            <a:endParaRPr sz="20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47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omic Sans MS"/>
                <a:cs typeface="Comic Sans MS"/>
              </a:rPr>
              <a:t>such </a:t>
            </a:r>
            <a:r>
              <a:rPr sz="2000" dirty="0">
                <a:latin typeface="Comic Sans MS"/>
                <a:cs typeface="Comic Sans MS"/>
              </a:rPr>
              <a:t>as: </a:t>
            </a:r>
            <a:r>
              <a:rPr sz="2000" spc="-5" dirty="0">
                <a:latin typeface="Comic Sans MS"/>
                <a:cs typeface="Comic Sans MS"/>
              </a:rPr>
              <a:t>mereology ontology (Borst, </a:t>
            </a:r>
            <a:r>
              <a:rPr sz="2000" dirty="0">
                <a:latin typeface="Comic Sans MS"/>
                <a:cs typeface="Comic Sans MS"/>
              </a:rPr>
              <a:t>97)</a:t>
            </a:r>
            <a:endParaRPr sz="2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7881" y="498665"/>
            <a:ext cx="49523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Kinds of</a:t>
            </a:r>
            <a:r>
              <a:rPr spc="-45" dirty="0"/>
              <a:t> </a:t>
            </a:r>
            <a:r>
              <a:rPr spc="-5" dirty="0"/>
              <a:t>ontologies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330748"/>
            <a:ext cx="7235190" cy="49460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omic Sans MS"/>
                <a:cs typeface="Comic Sans MS"/>
              </a:rPr>
              <a:t>Domain ontologies</a:t>
            </a:r>
            <a:endParaRPr sz="20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omic Sans MS"/>
                <a:cs typeface="Comic Sans MS"/>
              </a:rPr>
              <a:t>vocabularies about the concepts in </a:t>
            </a:r>
            <a:r>
              <a:rPr sz="1800" dirty="0">
                <a:latin typeface="Comic Sans MS"/>
                <a:cs typeface="Comic Sans MS"/>
              </a:rPr>
              <a:t>a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domain</a:t>
            </a:r>
            <a:endParaRPr sz="1800">
              <a:latin typeface="Comic Sans MS"/>
              <a:cs typeface="Comic Sans MS"/>
            </a:endParaRPr>
          </a:p>
          <a:p>
            <a:pPr marL="755650" marR="257175" lvl="1" indent="-285750">
              <a:lnSpc>
                <a:spcPct val="100000"/>
              </a:lnSpc>
              <a:spcBef>
                <a:spcPts val="440"/>
              </a:spcBef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omic Sans MS"/>
                <a:cs typeface="Comic Sans MS"/>
              </a:rPr>
              <a:t>such as: the theory </a:t>
            </a:r>
            <a:r>
              <a:rPr sz="1800" dirty="0">
                <a:latin typeface="Comic Sans MS"/>
                <a:cs typeface="Comic Sans MS"/>
              </a:rPr>
              <a:t>or </a:t>
            </a:r>
            <a:r>
              <a:rPr sz="1800" spc="-5" dirty="0">
                <a:latin typeface="Comic Sans MS"/>
                <a:cs typeface="Comic Sans MS"/>
              </a:rPr>
              <a:t>elementary principles governing the  domain</a:t>
            </a:r>
            <a:endParaRPr sz="18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omic Sans MS"/>
                <a:cs typeface="Comic Sans MS"/>
              </a:rPr>
              <a:t>Task</a:t>
            </a:r>
            <a:r>
              <a:rPr sz="2000" spc="-8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ontologies</a:t>
            </a:r>
            <a:endParaRPr sz="2000">
              <a:latin typeface="Comic Sans MS"/>
              <a:cs typeface="Comic Sans MS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430"/>
              </a:spcBef>
              <a:buChar char="–"/>
              <a:tabLst>
                <a:tab pos="755015" algn="l"/>
                <a:tab pos="755650" algn="l"/>
              </a:tabLst>
            </a:pPr>
            <a:r>
              <a:rPr sz="1800" dirty="0">
                <a:latin typeface="Comic Sans MS"/>
                <a:cs typeface="Comic Sans MS"/>
              </a:rPr>
              <a:t>a </a:t>
            </a:r>
            <a:r>
              <a:rPr sz="1800" spc="-5" dirty="0">
                <a:latin typeface="Comic Sans MS"/>
                <a:cs typeface="Comic Sans MS"/>
              </a:rPr>
              <a:t>systematic vocabulary </a:t>
            </a:r>
            <a:r>
              <a:rPr sz="1800" dirty="0">
                <a:latin typeface="Comic Sans MS"/>
                <a:cs typeface="Comic Sans MS"/>
              </a:rPr>
              <a:t>of </a:t>
            </a:r>
            <a:r>
              <a:rPr sz="1800" spc="-5" dirty="0">
                <a:latin typeface="Comic Sans MS"/>
                <a:cs typeface="Comic Sans MS"/>
              </a:rPr>
              <a:t>the terms used </a:t>
            </a:r>
            <a:r>
              <a:rPr sz="1800" dirty="0">
                <a:latin typeface="Comic Sans MS"/>
                <a:cs typeface="Comic Sans MS"/>
              </a:rPr>
              <a:t>to </a:t>
            </a:r>
            <a:r>
              <a:rPr sz="1800" spc="-5" dirty="0">
                <a:latin typeface="Comic Sans MS"/>
                <a:cs typeface="Comic Sans MS"/>
              </a:rPr>
              <a:t>solve problems  associated </a:t>
            </a:r>
            <a:r>
              <a:rPr sz="1800" dirty="0">
                <a:latin typeface="Comic Sans MS"/>
                <a:cs typeface="Comic Sans MS"/>
              </a:rPr>
              <a:t>with </a:t>
            </a:r>
            <a:r>
              <a:rPr sz="1800" spc="-5" dirty="0">
                <a:latin typeface="Comic Sans MS"/>
                <a:cs typeface="Comic Sans MS"/>
              </a:rPr>
              <a:t>tasks that </a:t>
            </a:r>
            <a:r>
              <a:rPr sz="1800" dirty="0">
                <a:latin typeface="Comic Sans MS"/>
                <a:cs typeface="Comic Sans MS"/>
              </a:rPr>
              <a:t>may or may </a:t>
            </a:r>
            <a:r>
              <a:rPr sz="1800" spc="-5" dirty="0">
                <a:latin typeface="Comic Sans MS"/>
                <a:cs typeface="Comic Sans MS"/>
              </a:rPr>
              <a:t>not from the same  domain</a:t>
            </a:r>
            <a:endParaRPr sz="18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420"/>
              </a:spcBef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omic Sans MS"/>
                <a:cs typeface="Comic Sans MS"/>
              </a:rPr>
              <a:t>such as: scheduling task</a:t>
            </a:r>
            <a:r>
              <a:rPr sz="180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ontology</a:t>
            </a:r>
            <a:endParaRPr sz="18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omic Sans MS"/>
                <a:cs typeface="Comic Sans MS"/>
              </a:rPr>
              <a:t>Domain-task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ontology</a:t>
            </a:r>
            <a:endParaRPr sz="20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omic Sans MS"/>
                <a:cs typeface="Comic Sans MS"/>
              </a:rPr>
              <a:t>task ontology reusable in </a:t>
            </a:r>
            <a:r>
              <a:rPr sz="1800" dirty="0">
                <a:latin typeface="Comic Sans MS"/>
                <a:cs typeface="Comic Sans MS"/>
              </a:rPr>
              <a:t>a </a:t>
            </a:r>
            <a:r>
              <a:rPr sz="1800" spc="-5" dirty="0">
                <a:latin typeface="Comic Sans MS"/>
                <a:cs typeface="Comic Sans MS"/>
              </a:rPr>
              <a:t>given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domain</a:t>
            </a:r>
            <a:endParaRPr sz="18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omic Sans MS"/>
                <a:cs typeface="Comic Sans MS"/>
              </a:rPr>
              <a:t>such as: scheduling task ontology for flight</a:t>
            </a:r>
            <a:r>
              <a:rPr sz="1800" spc="1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schedule</a:t>
            </a:r>
            <a:endParaRPr sz="18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47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omic Sans MS"/>
                <a:cs typeface="Comic Sans MS"/>
              </a:rPr>
              <a:t>Application</a:t>
            </a:r>
            <a:r>
              <a:rPr sz="200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ontology</a:t>
            </a:r>
            <a:endParaRPr sz="20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omic Sans MS"/>
                <a:cs typeface="Comic Sans MS"/>
              </a:rPr>
              <a:t>necessary knowledge for modeling </a:t>
            </a:r>
            <a:r>
              <a:rPr sz="1800" dirty="0">
                <a:latin typeface="Comic Sans MS"/>
                <a:cs typeface="Comic Sans MS"/>
              </a:rPr>
              <a:t>a </a:t>
            </a:r>
            <a:r>
              <a:rPr sz="1800" spc="-5" dirty="0">
                <a:latin typeface="Comic Sans MS"/>
                <a:cs typeface="Comic Sans MS"/>
              </a:rPr>
              <a:t>particular</a:t>
            </a:r>
            <a:r>
              <a:rPr sz="1800" spc="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domain</a:t>
            </a:r>
            <a:endParaRPr sz="18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omic Sans MS"/>
                <a:cs typeface="Comic Sans MS"/>
              </a:rPr>
              <a:t>such as: </a:t>
            </a:r>
            <a:r>
              <a:rPr sz="1800" spc="-10" dirty="0">
                <a:latin typeface="Comic Sans MS"/>
                <a:cs typeface="Comic Sans MS"/>
              </a:rPr>
              <a:t>????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8787" y="803465"/>
            <a:ext cx="56857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Ontology</a:t>
            </a:r>
            <a:r>
              <a:rPr spc="-70" dirty="0"/>
              <a:t> </a:t>
            </a:r>
            <a:r>
              <a:rPr spc="-5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96576"/>
            <a:ext cx="6947534" cy="243586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omic Sans MS"/>
                <a:cs typeface="Comic Sans MS"/>
              </a:rPr>
              <a:t>Knowledge Management</a:t>
            </a:r>
            <a:endParaRPr sz="32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omic Sans MS"/>
                <a:cs typeface="Comic Sans MS"/>
              </a:rPr>
              <a:t>Enterprise Application</a:t>
            </a:r>
            <a:r>
              <a:rPr sz="3200" spc="35" dirty="0">
                <a:latin typeface="Comic Sans MS"/>
                <a:cs typeface="Comic Sans MS"/>
              </a:rPr>
              <a:t> </a:t>
            </a:r>
            <a:r>
              <a:rPr sz="3200" spc="-5" dirty="0">
                <a:latin typeface="Comic Sans MS"/>
                <a:cs typeface="Comic Sans MS"/>
              </a:rPr>
              <a:t>Integration</a:t>
            </a:r>
            <a:endParaRPr sz="32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omic Sans MS"/>
                <a:cs typeface="Comic Sans MS"/>
              </a:rPr>
              <a:t>e-Commerce</a:t>
            </a:r>
            <a:endParaRPr sz="3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3600" spc="-10" dirty="0">
                <a:latin typeface="Comic Sans MS"/>
                <a:cs typeface="Comic Sans MS"/>
              </a:rPr>
              <a:t>More </a:t>
            </a:r>
            <a:r>
              <a:rPr sz="3600" spc="-5" dirty="0">
                <a:latin typeface="Comic Sans MS"/>
                <a:cs typeface="Comic Sans MS"/>
              </a:rPr>
              <a:t>goes </a:t>
            </a:r>
            <a:r>
              <a:rPr sz="3600" dirty="0">
                <a:latin typeface="Comic Sans MS"/>
                <a:cs typeface="Comic Sans MS"/>
              </a:rPr>
              <a:t>to </a:t>
            </a:r>
            <a:r>
              <a:rPr sz="3600" spc="-5" dirty="0">
                <a:latin typeface="Comic Sans MS"/>
                <a:cs typeface="Comic Sans MS"/>
              </a:rPr>
              <a:t>next</a:t>
            </a:r>
            <a:r>
              <a:rPr sz="3600" spc="-15" dirty="0">
                <a:latin typeface="Comic Sans MS"/>
                <a:cs typeface="Comic Sans MS"/>
              </a:rPr>
              <a:t> </a:t>
            </a:r>
            <a:r>
              <a:rPr sz="3600" spc="-5" dirty="0">
                <a:latin typeface="Comic Sans MS"/>
                <a:cs typeface="Comic Sans MS"/>
              </a:rPr>
              <a:t>Lecture</a:t>
            </a:r>
            <a:endParaRPr sz="36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5282374"/>
            <a:ext cx="718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tati</a:t>
            </a: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2739" y="4741722"/>
            <a:ext cx="2139950" cy="97790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3200" b="1" dirty="0">
                <a:solidFill>
                  <a:srgbClr val="660033"/>
                </a:solidFill>
                <a:latin typeface="Times New Roman"/>
                <a:cs typeface="Times New Roman"/>
              </a:rPr>
              <a:t>WWW</a:t>
            </a:r>
            <a:endParaRPr sz="3200">
              <a:latin typeface="Times New Roman"/>
              <a:cs typeface="Times New Roman"/>
            </a:endParaRPr>
          </a:p>
          <a:p>
            <a:pPr marL="7747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Times New Roman"/>
                <a:cs typeface="Times New Roman"/>
              </a:rPr>
              <a:t>URI, HTML,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HTTP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57502" y="1524000"/>
            <a:ext cx="4519124" cy="36958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37001" y="2097849"/>
            <a:ext cx="3305175" cy="7556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1197610">
              <a:lnSpc>
                <a:spcPts val="2870"/>
              </a:lnSpc>
              <a:spcBef>
                <a:spcPts val="200"/>
              </a:spcBef>
            </a:pP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500 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million</a:t>
            </a:r>
            <a:r>
              <a:rPr sz="2400" b="1" spc="-70" dirty="0">
                <a:solidFill>
                  <a:srgbClr val="660033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user  </a:t>
            </a:r>
            <a:r>
              <a:rPr sz="2400" b="1" spc="-15" dirty="0">
                <a:solidFill>
                  <a:srgbClr val="660033"/>
                </a:solidFill>
                <a:latin typeface="Times New Roman"/>
                <a:cs typeface="Times New Roman"/>
              </a:rPr>
              <a:t>more </a:t>
            </a: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than 3 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billion</a:t>
            </a:r>
            <a:r>
              <a:rPr sz="2400" b="1" spc="-45" dirty="0">
                <a:solidFill>
                  <a:srgbClr val="660033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pages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1600" y="1676400"/>
            <a:ext cx="0" cy="4419600"/>
          </a:xfrm>
          <a:custGeom>
            <a:avLst/>
            <a:gdLst/>
            <a:ahLst/>
            <a:cxnLst/>
            <a:rect l="l" t="t" r="r" b="b"/>
            <a:pathLst>
              <a:path h="4419600">
                <a:moveTo>
                  <a:pt x="0" y="0"/>
                </a:moveTo>
                <a:lnTo>
                  <a:pt x="1" y="4419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29631" y="193865"/>
            <a:ext cx="343725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Current</a:t>
            </a:r>
            <a:r>
              <a:rPr spc="-75" dirty="0"/>
              <a:t> </a:t>
            </a:r>
            <a:r>
              <a:rPr spc="-5" dirty="0"/>
              <a:t>Web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2806" y="574865"/>
            <a:ext cx="26441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</a:t>
            </a:r>
            <a:r>
              <a:rPr spc="-70" dirty="0"/>
              <a:t> </a:t>
            </a:r>
            <a:r>
              <a:rPr spc="-5" dirty="0"/>
              <a:t>vision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40065"/>
            <a:ext cx="7486015" cy="478155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5600" marR="737870" indent="-342900">
              <a:lnSpc>
                <a:spcPct val="100699"/>
              </a:lnSpc>
              <a:spcBef>
                <a:spcPts val="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omic Sans MS"/>
                <a:cs typeface="Comic Sans MS"/>
              </a:rPr>
              <a:t>The World Wide Web is a big and</a:t>
            </a:r>
            <a:r>
              <a:rPr sz="2400" spc="-14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impressive  success story, both </a:t>
            </a:r>
            <a:r>
              <a:rPr sz="2400" dirty="0">
                <a:latin typeface="Comic Sans MS"/>
                <a:cs typeface="Comic Sans MS"/>
              </a:rPr>
              <a:t>in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terms</a:t>
            </a:r>
            <a:endParaRPr sz="24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484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omic Sans MS"/>
                <a:cs typeface="Comic Sans MS"/>
              </a:rPr>
              <a:t>of the amount of </a:t>
            </a:r>
            <a:r>
              <a:rPr sz="2000" dirty="0">
                <a:latin typeface="Comic Sans MS"/>
                <a:cs typeface="Comic Sans MS"/>
              </a:rPr>
              <a:t>available </a:t>
            </a:r>
            <a:r>
              <a:rPr sz="2000" spc="-5" dirty="0">
                <a:latin typeface="Comic Sans MS"/>
                <a:cs typeface="Comic Sans MS"/>
              </a:rPr>
              <a:t>information</a:t>
            </a:r>
            <a:r>
              <a:rPr sz="2000" spc="1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and</a:t>
            </a:r>
            <a:endParaRPr sz="20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50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omic Sans MS"/>
                <a:cs typeface="Comic Sans MS"/>
              </a:rPr>
              <a:t>the growth rate of human</a:t>
            </a:r>
            <a:r>
              <a:rPr sz="200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users</a:t>
            </a:r>
            <a:endParaRPr sz="2000">
              <a:latin typeface="Comic Sans MS"/>
              <a:cs typeface="Comic Sans MS"/>
            </a:endParaRPr>
          </a:p>
          <a:p>
            <a:pPr marL="355600" marR="5080" indent="-342900">
              <a:lnSpc>
                <a:spcPct val="100699"/>
              </a:lnSpc>
              <a:spcBef>
                <a:spcPts val="51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omic Sans MS"/>
                <a:cs typeface="Comic Sans MS"/>
              </a:rPr>
              <a:t>It </a:t>
            </a:r>
            <a:r>
              <a:rPr sz="2400" spc="-10" dirty="0">
                <a:latin typeface="Comic Sans MS"/>
                <a:cs typeface="Comic Sans MS"/>
              </a:rPr>
              <a:t>starts </a:t>
            </a:r>
            <a:r>
              <a:rPr sz="2400" spc="-5" dirty="0">
                <a:latin typeface="Comic Sans MS"/>
                <a:cs typeface="Comic Sans MS"/>
              </a:rPr>
              <a:t>to penetrate most areas </a:t>
            </a:r>
            <a:r>
              <a:rPr sz="2400" dirty="0">
                <a:latin typeface="Comic Sans MS"/>
                <a:cs typeface="Comic Sans MS"/>
              </a:rPr>
              <a:t>of our daily</a:t>
            </a:r>
            <a:r>
              <a:rPr sz="2400" spc="-11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life  and</a:t>
            </a:r>
            <a:r>
              <a:rPr sz="2400" spc="-1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business.</a:t>
            </a:r>
            <a:endParaRPr sz="24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55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omic Sans MS"/>
                <a:cs typeface="Comic Sans MS"/>
              </a:rPr>
              <a:t>This </a:t>
            </a:r>
            <a:r>
              <a:rPr sz="2400" spc="-5" dirty="0">
                <a:latin typeface="Comic Sans MS"/>
                <a:cs typeface="Comic Sans MS"/>
              </a:rPr>
              <a:t>success </a:t>
            </a:r>
            <a:r>
              <a:rPr sz="2400" dirty="0">
                <a:latin typeface="Comic Sans MS"/>
                <a:cs typeface="Comic Sans MS"/>
              </a:rPr>
              <a:t>is </a:t>
            </a:r>
            <a:r>
              <a:rPr sz="2400" spc="-5" dirty="0">
                <a:latin typeface="Comic Sans MS"/>
                <a:cs typeface="Comic Sans MS"/>
              </a:rPr>
              <a:t>based </a:t>
            </a:r>
            <a:r>
              <a:rPr sz="2400" dirty="0">
                <a:latin typeface="Comic Sans MS"/>
                <a:cs typeface="Comic Sans MS"/>
              </a:rPr>
              <a:t>on </a:t>
            </a:r>
            <a:r>
              <a:rPr sz="2400" spc="-5" dirty="0">
                <a:latin typeface="Comic Sans MS"/>
                <a:cs typeface="Comic Sans MS"/>
              </a:rPr>
              <a:t>its</a:t>
            </a:r>
            <a:r>
              <a:rPr sz="2400" spc="-7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simplicity</a:t>
            </a:r>
            <a:endParaRPr sz="24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000">
              <a:latin typeface="Times New Roman"/>
              <a:cs typeface="Times New Roman"/>
            </a:endParaRPr>
          </a:p>
          <a:p>
            <a:pPr marL="355600" marR="376555" indent="19050">
              <a:lnSpc>
                <a:spcPct val="99900"/>
              </a:lnSpc>
            </a:pPr>
            <a:r>
              <a:rPr sz="2400" spc="-5" dirty="0">
                <a:latin typeface="Comic Sans MS"/>
                <a:cs typeface="Comic Sans MS"/>
              </a:rPr>
              <a:t>the restrictivenss </a:t>
            </a:r>
            <a:r>
              <a:rPr sz="2400" dirty="0">
                <a:latin typeface="Comic Sans MS"/>
                <a:cs typeface="Comic Sans MS"/>
              </a:rPr>
              <a:t>of HTTP and HTML </a:t>
            </a:r>
            <a:r>
              <a:rPr sz="2400" spc="-5" dirty="0">
                <a:latin typeface="Comic Sans MS"/>
                <a:cs typeface="Comic Sans MS"/>
              </a:rPr>
              <a:t>allowed  software developers, information providers </a:t>
            </a:r>
            <a:r>
              <a:rPr sz="2400" dirty="0">
                <a:latin typeface="Comic Sans MS"/>
                <a:cs typeface="Comic Sans MS"/>
              </a:rPr>
              <a:t>and  </a:t>
            </a:r>
            <a:r>
              <a:rPr sz="2400" spc="-5" dirty="0">
                <a:latin typeface="Comic Sans MS"/>
                <a:cs typeface="Comic Sans MS"/>
              </a:rPr>
              <a:t>users to make easy access </a:t>
            </a:r>
            <a:r>
              <a:rPr sz="2400" dirty="0">
                <a:latin typeface="Comic Sans MS"/>
                <a:cs typeface="Comic Sans MS"/>
              </a:rPr>
              <a:t>of </a:t>
            </a:r>
            <a:r>
              <a:rPr sz="2400" spc="-5" dirty="0">
                <a:latin typeface="Comic Sans MS"/>
                <a:cs typeface="Comic Sans MS"/>
              </a:rPr>
              <a:t>the </a:t>
            </a:r>
            <a:r>
              <a:rPr sz="2400" dirty="0">
                <a:latin typeface="Comic Sans MS"/>
                <a:cs typeface="Comic Sans MS"/>
              </a:rPr>
              <a:t>new </a:t>
            </a:r>
            <a:r>
              <a:rPr sz="2400" spc="-5" dirty="0">
                <a:latin typeface="Comic Sans MS"/>
                <a:cs typeface="Comic Sans MS"/>
              </a:rPr>
              <a:t>media  </a:t>
            </a:r>
            <a:r>
              <a:rPr sz="2400" dirty="0">
                <a:latin typeface="Comic Sans MS"/>
                <a:cs typeface="Comic Sans MS"/>
              </a:rPr>
              <a:t>helping it </a:t>
            </a:r>
            <a:r>
              <a:rPr sz="2400" spc="-5" dirty="0">
                <a:latin typeface="Comic Sans MS"/>
                <a:cs typeface="Comic Sans MS"/>
              </a:rPr>
              <a:t>to reach </a:t>
            </a:r>
            <a:r>
              <a:rPr sz="2400" dirty="0">
                <a:latin typeface="Comic Sans MS"/>
                <a:cs typeface="Comic Sans MS"/>
              </a:rPr>
              <a:t>a </a:t>
            </a:r>
            <a:r>
              <a:rPr sz="2400" spc="-5" dirty="0">
                <a:latin typeface="Comic Sans MS"/>
                <a:cs typeface="Comic Sans MS"/>
              </a:rPr>
              <a:t>critical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mass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88218" y="4343400"/>
            <a:ext cx="1221740" cy="457200"/>
          </a:xfrm>
          <a:custGeom>
            <a:avLst/>
            <a:gdLst/>
            <a:ahLst/>
            <a:cxnLst/>
            <a:rect l="l" t="t" r="r" b="b"/>
            <a:pathLst>
              <a:path w="1221739" h="457200">
                <a:moveTo>
                  <a:pt x="715186" y="0"/>
                </a:moveTo>
                <a:lnTo>
                  <a:pt x="715186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715186" y="342900"/>
                </a:lnTo>
                <a:lnTo>
                  <a:pt x="715186" y="457200"/>
                </a:lnTo>
                <a:lnTo>
                  <a:pt x="1221581" y="228600"/>
                </a:lnTo>
                <a:lnTo>
                  <a:pt x="71518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52487" y="4457700"/>
            <a:ext cx="90805" cy="228600"/>
          </a:xfrm>
          <a:custGeom>
            <a:avLst/>
            <a:gdLst/>
            <a:ahLst/>
            <a:cxnLst/>
            <a:rect l="l" t="t" r="r" b="b"/>
            <a:pathLst>
              <a:path w="90805" h="228600">
                <a:moveTo>
                  <a:pt x="0" y="228600"/>
                </a:moveTo>
                <a:lnTo>
                  <a:pt x="90487" y="228600"/>
                </a:lnTo>
                <a:lnTo>
                  <a:pt x="90487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4621" y="4457700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45243">
            <a:solidFill>
              <a:srgbClr val="00CC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88218" y="4343400"/>
            <a:ext cx="1221740" cy="457200"/>
          </a:xfrm>
          <a:custGeom>
            <a:avLst/>
            <a:gdLst/>
            <a:ahLst/>
            <a:cxnLst/>
            <a:rect l="l" t="t" r="r" b="b"/>
            <a:pathLst>
              <a:path w="1221739" h="457200">
                <a:moveTo>
                  <a:pt x="715186" y="0"/>
                </a:moveTo>
                <a:lnTo>
                  <a:pt x="715186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715186" y="342900"/>
                </a:lnTo>
                <a:lnTo>
                  <a:pt x="715186" y="457200"/>
                </a:lnTo>
                <a:lnTo>
                  <a:pt x="1221581" y="228600"/>
                </a:lnTo>
                <a:lnTo>
                  <a:pt x="71518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2487" y="4457700"/>
            <a:ext cx="90805" cy="228600"/>
          </a:xfrm>
          <a:custGeom>
            <a:avLst/>
            <a:gdLst/>
            <a:ahLst/>
            <a:cxnLst/>
            <a:rect l="l" t="t" r="r" b="b"/>
            <a:pathLst>
              <a:path w="90805" h="228600">
                <a:moveTo>
                  <a:pt x="0" y="0"/>
                </a:moveTo>
                <a:lnTo>
                  <a:pt x="90487" y="0"/>
                </a:lnTo>
                <a:lnTo>
                  <a:pt x="90487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2000" y="4457700"/>
            <a:ext cx="45720" cy="228600"/>
          </a:xfrm>
          <a:custGeom>
            <a:avLst/>
            <a:gdLst/>
            <a:ahLst/>
            <a:cxnLst/>
            <a:rect l="l" t="t" r="r" b="b"/>
            <a:pathLst>
              <a:path w="45720" h="228600">
                <a:moveTo>
                  <a:pt x="0" y="0"/>
                </a:moveTo>
                <a:lnTo>
                  <a:pt x="45243" y="0"/>
                </a:lnTo>
                <a:lnTo>
                  <a:pt x="45243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4368" y="803465"/>
            <a:ext cx="27362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</a:t>
            </a:r>
            <a:r>
              <a:rPr spc="-95" dirty="0"/>
              <a:t> </a:t>
            </a:r>
            <a:r>
              <a:rPr dirty="0"/>
              <a:t>Vision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93074"/>
            <a:ext cx="7599680" cy="4124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9685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omic Sans MS"/>
                <a:cs typeface="Comic Sans MS"/>
              </a:rPr>
              <a:t>However </a:t>
            </a:r>
            <a:r>
              <a:rPr sz="3200" dirty="0">
                <a:latin typeface="Comic Sans MS"/>
                <a:cs typeface="Comic Sans MS"/>
              </a:rPr>
              <a:t>this simplicity </a:t>
            </a:r>
            <a:r>
              <a:rPr sz="3200" spc="-5" dirty="0">
                <a:latin typeface="Comic Sans MS"/>
                <a:cs typeface="Comic Sans MS"/>
              </a:rPr>
              <a:t>may hamper  the further development </a:t>
            </a:r>
            <a:r>
              <a:rPr sz="3200" dirty="0">
                <a:latin typeface="Comic Sans MS"/>
                <a:cs typeface="Comic Sans MS"/>
              </a:rPr>
              <a:t>of </a:t>
            </a:r>
            <a:r>
              <a:rPr sz="3200" spc="-5" dirty="0">
                <a:latin typeface="Comic Sans MS"/>
                <a:cs typeface="Comic Sans MS"/>
              </a:rPr>
              <a:t>the</a:t>
            </a:r>
            <a:r>
              <a:rPr sz="3200" spc="10" dirty="0">
                <a:latin typeface="Comic Sans MS"/>
                <a:cs typeface="Comic Sans MS"/>
              </a:rPr>
              <a:t> </a:t>
            </a:r>
            <a:r>
              <a:rPr sz="3200" spc="-5" dirty="0">
                <a:latin typeface="Comic Sans MS"/>
                <a:cs typeface="Comic Sans MS"/>
              </a:rPr>
              <a:t>Web</a:t>
            </a:r>
            <a:endParaRPr sz="32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650">
              <a:latin typeface="Times New Roman"/>
              <a:cs typeface="Times New Roman"/>
            </a:endParaRPr>
          </a:p>
          <a:p>
            <a:pPr marL="355600" marR="5080" indent="-98425"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solidFill>
                  <a:srgbClr val="FF3300"/>
                </a:solidFill>
                <a:latin typeface="Comic Sans MS"/>
                <a:cs typeface="Comic Sans MS"/>
              </a:rPr>
              <a:t>What </a:t>
            </a:r>
            <a:r>
              <a:rPr sz="3200" dirty="0">
                <a:solidFill>
                  <a:srgbClr val="FF3300"/>
                </a:solidFill>
                <a:latin typeface="Comic Sans MS"/>
                <a:cs typeface="Comic Sans MS"/>
              </a:rPr>
              <a:t>we </a:t>
            </a:r>
            <a:r>
              <a:rPr sz="3200" spc="-5" dirty="0">
                <a:solidFill>
                  <a:srgbClr val="FF3300"/>
                </a:solidFill>
                <a:latin typeface="Comic Sans MS"/>
                <a:cs typeface="Comic Sans MS"/>
              </a:rPr>
              <a:t>see currently </a:t>
            </a:r>
            <a:r>
              <a:rPr sz="3200" dirty="0">
                <a:solidFill>
                  <a:srgbClr val="FF3300"/>
                </a:solidFill>
                <a:latin typeface="Comic Sans MS"/>
                <a:cs typeface="Comic Sans MS"/>
              </a:rPr>
              <a:t>is the very  first version of the </a:t>
            </a:r>
            <a:r>
              <a:rPr sz="3200" spc="-5" dirty="0">
                <a:solidFill>
                  <a:srgbClr val="FF3300"/>
                </a:solidFill>
                <a:latin typeface="Comic Sans MS"/>
                <a:cs typeface="Comic Sans MS"/>
              </a:rPr>
              <a:t>web </a:t>
            </a:r>
            <a:r>
              <a:rPr sz="3200" dirty="0">
                <a:solidFill>
                  <a:srgbClr val="FF3300"/>
                </a:solidFill>
                <a:latin typeface="Comic Sans MS"/>
                <a:cs typeface="Comic Sans MS"/>
              </a:rPr>
              <a:t>and the </a:t>
            </a:r>
            <a:r>
              <a:rPr sz="3200" spc="-5" dirty="0">
                <a:solidFill>
                  <a:srgbClr val="FF3300"/>
                </a:solidFill>
                <a:latin typeface="Comic Sans MS"/>
                <a:cs typeface="Comic Sans MS"/>
              </a:rPr>
              <a:t>next  version will probably even more bigger  and </a:t>
            </a:r>
            <a:r>
              <a:rPr sz="3200" dirty="0">
                <a:solidFill>
                  <a:srgbClr val="FF3300"/>
                </a:solidFill>
                <a:latin typeface="Comic Sans MS"/>
                <a:cs typeface="Comic Sans MS"/>
              </a:rPr>
              <a:t>much </a:t>
            </a:r>
            <a:r>
              <a:rPr sz="3200" spc="-5" dirty="0">
                <a:solidFill>
                  <a:srgbClr val="FF3300"/>
                </a:solidFill>
                <a:latin typeface="Comic Sans MS"/>
                <a:cs typeface="Comic Sans MS"/>
              </a:rPr>
              <a:t>powerful </a:t>
            </a:r>
            <a:r>
              <a:rPr sz="3200" dirty="0">
                <a:solidFill>
                  <a:srgbClr val="FF3300"/>
                </a:solidFill>
                <a:latin typeface="Comic Sans MS"/>
                <a:cs typeface="Comic Sans MS"/>
              </a:rPr>
              <a:t>compared to </a:t>
            </a:r>
            <a:r>
              <a:rPr sz="3200" spc="-5" dirty="0">
                <a:solidFill>
                  <a:srgbClr val="FF3300"/>
                </a:solidFill>
                <a:latin typeface="Comic Sans MS"/>
                <a:cs typeface="Comic Sans MS"/>
              </a:rPr>
              <a:t>what  we </a:t>
            </a:r>
            <a:r>
              <a:rPr sz="3200" dirty="0">
                <a:solidFill>
                  <a:srgbClr val="FF3300"/>
                </a:solidFill>
                <a:latin typeface="Comic Sans MS"/>
                <a:cs typeface="Comic Sans MS"/>
              </a:rPr>
              <a:t>have </a:t>
            </a:r>
            <a:r>
              <a:rPr sz="3200" spc="-5" dirty="0">
                <a:solidFill>
                  <a:srgbClr val="FF3300"/>
                </a:solidFill>
                <a:latin typeface="Comic Sans MS"/>
                <a:cs typeface="Comic Sans MS"/>
              </a:rPr>
              <a:t>now.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69243" y="3200400"/>
            <a:ext cx="1478915" cy="381000"/>
          </a:xfrm>
          <a:custGeom>
            <a:avLst/>
            <a:gdLst/>
            <a:ahLst/>
            <a:cxnLst/>
            <a:rect l="l" t="t" r="r" b="b"/>
            <a:pathLst>
              <a:path w="1478914" h="381000">
                <a:moveTo>
                  <a:pt x="1040606" y="0"/>
                </a:moveTo>
                <a:lnTo>
                  <a:pt x="1040606" y="95250"/>
                </a:lnTo>
                <a:lnTo>
                  <a:pt x="0" y="95250"/>
                </a:lnTo>
                <a:lnTo>
                  <a:pt x="0" y="285750"/>
                </a:lnTo>
                <a:lnTo>
                  <a:pt x="1040606" y="285750"/>
                </a:lnTo>
                <a:lnTo>
                  <a:pt x="1040606" y="381000"/>
                </a:lnTo>
                <a:lnTo>
                  <a:pt x="1478756" y="190500"/>
                </a:lnTo>
                <a:lnTo>
                  <a:pt x="104060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04937" y="3295650"/>
            <a:ext cx="109855" cy="190500"/>
          </a:xfrm>
          <a:custGeom>
            <a:avLst/>
            <a:gdLst/>
            <a:ahLst/>
            <a:cxnLst/>
            <a:rect l="l" t="t" r="r" b="b"/>
            <a:pathLst>
              <a:path w="109855" h="190500">
                <a:moveTo>
                  <a:pt x="0" y="190500"/>
                </a:moveTo>
                <a:lnTo>
                  <a:pt x="109537" y="190500"/>
                </a:lnTo>
                <a:lnTo>
                  <a:pt x="109537" y="0"/>
                </a:ln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22784" y="3295650"/>
            <a:ext cx="0" cy="190500"/>
          </a:xfrm>
          <a:custGeom>
            <a:avLst/>
            <a:gdLst/>
            <a:ahLst/>
            <a:cxnLst/>
            <a:rect l="l" t="t" r="r" b="b"/>
            <a:pathLst>
              <a:path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ln w="54768">
            <a:solidFill>
              <a:srgbClr val="00CC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69243" y="3200400"/>
            <a:ext cx="1478915" cy="381000"/>
          </a:xfrm>
          <a:custGeom>
            <a:avLst/>
            <a:gdLst/>
            <a:ahLst/>
            <a:cxnLst/>
            <a:rect l="l" t="t" r="r" b="b"/>
            <a:pathLst>
              <a:path w="1478914" h="381000">
                <a:moveTo>
                  <a:pt x="1040606" y="0"/>
                </a:moveTo>
                <a:lnTo>
                  <a:pt x="1040606" y="95250"/>
                </a:lnTo>
                <a:lnTo>
                  <a:pt x="0" y="95250"/>
                </a:lnTo>
                <a:lnTo>
                  <a:pt x="0" y="285750"/>
                </a:lnTo>
                <a:lnTo>
                  <a:pt x="1040606" y="285750"/>
                </a:lnTo>
                <a:lnTo>
                  <a:pt x="1040606" y="381000"/>
                </a:lnTo>
                <a:lnTo>
                  <a:pt x="1478756" y="190500"/>
                </a:lnTo>
                <a:lnTo>
                  <a:pt x="104060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04937" y="3295650"/>
            <a:ext cx="109855" cy="190500"/>
          </a:xfrm>
          <a:custGeom>
            <a:avLst/>
            <a:gdLst/>
            <a:ahLst/>
            <a:cxnLst/>
            <a:rect l="l" t="t" r="r" b="b"/>
            <a:pathLst>
              <a:path w="109855" h="190500">
                <a:moveTo>
                  <a:pt x="0" y="0"/>
                </a:moveTo>
                <a:lnTo>
                  <a:pt x="109537" y="0"/>
                </a:lnTo>
                <a:lnTo>
                  <a:pt x="109537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95400" y="3295650"/>
            <a:ext cx="55244" cy="190500"/>
          </a:xfrm>
          <a:custGeom>
            <a:avLst/>
            <a:gdLst/>
            <a:ahLst/>
            <a:cxnLst/>
            <a:rect l="l" t="t" r="r" b="b"/>
            <a:pathLst>
              <a:path w="55244" h="190500">
                <a:moveTo>
                  <a:pt x="0" y="0"/>
                </a:moveTo>
                <a:lnTo>
                  <a:pt x="54768" y="0"/>
                </a:lnTo>
                <a:lnTo>
                  <a:pt x="54768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5323649"/>
            <a:ext cx="718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tati</a:t>
            </a: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47800" y="4876800"/>
            <a:ext cx="2438400" cy="106680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7329">
              <a:lnSpc>
                <a:spcPts val="3650"/>
              </a:lnSpc>
            </a:pPr>
            <a:r>
              <a:rPr sz="3200" dirty="0">
                <a:solidFill>
                  <a:srgbClr val="660033"/>
                </a:solidFill>
                <a:latin typeface="Times New Roman"/>
                <a:cs typeface="Times New Roman"/>
              </a:rPr>
              <a:t>WWW</a:t>
            </a:r>
            <a:endParaRPr sz="3200">
              <a:latin typeface="Times New Roman"/>
              <a:cs typeface="Times New Roman"/>
            </a:endParaRPr>
          </a:p>
          <a:p>
            <a:pPr marL="15621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/>
                <a:cs typeface="Times New Roman"/>
              </a:rPr>
              <a:t>URI, HTML,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HTTP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29804" y="2189745"/>
            <a:ext cx="2014220" cy="3220720"/>
          </a:xfrm>
          <a:custGeom>
            <a:avLst/>
            <a:gdLst/>
            <a:ahLst/>
            <a:cxnLst/>
            <a:rect l="l" t="t" r="r" b="b"/>
            <a:pathLst>
              <a:path w="2014220" h="3220720">
                <a:moveTo>
                  <a:pt x="1748264" y="2936612"/>
                </a:moveTo>
                <a:lnTo>
                  <a:pt x="2013595" y="3220454"/>
                </a:lnTo>
                <a:lnTo>
                  <a:pt x="1934506" y="3008353"/>
                </a:lnTo>
                <a:lnTo>
                  <a:pt x="1864532" y="3008353"/>
                </a:lnTo>
                <a:lnTo>
                  <a:pt x="1748264" y="2936612"/>
                </a:lnTo>
                <a:close/>
              </a:path>
              <a:path w="2014220" h="3220720">
                <a:moveTo>
                  <a:pt x="1877843" y="2856395"/>
                </a:moveTo>
                <a:lnTo>
                  <a:pt x="1890213" y="2992455"/>
                </a:lnTo>
                <a:lnTo>
                  <a:pt x="1864532" y="3008353"/>
                </a:lnTo>
                <a:lnTo>
                  <a:pt x="1934506" y="3008353"/>
                </a:lnTo>
                <a:lnTo>
                  <a:pt x="1877843" y="2856395"/>
                </a:lnTo>
                <a:close/>
              </a:path>
              <a:path w="2014220" h="3220720">
                <a:moveTo>
                  <a:pt x="1829551" y="2850770"/>
                </a:moveTo>
                <a:lnTo>
                  <a:pt x="1764761" y="2890878"/>
                </a:lnTo>
                <a:lnTo>
                  <a:pt x="1804869" y="2955668"/>
                </a:lnTo>
                <a:lnTo>
                  <a:pt x="1869659" y="2915560"/>
                </a:lnTo>
                <a:lnTo>
                  <a:pt x="1829551" y="2850770"/>
                </a:lnTo>
                <a:close/>
              </a:path>
              <a:path w="2014220" h="3220720">
                <a:moveTo>
                  <a:pt x="1749336" y="2721189"/>
                </a:moveTo>
                <a:lnTo>
                  <a:pt x="1684545" y="2761297"/>
                </a:lnTo>
                <a:lnTo>
                  <a:pt x="1724653" y="2826087"/>
                </a:lnTo>
                <a:lnTo>
                  <a:pt x="1789443" y="2785979"/>
                </a:lnTo>
                <a:lnTo>
                  <a:pt x="1749336" y="2721189"/>
                </a:lnTo>
                <a:close/>
              </a:path>
              <a:path w="2014220" h="3220720">
                <a:moveTo>
                  <a:pt x="1669119" y="2591608"/>
                </a:moveTo>
                <a:lnTo>
                  <a:pt x="1604328" y="2631716"/>
                </a:lnTo>
                <a:lnTo>
                  <a:pt x="1644436" y="2696507"/>
                </a:lnTo>
                <a:lnTo>
                  <a:pt x="1709226" y="2656399"/>
                </a:lnTo>
                <a:lnTo>
                  <a:pt x="1669119" y="2591608"/>
                </a:lnTo>
                <a:close/>
              </a:path>
              <a:path w="2014220" h="3220720">
                <a:moveTo>
                  <a:pt x="1588903" y="2462029"/>
                </a:moveTo>
                <a:lnTo>
                  <a:pt x="1524113" y="2502137"/>
                </a:lnTo>
                <a:lnTo>
                  <a:pt x="1564220" y="2566927"/>
                </a:lnTo>
                <a:lnTo>
                  <a:pt x="1629011" y="2526818"/>
                </a:lnTo>
                <a:lnTo>
                  <a:pt x="1588903" y="2462029"/>
                </a:lnTo>
                <a:close/>
              </a:path>
              <a:path w="2014220" h="3220720">
                <a:moveTo>
                  <a:pt x="1508686" y="2332448"/>
                </a:moveTo>
                <a:lnTo>
                  <a:pt x="1443896" y="2372556"/>
                </a:lnTo>
                <a:lnTo>
                  <a:pt x="1484003" y="2437347"/>
                </a:lnTo>
                <a:lnTo>
                  <a:pt x="1548794" y="2397239"/>
                </a:lnTo>
                <a:lnTo>
                  <a:pt x="1508686" y="2332448"/>
                </a:lnTo>
                <a:close/>
              </a:path>
              <a:path w="2014220" h="3220720">
                <a:moveTo>
                  <a:pt x="1428470" y="2202868"/>
                </a:moveTo>
                <a:lnTo>
                  <a:pt x="1363680" y="2242976"/>
                </a:lnTo>
                <a:lnTo>
                  <a:pt x="1403788" y="2307766"/>
                </a:lnTo>
                <a:lnTo>
                  <a:pt x="1468578" y="2267658"/>
                </a:lnTo>
                <a:lnTo>
                  <a:pt x="1428470" y="2202868"/>
                </a:lnTo>
                <a:close/>
              </a:path>
              <a:path w="2014220" h="3220720">
                <a:moveTo>
                  <a:pt x="1348253" y="2073287"/>
                </a:moveTo>
                <a:lnTo>
                  <a:pt x="1283463" y="2113395"/>
                </a:lnTo>
                <a:lnTo>
                  <a:pt x="1323571" y="2178185"/>
                </a:lnTo>
                <a:lnTo>
                  <a:pt x="1388361" y="2138078"/>
                </a:lnTo>
                <a:lnTo>
                  <a:pt x="1348253" y="2073287"/>
                </a:lnTo>
                <a:close/>
              </a:path>
              <a:path w="2014220" h="3220720">
                <a:moveTo>
                  <a:pt x="1268036" y="1943707"/>
                </a:moveTo>
                <a:lnTo>
                  <a:pt x="1203246" y="1983814"/>
                </a:lnTo>
                <a:lnTo>
                  <a:pt x="1243355" y="2048605"/>
                </a:lnTo>
                <a:lnTo>
                  <a:pt x="1308145" y="2008497"/>
                </a:lnTo>
                <a:lnTo>
                  <a:pt x="1268036" y="1943707"/>
                </a:lnTo>
                <a:close/>
              </a:path>
              <a:path w="2014220" h="3220720">
                <a:moveTo>
                  <a:pt x="1187820" y="1814126"/>
                </a:moveTo>
                <a:lnTo>
                  <a:pt x="1123030" y="1854234"/>
                </a:lnTo>
                <a:lnTo>
                  <a:pt x="1163138" y="1919024"/>
                </a:lnTo>
                <a:lnTo>
                  <a:pt x="1227928" y="1878916"/>
                </a:lnTo>
                <a:lnTo>
                  <a:pt x="1187820" y="1814126"/>
                </a:lnTo>
                <a:close/>
              </a:path>
              <a:path w="2014220" h="3220720">
                <a:moveTo>
                  <a:pt x="1107603" y="1684545"/>
                </a:moveTo>
                <a:lnTo>
                  <a:pt x="1042813" y="1724654"/>
                </a:lnTo>
                <a:lnTo>
                  <a:pt x="1082922" y="1789443"/>
                </a:lnTo>
                <a:lnTo>
                  <a:pt x="1147712" y="1749336"/>
                </a:lnTo>
                <a:lnTo>
                  <a:pt x="1107603" y="1684545"/>
                </a:lnTo>
                <a:close/>
              </a:path>
              <a:path w="2014220" h="3220720">
                <a:moveTo>
                  <a:pt x="1027388" y="1554965"/>
                </a:moveTo>
                <a:lnTo>
                  <a:pt x="962597" y="1595074"/>
                </a:lnTo>
                <a:lnTo>
                  <a:pt x="1002705" y="1659864"/>
                </a:lnTo>
                <a:lnTo>
                  <a:pt x="1067495" y="1619755"/>
                </a:lnTo>
                <a:lnTo>
                  <a:pt x="1027388" y="1554965"/>
                </a:lnTo>
                <a:close/>
              </a:path>
              <a:path w="2014220" h="3220720">
                <a:moveTo>
                  <a:pt x="947171" y="1425384"/>
                </a:moveTo>
                <a:lnTo>
                  <a:pt x="882380" y="1465493"/>
                </a:lnTo>
                <a:lnTo>
                  <a:pt x="922489" y="1530283"/>
                </a:lnTo>
                <a:lnTo>
                  <a:pt x="987278" y="1490174"/>
                </a:lnTo>
                <a:lnTo>
                  <a:pt x="947171" y="1425384"/>
                </a:lnTo>
                <a:close/>
              </a:path>
              <a:path w="2014220" h="3220720">
                <a:moveTo>
                  <a:pt x="866955" y="1295805"/>
                </a:moveTo>
                <a:lnTo>
                  <a:pt x="802165" y="1335913"/>
                </a:lnTo>
                <a:lnTo>
                  <a:pt x="842272" y="1400703"/>
                </a:lnTo>
                <a:lnTo>
                  <a:pt x="907063" y="1360594"/>
                </a:lnTo>
                <a:lnTo>
                  <a:pt x="866955" y="1295805"/>
                </a:lnTo>
                <a:close/>
              </a:path>
              <a:path w="2014220" h="3220720">
                <a:moveTo>
                  <a:pt x="786738" y="1166224"/>
                </a:moveTo>
                <a:lnTo>
                  <a:pt x="721948" y="1206332"/>
                </a:lnTo>
                <a:lnTo>
                  <a:pt x="762055" y="1271122"/>
                </a:lnTo>
                <a:lnTo>
                  <a:pt x="826846" y="1231014"/>
                </a:lnTo>
                <a:lnTo>
                  <a:pt x="786738" y="1166224"/>
                </a:lnTo>
                <a:close/>
              </a:path>
              <a:path w="2014220" h="3220720">
                <a:moveTo>
                  <a:pt x="706521" y="1036643"/>
                </a:moveTo>
                <a:lnTo>
                  <a:pt x="641732" y="1076751"/>
                </a:lnTo>
                <a:lnTo>
                  <a:pt x="681840" y="1141542"/>
                </a:lnTo>
                <a:lnTo>
                  <a:pt x="746630" y="1101434"/>
                </a:lnTo>
                <a:lnTo>
                  <a:pt x="706521" y="1036643"/>
                </a:lnTo>
                <a:close/>
              </a:path>
              <a:path w="2014220" h="3220720">
                <a:moveTo>
                  <a:pt x="626305" y="907063"/>
                </a:moveTo>
                <a:lnTo>
                  <a:pt x="561515" y="947171"/>
                </a:lnTo>
                <a:lnTo>
                  <a:pt x="601623" y="1011961"/>
                </a:lnTo>
                <a:lnTo>
                  <a:pt x="666413" y="971853"/>
                </a:lnTo>
                <a:lnTo>
                  <a:pt x="626305" y="907063"/>
                </a:lnTo>
                <a:close/>
              </a:path>
              <a:path w="2014220" h="3220720">
                <a:moveTo>
                  <a:pt x="546088" y="777482"/>
                </a:moveTo>
                <a:lnTo>
                  <a:pt x="481298" y="817591"/>
                </a:lnTo>
                <a:lnTo>
                  <a:pt x="521407" y="882380"/>
                </a:lnTo>
                <a:lnTo>
                  <a:pt x="586197" y="842272"/>
                </a:lnTo>
                <a:lnTo>
                  <a:pt x="546088" y="777482"/>
                </a:lnTo>
                <a:close/>
              </a:path>
              <a:path w="2014220" h="3220720">
                <a:moveTo>
                  <a:pt x="465872" y="647901"/>
                </a:moveTo>
                <a:lnTo>
                  <a:pt x="401082" y="688011"/>
                </a:lnTo>
                <a:lnTo>
                  <a:pt x="441190" y="752801"/>
                </a:lnTo>
                <a:lnTo>
                  <a:pt x="505980" y="712692"/>
                </a:lnTo>
                <a:lnTo>
                  <a:pt x="465872" y="647901"/>
                </a:lnTo>
                <a:close/>
              </a:path>
              <a:path w="2014220" h="3220720">
                <a:moveTo>
                  <a:pt x="385655" y="518322"/>
                </a:moveTo>
                <a:lnTo>
                  <a:pt x="320865" y="558430"/>
                </a:lnTo>
                <a:lnTo>
                  <a:pt x="360974" y="623220"/>
                </a:lnTo>
                <a:lnTo>
                  <a:pt x="425763" y="583112"/>
                </a:lnTo>
                <a:lnTo>
                  <a:pt x="385655" y="518322"/>
                </a:lnTo>
                <a:close/>
              </a:path>
              <a:path w="2014220" h="3220720">
                <a:moveTo>
                  <a:pt x="305440" y="388741"/>
                </a:moveTo>
                <a:lnTo>
                  <a:pt x="240649" y="428849"/>
                </a:lnTo>
                <a:lnTo>
                  <a:pt x="280757" y="493640"/>
                </a:lnTo>
                <a:lnTo>
                  <a:pt x="345547" y="453532"/>
                </a:lnTo>
                <a:lnTo>
                  <a:pt x="305440" y="388741"/>
                </a:lnTo>
                <a:close/>
              </a:path>
              <a:path w="2014220" h="3220720">
                <a:moveTo>
                  <a:pt x="225223" y="259161"/>
                </a:moveTo>
                <a:lnTo>
                  <a:pt x="160432" y="299269"/>
                </a:lnTo>
                <a:lnTo>
                  <a:pt x="200540" y="364059"/>
                </a:lnTo>
                <a:lnTo>
                  <a:pt x="265330" y="323951"/>
                </a:lnTo>
                <a:lnTo>
                  <a:pt x="225223" y="259161"/>
                </a:lnTo>
                <a:close/>
              </a:path>
              <a:path w="2014220" h="3220720">
                <a:moveTo>
                  <a:pt x="145007" y="129580"/>
                </a:moveTo>
                <a:lnTo>
                  <a:pt x="80217" y="169688"/>
                </a:lnTo>
                <a:lnTo>
                  <a:pt x="120324" y="234478"/>
                </a:lnTo>
                <a:lnTo>
                  <a:pt x="185115" y="194370"/>
                </a:lnTo>
                <a:lnTo>
                  <a:pt x="145007" y="129580"/>
                </a:lnTo>
                <a:close/>
              </a:path>
              <a:path w="2014220" h="3220720">
                <a:moveTo>
                  <a:pt x="64790" y="0"/>
                </a:moveTo>
                <a:lnTo>
                  <a:pt x="0" y="40109"/>
                </a:lnTo>
                <a:lnTo>
                  <a:pt x="40107" y="104899"/>
                </a:lnTo>
                <a:lnTo>
                  <a:pt x="104898" y="64790"/>
                </a:lnTo>
                <a:lnTo>
                  <a:pt x="64790" y="0"/>
                </a:lnTo>
                <a:close/>
              </a:path>
            </a:pathLst>
          </a:custGeom>
          <a:solidFill>
            <a:srgbClr val="66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03438" y="1627949"/>
            <a:ext cx="426085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715" algn="r">
              <a:lnSpc>
                <a:spcPts val="2875"/>
              </a:lnSpc>
              <a:spcBef>
                <a:spcPts val="100"/>
              </a:spcBef>
            </a:pP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Serious </a:t>
            </a:r>
            <a:r>
              <a:rPr sz="2400" b="1" spc="-10" dirty="0">
                <a:solidFill>
                  <a:srgbClr val="660033"/>
                </a:solidFill>
                <a:latin typeface="Times New Roman"/>
                <a:cs typeface="Times New Roman"/>
              </a:rPr>
              <a:t>Problems 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in information</a:t>
            </a:r>
            <a:endParaRPr sz="2400">
              <a:latin typeface="Times New Roman"/>
              <a:cs typeface="Times New Roman"/>
            </a:endParaRPr>
          </a:p>
          <a:p>
            <a:pPr marL="107950" marR="5080" indent="-107950" algn="r">
              <a:lnSpc>
                <a:spcPts val="2865"/>
              </a:lnSpc>
              <a:buSzPct val="95833"/>
              <a:buFont typeface="Times New Roman"/>
              <a:buChar char="•"/>
              <a:tabLst>
                <a:tab pos="107950" algn="l"/>
              </a:tabLst>
            </a:pP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f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i</a:t>
            </a: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nd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i</a:t>
            </a: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ng</a:t>
            </a:r>
            <a:endParaRPr sz="2400">
              <a:latin typeface="Times New Roman"/>
              <a:cs typeface="Times New Roman"/>
            </a:endParaRPr>
          </a:p>
          <a:p>
            <a:pPr marL="107950" marR="5715" indent="-107950" algn="r">
              <a:lnSpc>
                <a:spcPts val="2875"/>
              </a:lnSpc>
              <a:buSzPct val="95833"/>
              <a:buFont typeface="Times New Roman"/>
              <a:buChar char="•"/>
              <a:tabLst>
                <a:tab pos="107950" algn="l"/>
              </a:tabLst>
            </a:pP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e</a:t>
            </a: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xt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r</a:t>
            </a: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a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c</a:t>
            </a: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t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i</a:t>
            </a: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ng</a:t>
            </a:r>
            <a:endParaRPr sz="2400">
              <a:latin typeface="Times New Roman"/>
              <a:cs typeface="Times New Roman"/>
            </a:endParaRPr>
          </a:p>
          <a:p>
            <a:pPr marL="107950" marR="5080" indent="-107950" algn="r">
              <a:lnSpc>
                <a:spcPts val="2875"/>
              </a:lnSpc>
              <a:spcBef>
                <a:spcPts val="20"/>
              </a:spcBef>
              <a:buSzPct val="95833"/>
              <a:buFont typeface="Times New Roman"/>
              <a:buChar char="•"/>
              <a:tabLst>
                <a:tab pos="107950" algn="l"/>
              </a:tabLst>
            </a:pPr>
            <a:r>
              <a:rPr sz="2400" b="1" spc="-50" dirty="0">
                <a:solidFill>
                  <a:srgbClr val="660033"/>
                </a:solidFill>
                <a:latin typeface="Times New Roman"/>
                <a:cs typeface="Times New Roman"/>
              </a:rPr>
              <a:t>r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e</a:t>
            </a: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p</a:t>
            </a:r>
            <a:r>
              <a:rPr sz="2400" b="1" spc="-50" dirty="0">
                <a:solidFill>
                  <a:srgbClr val="660033"/>
                </a:solidFill>
                <a:latin typeface="Times New Roman"/>
                <a:cs typeface="Times New Roman"/>
              </a:rPr>
              <a:t>r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e</a:t>
            </a: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s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e</a:t>
            </a: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nt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i</a:t>
            </a: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ng</a:t>
            </a:r>
            <a:endParaRPr sz="2400">
              <a:latin typeface="Times New Roman"/>
              <a:cs typeface="Times New Roman"/>
            </a:endParaRPr>
          </a:p>
          <a:p>
            <a:pPr marL="107950" marR="5715" lvl="1" indent="-107950" algn="r">
              <a:lnSpc>
                <a:spcPts val="2875"/>
              </a:lnSpc>
              <a:buSzPct val="95833"/>
              <a:buFont typeface="Times New Roman"/>
              <a:buChar char="•"/>
              <a:tabLst>
                <a:tab pos="107950" algn="l"/>
              </a:tabLst>
            </a:pP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i</a:t>
            </a: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nt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er</a:t>
            </a: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p</a:t>
            </a:r>
            <a:r>
              <a:rPr sz="2400" b="1" spc="-50" dirty="0">
                <a:solidFill>
                  <a:srgbClr val="660033"/>
                </a:solidFill>
                <a:latin typeface="Times New Roman"/>
                <a:cs typeface="Times New Roman"/>
              </a:rPr>
              <a:t>r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e</a:t>
            </a: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t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i</a:t>
            </a: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ng</a:t>
            </a:r>
            <a:endParaRPr sz="2400">
              <a:latin typeface="Times New Roman"/>
              <a:cs typeface="Times New Roman"/>
            </a:endParaRPr>
          </a:p>
          <a:p>
            <a:pPr marL="107950" marR="5715" indent="-107950" algn="r">
              <a:lnSpc>
                <a:spcPct val="100000"/>
              </a:lnSpc>
              <a:spcBef>
                <a:spcPts val="20"/>
              </a:spcBef>
              <a:buSzPct val="95833"/>
              <a:buFont typeface="Times New Roman"/>
              <a:buChar char="•"/>
              <a:tabLst>
                <a:tab pos="107950" algn="l"/>
              </a:tabLst>
            </a:pP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and</a:t>
            </a:r>
            <a:r>
              <a:rPr sz="2400" b="1" spc="-60" dirty="0">
                <a:solidFill>
                  <a:srgbClr val="660033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maintaining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1600" y="1676400"/>
            <a:ext cx="0" cy="4419600"/>
          </a:xfrm>
          <a:custGeom>
            <a:avLst/>
            <a:gdLst/>
            <a:ahLst/>
            <a:cxnLst/>
            <a:rect l="l" t="t" r="r" b="b"/>
            <a:pathLst>
              <a:path h="4419600">
                <a:moveTo>
                  <a:pt x="0" y="0"/>
                </a:moveTo>
                <a:lnTo>
                  <a:pt x="1" y="4419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86200" y="5524501"/>
            <a:ext cx="1143000" cy="76200"/>
          </a:xfrm>
          <a:custGeom>
            <a:avLst/>
            <a:gdLst/>
            <a:ahLst/>
            <a:cxnLst/>
            <a:rect l="l" t="t" r="r" b="b"/>
            <a:pathLst>
              <a:path w="1143000" h="76200">
                <a:moveTo>
                  <a:pt x="0" y="33336"/>
                </a:moveTo>
                <a:lnTo>
                  <a:pt x="0" y="42861"/>
                </a:lnTo>
                <a:lnTo>
                  <a:pt x="1066800" y="42862"/>
                </a:lnTo>
                <a:lnTo>
                  <a:pt x="1066800" y="76199"/>
                </a:lnTo>
                <a:lnTo>
                  <a:pt x="1143000" y="38100"/>
                </a:lnTo>
                <a:lnTo>
                  <a:pt x="1133475" y="33337"/>
                </a:lnTo>
                <a:lnTo>
                  <a:pt x="0" y="33336"/>
                </a:lnTo>
                <a:close/>
              </a:path>
              <a:path w="1143000" h="76200">
                <a:moveTo>
                  <a:pt x="1066800" y="0"/>
                </a:moveTo>
                <a:lnTo>
                  <a:pt x="1066800" y="33337"/>
                </a:lnTo>
                <a:lnTo>
                  <a:pt x="1133475" y="33337"/>
                </a:lnTo>
                <a:lnTo>
                  <a:pt x="1066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29200" y="4953000"/>
            <a:ext cx="2590800" cy="106680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3500"/>
              </a:lnSpc>
            </a:pPr>
            <a:r>
              <a:rPr sz="3200" spc="-5" dirty="0">
                <a:solidFill>
                  <a:srgbClr val="660033"/>
                </a:solidFill>
                <a:latin typeface="Times New Roman"/>
                <a:cs typeface="Times New Roman"/>
              </a:rPr>
              <a:t>Semantic</a:t>
            </a:r>
            <a:r>
              <a:rPr sz="3200" spc="-85" dirty="0">
                <a:solidFill>
                  <a:srgbClr val="660033"/>
                </a:solidFill>
                <a:latin typeface="Times New Roman"/>
                <a:cs typeface="Times New Roman"/>
              </a:rPr>
              <a:t> Web</a:t>
            </a:r>
            <a:endParaRPr sz="3200">
              <a:latin typeface="Times New Roman"/>
              <a:cs typeface="Times New Roman"/>
            </a:endParaRPr>
          </a:p>
          <a:p>
            <a:pPr marL="276860">
              <a:lnSpc>
                <a:spcPct val="100000"/>
              </a:lnSpc>
              <a:spcBef>
                <a:spcPts val="30"/>
              </a:spcBef>
            </a:pPr>
            <a:r>
              <a:rPr sz="2000" spc="-40" dirty="0">
                <a:latin typeface="Times New Roman"/>
                <a:cs typeface="Times New Roman"/>
              </a:rPr>
              <a:t>RDF, </a:t>
            </a:r>
            <a:r>
              <a:rPr sz="2000" spc="-5" dirty="0">
                <a:latin typeface="Times New Roman"/>
                <a:cs typeface="Times New Roman"/>
              </a:rPr>
              <a:t>RDF(S),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OWL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659856" y="803465"/>
            <a:ext cx="38239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Semantic</a:t>
            </a:r>
            <a:r>
              <a:rPr spc="-90" dirty="0"/>
              <a:t> </a:t>
            </a:r>
            <a:r>
              <a:rPr dirty="0"/>
              <a:t>Web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9187" y="803465"/>
            <a:ext cx="69049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Semantic </a:t>
            </a:r>
            <a:r>
              <a:rPr dirty="0"/>
              <a:t>Web</a:t>
            </a:r>
            <a:r>
              <a:rPr spc="-80" dirty="0"/>
              <a:t> </a:t>
            </a:r>
            <a:r>
              <a:rPr spc="-5" dirty="0"/>
              <a:t>Technology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93074"/>
            <a:ext cx="7204075" cy="3733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2832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omic Sans MS"/>
                <a:cs typeface="Comic Sans MS"/>
              </a:rPr>
              <a:t>Tim </a:t>
            </a:r>
            <a:r>
              <a:rPr sz="3200" spc="-5" dirty="0">
                <a:latin typeface="Comic Sans MS"/>
                <a:cs typeface="Comic Sans MS"/>
              </a:rPr>
              <a:t>Berners-Lee </a:t>
            </a:r>
            <a:r>
              <a:rPr sz="3200" dirty="0">
                <a:latin typeface="Comic Sans MS"/>
                <a:cs typeface="Comic Sans MS"/>
              </a:rPr>
              <a:t>has a vision of a  </a:t>
            </a:r>
            <a:r>
              <a:rPr sz="3200" spc="-5" dirty="0">
                <a:latin typeface="Comic Sans MS"/>
                <a:cs typeface="Comic Sans MS"/>
              </a:rPr>
              <a:t>Semantic Web</a:t>
            </a:r>
            <a:r>
              <a:rPr sz="3200" spc="15" dirty="0">
                <a:latin typeface="Comic Sans MS"/>
                <a:cs typeface="Comic Sans MS"/>
              </a:rPr>
              <a:t> </a:t>
            </a:r>
            <a:r>
              <a:rPr sz="3200" dirty="0">
                <a:latin typeface="Comic Sans MS"/>
                <a:cs typeface="Comic Sans MS"/>
              </a:rPr>
              <a:t>which</a:t>
            </a:r>
            <a:endParaRPr sz="3200">
              <a:latin typeface="Comic Sans MS"/>
              <a:cs typeface="Comic Sans MS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Comic Sans MS"/>
                <a:cs typeface="Comic Sans MS"/>
              </a:rPr>
              <a:t>has </a:t>
            </a:r>
            <a:r>
              <a:rPr sz="2800" spc="-5" dirty="0">
                <a:latin typeface="Comic Sans MS"/>
                <a:cs typeface="Comic Sans MS"/>
              </a:rPr>
              <a:t>machine-understandable </a:t>
            </a:r>
            <a:r>
              <a:rPr sz="2800" dirty="0">
                <a:latin typeface="Comic Sans MS"/>
                <a:cs typeface="Comic Sans MS"/>
              </a:rPr>
              <a:t>semantics  of </a:t>
            </a:r>
            <a:r>
              <a:rPr sz="2800" spc="-5" dirty="0">
                <a:latin typeface="Comic Sans MS"/>
                <a:cs typeface="Comic Sans MS"/>
              </a:rPr>
              <a:t>information,</a:t>
            </a:r>
            <a:r>
              <a:rPr sz="2800" spc="-1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and</a:t>
            </a:r>
            <a:endParaRPr sz="2800">
              <a:latin typeface="Comic Sans MS"/>
              <a:cs typeface="Comic Sans MS"/>
            </a:endParaRPr>
          </a:p>
          <a:p>
            <a:pPr marL="755650" marR="139700" lvl="1" indent="-285750">
              <a:lnSpc>
                <a:spcPct val="999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Comic Sans MS"/>
                <a:cs typeface="Comic Sans MS"/>
              </a:rPr>
              <a:t>millions </a:t>
            </a:r>
            <a:r>
              <a:rPr sz="2800" dirty="0">
                <a:latin typeface="Comic Sans MS"/>
                <a:cs typeface="Comic Sans MS"/>
              </a:rPr>
              <a:t>of </a:t>
            </a:r>
            <a:r>
              <a:rPr sz="2800" spc="-5" dirty="0">
                <a:latin typeface="Comic Sans MS"/>
                <a:cs typeface="Comic Sans MS"/>
              </a:rPr>
              <a:t>small </a:t>
            </a:r>
            <a:r>
              <a:rPr sz="2800" dirty="0">
                <a:latin typeface="Comic Sans MS"/>
                <a:cs typeface="Comic Sans MS"/>
              </a:rPr>
              <a:t>specialized </a:t>
            </a:r>
            <a:r>
              <a:rPr sz="2800" spc="-5" dirty="0">
                <a:latin typeface="Comic Sans MS"/>
                <a:cs typeface="Comic Sans MS"/>
              </a:rPr>
              <a:t>reasoning  </a:t>
            </a:r>
            <a:r>
              <a:rPr sz="2800" dirty="0">
                <a:latin typeface="Comic Sans MS"/>
                <a:cs typeface="Comic Sans MS"/>
              </a:rPr>
              <a:t>services that provide </a:t>
            </a:r>
            <a:r>
              <a:rPr sz="2800" spc="-5" dirty="0">
                <a:latin typeface="Comic Sans MS"/>
                <a:cs typeface="Comic Sans MS"/>
              </a:rPr>
              <a:t>support </a:t>
            </a:r>
            <a:r>
              <a:rPr sz="2800" dirty="0">
                <a:latin typeface="Comic Sans MS"/>
                <a:cs typeface="Comic Sans MS"/>
              </a:rPr>
              <a:t>in  </a:t>
            </a:r>
            <a:r>
              <a:rPr sz="2800" spc="-5" dirty="0">
                <a:latin typeface="Comic Sans MS"/>
                <a:cs typeface="Comic Sans MS"/>
              </a:rPr>
              <a:t>automated </a:t>
            </a:r>
            <a:r>
              <a:rPr sz="2800" dirty="0">
                <a:latin typeface="Comic Sans MS"/>
                <a:cs typeface="Comic Sans MS"/>
              </a:rPr>
              <a:t>task </a:t>
            </a:r>
            <a:r>
              <a:rPr sz="2800" spc="-5" dirty="0">
                <a:latin typeface="Comic Sans MS"/>
                <a:cs typeface="Comic Sans MS"/>
              </a:rPr>
              <a:t>achievement based </a:t>
            </a:r>
            <a:r>
              <a:rPr sz="2800" dirty="0">
                <a:latin typeface="Comic Sans MS"/>
                <a:cs typeface="Comic Sans MS"/>
              </a:rPr>
              <a:t>on  </a:t>
            </a:r>
            <a:r>
              <a:rPr sz="2800" spc="-5" dirty="0">
                <a:latin typeface="Comic Sans MS"/>
                <a:cs typeface="Comic Sans MS"/>
              </a:rPr>
              <a:t>the accessible</a:t>
            </a:r>
            <a:r>
              <a:rPr sz="2800" dirty="0">
                <a:latin typeface="Comic Sans MS"/>
                <a:cs typeface="Comic Sans MS"/>
              </a:rPr>
              <a:t> </a:t>
            </a:r>
            <a:r>
              <a:rPr sz="2800" spc="-5" dirty="0">
                <a:latin typeface="Comic Sans MS"/>
                <a:cs typeface="Comic Sans MS"/>
              </a:rPr>
              <a:t>information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2481" y="803465"/>
            <a:ext cx="49987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 Semantic</a:t>
            </a:r>
            <a:r>
              <a:rPr spc="-75" dirty="0"/>
              <a:t> </a:t>
            </a:r>
            <a:r>
              <a:rPr dirty="0"/>
              <a:t>Web</a:t>
            </a:r>
          </a:p>
        </p:txBody>
      </p:sp>
      <p:sp>
        <p:nvSpPr>
          <p:cNvPr id="3" name="object 3"/>
          <p:cNvSpPr/>
          <p:nvPr/>
        </p:nvSpPr>
        <p:spPr>
          <a:xfrm>
            <a:off x="3725333" y="2967567"/>
            <a:ext cx="1744132" cy="800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76900" y="2967567"/>
            <a:ext cx="2239432" cy="800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96167" y="3907366"/>
            <a:ext cx="3826932" cy="8001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4540" y="1993074"/>
            <a:ext cx="7118984" cy="3733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5722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omic Sans MS"/>
                <a:cs typeface="Comic Sans MS"/>
              </a:rPr>
              <a:t>The </a:t>
            </a:r>
            <a:r>
              <a:rPr sz="3200" spc="-5" dirty="0">
                <a:latin typeface="Comic Sans MS"/>
                <a:cs typeface="Comic Sans MS"/>
              </a:rPr>
              <a:t>semantic Web </a:t>
            </a:r>
            <a:r>
              <a:rPr sz="3200" dirty="0">
                <a:latin typeface="Comic Sans MS"/>
                <a:cs typeface="Comic Sans MS"/>
              </a:rPr>
              <a:t>is </a:t>
            </a:r>
            <a:r>
              <a:rPr sz="3200" spc="-5" dirty="0">
                <a:latin typeface="Comic Sans MS"/>
                <a:cs typeface="Comic Sans MS"/>
              </a:rPr>
              <a:t>essentially  based </a:t>
            </a:r>
            <a:r>
              <a:rPr sz="3200" dirty="0">
                <a:latin typeface="Comic Sans MS"/>
                <a:cs typeface="Comic Sans MS"/>
              </a:rPr>
              <a:t>on ontologies</a:t>
            </a:r>
            <a:endParaRPr sz="3200">
              <a:latin typeface="Comic Sans MS"/>
              <a:cs typeface="Comic Sans MS"/>
            </a:endParaRPr>
          </a:p>
          <a:p>
            <a:pPr marL="285750" marR="211454" lvl="1" indent="-285750" algn="r">
              <a:lnSpc>
                <a:spcPts val="3420"/>
              </a:lnSpc>
              <a:spcBef>
                <a:spcPts val="635"/>
              </a:spcBef>
              <a:buChar char="–"/>
              <a:tabLst>
                <a:tab pos="285750" algn="l"/>
              </a:tabLst>
            </a:pPr>
            <a:r>
              <a:rPr sz="2800" spc="-5" dirty="0">
                <a:latin typeface="Comic Sans MS"/>
                <a:cs typeface="Comic Sans MS"/>
              </a:rPr>
              <a:t>ontologies </a:t>
            </a:r>
            <a:r>
              <a:rPr sz="2800" dirty="0">
                <a:latin typeface="Comic Sans MS"/>
                <a:cs typeface="Comic Sans MS"/>
              </a:rPr>
              <a:t>are </a:t>
            </a:r>
            <a:r>
              <a:rPr sz="2850" b="1" i="1" spc="-30" dirty="0">
                <a:solidFill>
                  <a:srgbClr val="FF3300"/>
                </a:solidFill>
                <a:latin typeface="Comic Sans MS"/>
                <a:cs typeface="Comic Sans MS"/>
              </a:rPr>
              <a:t>formal </a:t>
            </a:r>
            <a:r>
              <a:rPr sz="2800" spc="-5" dirty="0">
                <a:latin typeface="Comic Sans MS"/>
                <a:cs typeface="Comic Sans MS"/>
              </a:rPr>
              <a:t>and</a:t>
            </a:r>
            <a:r>
              <a:rPr sz="2800" spc="-30" dirty="0">
                <a:latin typeface="Comic Sans MS"/>
                <a:cs typeface="Comic Sans MS"/>
              </a:rPr>
              <a:t> </a:t>
            </a:r>
            <a:r>
              <a:rPr sz="2850" b="1" i="1" spc="-30" dirty="0">
                <a:solidFill>
                  <a:srgbClr val="FF3300"/>
                </a:solidFill>
                <a:latin typeface="Comic Sans MS"/>
                <a:cs typeface="Comic Sans MS"/>
              </a:rPr>
              <a:t>consensual</a:t>
            </a:r>
            <a:endParaRPr sz="2850">
              <a:latin typeface="Comic Sans MS"/>
              <a:cs typeface="Comic Sans MS"/>
            </a:endParaRPr>
          </a:p>
          <a:p>
            <a:pPr marR="186055" algn="r">
              <a:lnSpc>
                <a:spcPts val="3360"/>
              </a:lnSpc>
            </a:pPr>
            <a:r>
              <a:rPr sz="2800" spc="-5" dirty="0">
                <a:latin typeface="Comic Sans MS"/>
                <a:cs typeface="Comic Sans MS"/>
              </a:rPr>
              <a:t>specifications </a:t>
            </a:r>
            <a:r>
              <a:rPr sz="2800" dirty="0">
                <a:latin typeface="Comic Sans MS"/>
                <a:cs typeface="Comic Sans MS"/>
              </a:rPr>
              <a:t>of</a:t>
            </a:r>
            <a:r>
              <a:rPr sz="2800" spc="40" dirty="0">
                <a:latin typeface="Comic Sans MS"/>
                <a:cs typeface="Comic Sans MS"/>
              </a:rPr>
              <a:t> </a:t>
            </a:r>
            <a:r>
              <a:rPr sz="2800" spc="-5" dirty="0">
                <a:latin typeface="Comic Sans MS"/>
                <a:cs typeface="Comic Sans MS"/>
              </a:rPr>
              <a:t>conceptualizations…</a:t>
            </a:r>
            <a:endParaRPr sz="2800">
              <a:latin typeface="Comic Sans MS"/>
              <a:cs typeface="Comic Sans MS"/>
            </a:endParaRPr>
          </a:p>
          <a:p>
            <a:pPr marL="755650" marR="5080" lvl="1" indent="-285750">
              <a:lnSpc>
                <a:spcPct val="99800"/>
              </a:lnSpc>
              <a:spcBef>
                <a:spcPts val="63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Comic Sans MS"/>
                <a:cs typeface="Comic Sans MS"/>
              </a:rPr>
              <a:t>providing a </a:t>
            </a:r>
            <a:r>
              <a:rPr sz="2850" b="1" i="1" spc="-35" dirty="0">
                <a:solidFill>
                  <a:srgbClr val="FF3300"/>
                </a:solidFill>
                <a:latin typeface="Comic Sans MS"/>
                <a:cs typeface="Comic Sans MS"/>
              </a:rPr>
              <a:t>shared and common </a:t>
            </a:r>
            <a:r>
              <a:rPr sz="2850" b="1" i="1" spc="-35" dirty="0">
                <a:latin typeface="Comic Sans MS"/>
                <a:cs typeface="Comic Sans MS"/>
              </a:rPr>
              <a:t> </a:t>
            </a:r>
            <a:r>
              <a:rPr sz="2800" spc="-5" dirty="0">
                <a:latin typeface="Comic Sans MS"/>
                <a:cs typeface="Comic Sans MS"/>
              </a:rPr>
              <a:t>understanding </a:t>
            </a:r>
            <a:r>
              <a:rPr sz="2800" dirty="0">
                <a:latin typeface="Comic Sans MS"/>
                <a:cs typeface="Comic Sans MS"/>
              </a:rPr>
              <a:t>of a domain that can be  </a:t>
            </a:r>
            <a:r>
              <a:rPr sz="2800" spc="-5" dirty="0">
                <a:latin typeface="Comic Sans MS"/>
                <a:cs typeface="Comic Sans MS"/>
              </a:rPr>
              <a:t>communicated across people and  application</a:t>
            </a:r>
            <a:r>
              <a:rPr sz="2800" spc="-10" dirty="0">
                <a:latin typeface="Comic Sans MS"/>
                <a:cs typeface="Comic Sans MS"/>
              </a:rPr>
              <a:t> </a:t>
            </a:r>
            <a:r>
              <a:rPr sz="2800" spc="-5" dirty="0">
                <a:latin typeface="Comic Sans MS"/>
                <a:cs typeface="Comic Sans MS"/>
              </a:rPr>
              <a:t>systems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9187" y="803465"/>
            <a:ext cx="69049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Semantic </a:t>
            </a:r>
            <a:r>
              <a:rPr dirty="0"/>
              <a:t>Web</a:t>
            </a:r>
            <a:r>
              <a:rPr spc="-80" dirty="0"/>
              <a:t> </a:t>
            </a:r>
            <a:r>
              <a:rPr spc="-5" dirty="0"/>
              <a:t>Technology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88274"/>
            <a:ext cx="7451090" cy="4647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5115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omic Sans MS"/>
                <a:cs typeface="Comic Sans MS"/>
              </a:rPr>
              <a:t>Ontologies glue </a:t>
            </a:r>
            <a:r>
              <a:rPr sz="3200" dirty="0">
                <a:latin typeface="Comic Sans MS"/>
                <a:cs typeface="Comic Sans MS"/>
              </a:rPr>
              <a:t>together two  </a:t>
            </a:r>
            <a:r>
              <a:rPr sz="3200" spc="-5" dirty="0">
                <a:latin typeface="Comic Sans MS"/>
                <a:cs typeface="Comic Sans MS"/>
              </a:rPr>
              <a:t>essential </a:t>
            </a:r>
            <a:r>
              <a:rPr sz="3200" dirty="0">
                <a:latin typeface="Comic Sans MS"/>
                <a:cs typeface="Comic Sans MS"/>
              </a:rPr>
              <a:t>aspects that </a:t>
            </a:r>
            <a:r>
              <a:rPr sz="3200" spc="-5" dirty="0">
                <a:latin typeface="Comic Sans MS"/>
                <a:cs typeface="Comic Sans MS"/>
              </a:rPr>
              <a:t>help </a:t>
            </a:r>
            <a:r>
              <a:rPr sz="3200" dirty="0">
                <a:latin typeface="Comic Sans MS"/>
                <a:cs typeface="Comic Sans MS"/>
              </a:rPr>
              <a:t>to bring  </a:t>
            </a:r>
            <a:r>
              <a:rPr sz="3200" spc="-5" dirty="0">
                <a:latin typeface="Comic Sans MS"/>
                <a:cs typeface="Comic Sans MS"/>
              </a:rPr>
              <a:t>the web </a:t>
            </a:r>
            <a:r>
              <a:rPr sz="3200" dirty="0">
                <a:latin typeface="Comic Sans MS"/>
                <a:cs typeface="Comic Sans MS"/>
              </a:rPr>
              <a:t>to its </a:t>
            </a:r>
            <a:r>
              <a:rPr sz="3200" spc="-5" dirty="0">
                <a:latin typeface="Comic Sans MS"/>
                <a:cs typeface="Comic Sans MS"/>
              </a:rPr>
              <a:t>full</a:t>
            </a:r>
            <a:r>
              <a:rPr sz="3200" spc="20" dirty="0">
                <a:latin typeface="Comic Sans MS"/>
                <a:cs typeface="Comic Sans MS"/>
              </a:rPr>
              <a:t> </a:t>
            </a:r>
            <a:r>
              <a:rPr sz="3200" spc="-5" dirty="0">
                <a:latin typeface="Comic Sans MS"/>
                <a:cs typeface="Comic Sans MS"/>
              </a:rPr>
              <a:t>potential:</a:t>
            </a:r>
            <a:endParaRPr sz="3200">
              <a:latin typeface="Comic Sans MS"/>
              <a:cs typeface="Comic Sans MS"/>
            </a:endParaRPr>
          </a:p>
          <a:p>
            <a:pPr marL="755650" marR="248285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Comic Sans MS"/>
                <a:cs typeface="Comic Sans MS"/>
              </a:rPr>
              <a:t>ontology </a:t>
            </a:r>
            <a:r>
              <a:rPr sz="2800" dirty="0">
                <a:latin typeface="Comic Sans MS"/>
                <a:cs typeface="Comic Sans MS"/>
              </a:rPr>
              <a:t>define a formal </a:t>
            </a:r>
            <a:r>
              <a:rPr sz="2800" spc="-5" dirty="0">
                <a:latin typeface="Comic Sans MS"/>
                <a:cs typeface="Comic Sans MS"/>
              </a:rPr>
              <a:t>semantics </a:t>
            </a:r>
            <a:r>
              <a:rPr sz="2800" dirty="0">
                <a:latin typeface="Comic Sans MS"/>
                <a:cs typeface="Comic Sans MS"/>
              </a:rPr>
              <a:t>for  information </a:t>
            </a:r>
            <a:r>
              <a:rPr sz="2800" spc="-5" dirty="0">
                <a:latin typeface="Comic Sans MS"/>
                <a:cs typeface="Comic Sans MS"/>
              </a:rPr>
              <a:t>allowing </a:t>
            </a:r>
            <a:r>
              <a:rPr sz="2800" dirty="0">
                <a:latin typeface="Comic Sans MS"/>
                <a:cs typeface="Comic Sans MS"/>
              </a:rPr>
              <a:t>information  </a:t>
            </a:r>
            <a:r>
              <a:rPr sz="2800" spc="-5" dirty="0">
                <a:latin typeface="Comic Sans MS"/>
                <a:cs typeface="Comic Sans MS"/>
              </a:rPr>
              <a:t>processing </a:t>
            </a:r>
            <a:r>
              <a:rPr sz="2800" dirty="0">
                <a:latin typeface="Comic Sans MS"/>
                <a:cs typeface="Comic Sans MS"/>
              </a:rPr>
              <a:t>by a</a:t>
            </a:r>
            <a:r>
              <a:rPr sz="2800" spc="5" dirty="0">
                <a:latin typeface="Comic Sans MS"/>
                <a:cs typeface="Comic Sans MS"/>
              </a:rPr>
              <a:t> </a:t>
            </a:r>
            <a:r>
              <a:rPr sz="2800" spc="-5" dirty="0">
                <a:latin typeface="Comic Sans MS"/>
                <a:cs typeface="Comic Sans MS"/>
              </a:rPr>
              <a:t>computer</a:t>
            </a:r>
            <a:endParaRPr sz="2800">
              <a:latin typeface="Comic Sans MS"/>
              <a:cs typeface="Comic Sans MS"/>
            </a:endParaRPr>
          </a:p>
          <a:p>
            <a:pPr marL="755650" marR="5080" lvl="1" indent="-285750">
              <a:lnSpc>
                <a:spcPct val="999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Comic Sans MS"/>
                <a:cs typeface="Comic Sans MS"/>
              </a:rPr>
              <a:t>ontologies </a:t>
            </a:r>
            <a:r>
              <a:rPr sz="2800" dirty="0">
                <a:latin typeface="Comic Sans MS"/>
                <a:cs typeface="Comic Sans MS"/>
              </a:rPr>
              <a:t>define a </a:t>
            </a:r>
            <a:r>
              <a:rPr sz="2800" spc="-5" dirty="0">
                <a:latin typeface="Comic Sans MS"/>
                <a:cs typeface="Comic Sans MS"/>
              </a:rPr>
              <a:t>real-world semantics  allowing </a:t>
            </a:r>
            <a:r>
              <a:rPr sz="2800" dirty="0">
                <a:latin typeface="Comic Sans MS"/>
                <a:cs typeface="Comic Sans MS"/>
              </a:rPr>
              <a:t>to </a:t>
            </a:r>
            <a:r>
              <a:rPr sz="2800" spc="-5" dirty="0">
                <a:latin typeface="Comic Sans MS"/>
                <a:cs typeface="Comic Sans MS"/>
              </a:rPr>
              <a:t>link machine processable  content </a:t>
            </a:r>
            <a:r>
              <a:rPr sz="2800" dirty="0">
                <a:latin typeface="Comic Sans MS"/>
                <a:cs typeface="Comic Sans MS"/>
              </a:rPr>
              <a:t>with </a:t>
            </a:r>
            <a:r>
              <a:rPr sz="2800" spc="-5" dirty="0">
                <a:latin typeface="Comic Sans MS"/>
                <a:cs typeface="Comic Sans MS"/>
              </a:rPr>
              <a:t>meaning </a:t>
            </a:r>
            <a:r>
              <a:rPr sz="2800" dirty="0">
                <a:latin typeface="Comic Sans MS"/>
                <a:cs typeface="Comic Sans MS"/>
              </a:rPr>
              <a:t>for </a:t>
            </a:r>
            <a:r>
              <a:rPr sz="2800" spc="-5" dirty="0">
                <a:latin typeface="Comic Sans MS"/>
                <a:cs typeface="Comic Sans MS"/>
              </a:rPr>
              <a:t>humans based  </a:t>
            </a:r>
            <a:r>
              <a:rPr sz="2800" dirty="0">
                <a:latin typeface="Comic Sans MS"/>
                <a:cs typeface="Comic Sans MS"/>
              </a:rPr>
              <a:t>on </a:t>
            </a:r>
            <a:r>
              <a:rPr sz="2800" spc="-5" dirty="0">
                <a:latin typeface="Comic Sans MS"/>
                <a:cs typeface="Comic Sans MS"/>
              </a:rPr>
              <a:t>consensual</a:t>
            </a:r>
            <a:r>
              <a:rPr sz="2800" spc="-20" dirty="0">
                <a:latin typeface="Comic Sans MS"/>
                <a:cs typeface="Comic Sans MS"/>
              </a:rPr>
              <a:t> </a:t>
            </a:r>
            <a:r>
              <a:rPr sz="2800" spc="-5" dirty="0">
                <a:latin typeface="Comic Sans MS"/>
                <a:cs typeface="Comic Sans MS"/>
              </a:rPr>
              <a:t>terminology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8393" y="640079"/>
            <a:ext cx="69081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Semantic Web </a:t>
            </a:r>
            <a:r>
              <a:rPr sz="3600" dirty="0"/>
              <a:t>- </a:t>
            </a:r>
            <a:r>
              <a:rPr sz="3600" spc="-5" dirty="0"/>
              <a:t>Language</a:t>
            </a:r>
            <a:r>
              <a:rPr sz="3600" spc="-10" dirty="0"/>
              <a:t> </a:t>
            </a:r>
            <a:r>
              <a:rPr sz="3600" spc="-5" dirty="0"/>
              <a:t>tower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685800" y="1247774"/>
            <a:ext cx="7848600" cy="4848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6050" y="422465"/>
            <a:ext cx="12325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XML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302109"/>
            <a:ext cx="8069580" cy="512000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Comic Sans MS"/>
                <a:cs typeface="Comic Sans MS"/>
              </a:rPr>
              <a:t>Tags define </a:t>
            </a:r>
            <a:r>
              <a:rPr sz="2800" spc="-5" dirty="0">
                <a:latin typeface="Comic Sans MS"/>
                <a:cs typeface="Comic Sans MS"/>
              </a:rPr>
              <a:t>the semantics </a:t>
            </a:r>
            <a:r>
              <a:rPr sz="2800" dirty="0">
                <a:latin typeface="Comic Sans MS"/>
                <a:cs typeface="Comic Sans MS"/>
              </a:rPr>
              <a:t>of </a:t>
            </a:r>
            <a:r>
              <a:rPr sz="2800" spc="-5" dirty="0">
                <a:latin typeface="Comic Sans MS"/>
                <a:cs typeface="Comic Sans MS"/>
              </a:rPr>
              <a:t>the</a:t>
            </a:r>
            <a:r>
              <a:rPr sz="2800" spc="1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data</a:t>
            </a:r>
            <a:endParaRPr sz="2800">
              <a:latin typeface="Comic Sans MS"/>
              <a:cs typeface="Comic Sans MS"/>
            </a:endParaRPr>
          </a:p>
          <a:p>
            <a:pPr marL="4699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Comic Sans MS"/>
                <a:cs typeface="Comic Sans MS"/>
              </a:rPr>
              <a:t>&lt;name&gt;Dieter</a:t>
            </a:r>
            <a:r>
              <a:rPr sz="2800" dirty="0">
                <a:latin typeface="Comic Sans MS"/>
                <a:cs typeface="Comic Sans MS"/>
              </a:rPr>
              <a:t> </a:t>
            </a:r>
            <a:r>
              <a:rPr sz="2800" spc="-5" dirty="0">
                <a:latin typeface="Comic Sans MS"/>
                <a:cs typeface="Comic Sans MS"/>
              </a:rPr>
              <a:t>Fensel&lt;/name&gt;</a:t>
            </a:r>
            <a:endParaRPr sz="2800">
              <a:latin typeface="Comic Sans MS"/>
              <a:cs typeface="Comic Sans MS"/>
            </a:endParaRPr>
          </a:p>
          <a:p>
            <a:pPr marL="355600" marR="5080" indent="-342900">
              <a:lnSpc>
                <a:spcPts val="3329"/>
              </a:lnSpc>
              <a:spcBef>
                <a:spcPts val="81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omic Sans MS"/>
                <a:cs typeface="Comic Sans MS"/>
              </a:rPr>
              <a:t>XML </a:t>
            </a:r>
            <a:r>
              <a:rPr sz="2800" dirty="0">
                <a:latin typeface="Comic Sans MS"/>
                <a:cs typeface="Comic Sans MS"/>
              </a:rPr>
              <a:t>provides arbitrary tress </a:t>
            </a:r>
            <a:r>
              <a:rPr sz="2800" spc="-5" dirty="0">
                <a:latin typeface="Comic Sans MS"/>
                <a:cs typeface="Comic Sans MS"/>
              </a:rPr>
              <a:t>(graphs) </a:t>
            </a:r>
            <a:r>
              <a:rPr sz="2800" dirty="0">
                <a:latin typeface="Comic Sans MS"/>
                <a:cs typeface="Comic Sans MS"/>
              </a:rPr>
              <a:t>as data  </a:t>
            </a:r>
            <a:r>
              <a:rPr sz="2800" spc="-5" dirty="0">
                <a:latin typeface="Comic Sans MS"/>
                <a:cs typeface="Comic Sans MS"/>
              </a:rPr>
              <a:t>structures</a:t>
            </a:r>
            <a:endParaRPr sz="2800">
              <a:latin typeface="Comic Sans MS"/>
              <a:cs typeface="Comic Sans MS"/>
            </a:endParaRPr>
          </a:p>
          <a:p>
            <a:pPr marL="469900">
              <a:lnSpc>
                <a:spcPct val="100000"/>
              </a:lnSpc>
              <a:spcBef>
                <a:spcPts val="505"/>
              </a:spcBef>
            </a:pPr>
            <a:r>
              <a:rPr sz="2400" spc="-5" dirty="0">
                <a:latin typeface="Comic Sans MS"/>
                <a:cs typeface="Comic Sans MS"/>
              </a:rPr>
              <a:t>&lt;person&gt;</a:t>
            </a:r>
            <a:endParaRPr sz="2400">
              <a:latin typeface="Comic Sans MS"/>
              <a:cs typeface="Comic Sans MS"/>
            </a:endParaRPr>
          </a:p>
          <a:p>
            <a:pPr marL="927100">
              <a:lnSpc>
                <a:spcPct val="100000"/>
              </a:lnSpc>
              <a:spcBef>
                <a:spcPts val="520"/>
              </a:spcBef>
            </a:pPr>
            <a:r>
              <a:rPr sz="2000" spc="-5" dirty="0">
                <a:latin typeface="Comic Sans MS"/>
                <a:cs typeface="Comic Sans MS"/>
              </a:rPr>
              <a:t>&lt;name&gt;Dieter Fensel&lt;/name&gt;</a:t>
            </a:r>
            <a:endParaRPr sz="2000">
              <a:latin typeface="Comic Sans MS"/>
              <a:cs typeface="Comic Sans MS"/>
            </a:endParaRPr>
          </a:p>
          <a:p>
            <a:pPr marL="927100">
              <a:lnSpc>
                <a:spcPct val="100000"/>
              </a:lnSpc>
              <a:spcBef>
                <a:spcPts val="465"/>
              </a:spcBef>
            </a:pPr>
            <a:r>
              <a:rPr sz="2000" spc="-5" dirty="0">
                <a:latin typeface="Comic Sans MS"/>
                <a:cs typeface="Comic Sans MS"/>
              </a:rPr>
              <a:t>&lt;phone&gt;6084751&lt;/phone&gt;</a:t>
            </a:r>
            <a:endParaRPr sz="2000">
              <a:latin typeface="Comic Sans MS"/>
              <a:cs typeface="Comic Sans MS"/>
            </a:endParaRPr>
          </a:p>
          <a:p>
            <a:pPr marL="469900">
              <a:lnSpc>
                <a:spcPct val="100000"/>
              </a:lnSpc>
              <a:spcBef>
                <a:spcPts val="565"/>
              </a:spcBef>
            </a:pPr>
            <a:r>
              <a:rPr sz="2400" spc="-5" dirty="0">
                <a:latin typeface="Comic Sans MS"/>
                <a:cs typeface="Comic Sans MS"/>
              </a:rPr>
              <a:t>&lt;/person&gt;</a:t>
            </a:r>
            <a:endParaRPr sz="2400">
              <a:latin typeface="Comic Sans MS"/>
              <a:cs typeface="Comic Sans MS"/>
            </a:endParaRPr>
          </a:p>
          <a:p>
            <a:pPr marL="355600" marR="963294" indent="-342900">
              <a:lnSpc>
                <a:spcPts val="3329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omic Sans MS"/>
                <a:cs typeface="Comic Sans MS"/>
              </a:rPr>
              <a:t>XML allows </a:t>
            </a:r>
            <a:r>
              <a:rPr sz="2800" dirty="0">
                <a:latin typeface="Comic Sans MS"/>
                <a:cs typeface="Comic Sans MS"/>
              </a:rPr>
              <a:t>the definition of </a:t>
            </a:r>
            <a:r>
              <a:rPr sz="2800" spc="-5" dirty="0">
                <a:latin typeface="Comic Sans MS"/>
                <a:cs typeface="Comic Sans MS"/>
              </a:rPr>
              <a:t>application-  specific </a:t>
            </a:r>
            <a:r>
              <a:rPr sz="2800" dirty="0">
                <a:latin typeface="Comic Sans MS"/>
                <a:cs typeface="Comic Sans MS"/>
              </a:rPr>
              <a:t>tags</a:t>
            </a:r>
            <a:endParaRPr sz="2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3200" spc="-5" dirty="0">
                <a:latin typeface="Comic Sans MS"/>
                <a:cs typeface="Comic Sans MS"/>
                <a:hlinkClick r:id="rId2"/>
              </a:rPr>
              <a:t>http://www.w3.org/XML/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1468" y="803465"/>
            <a:ext cx="34220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XML</a:t>
            </a:r>
            <a:r>
              <a:rPr spc="-75" dirty="0"/>
              <a:t> </a:t>
            </a:r>
            <a:r>
              <a:rPr spc="-5" dirty="0"/>
              <a:t>Schema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92465"/>
            <a:ext cx="7566025" cy="35775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5600" marR="447675" indent="-342900">
              <a:lnSpc>
                <a:spcPct val="100699"/>
              </a:lnSpc>
              <a:spcBef>
                <a:spcPts val="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omic Sans MS"/>
                <a:cs typeface="Comic Sans MS"/>
              </a:rPr>
              <a:t>DTDs allow </a:t>
            </a:r>
            <a:r>
              <a:rPr sz="2400" spc="-5" dirty="0">
                <a:latin typeface="Comic Sans MS"/>
                <a:cs typeface="Comic Sans MS"/>
              </a:rPr>
              <a:t>to </a:t>
            </a:r>
            <a:r>
              <a:rPr sz="2400" dirty="0">
                <a:latin typeface="Comic Sans MS"/>
                <a:cs typeface="Comic Sans MS"/>
              </a:rPr>
              <a:t>define a </a:t>
            </a:r>
            <a:r>
              <a:rPr sz="2400" spc="-5" dirty="0">
                <a:latin typeface="Comic Sans MS"/>
                <a:cs typeface="Comic Sans MS"/>
              </a:rPr>
              <a:t>grammar </a:t>
            </a:r>
            <a:r>
              <a:rPr sz="2400" dirty="0">
                <a:latin typeface="Comic Sans MS"/>
                <a:cs typeface="Comic Sans MS"/>
              </a:rPr>
              <a:t>and</a:t>
            </a:r>
            <a:r>
              <a:rPr sz="2400" spc="-1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meaningful  </a:t>
            </a:r>
            <a:r>
              <a:rPr sz="2400" spc="-5" dirty="0">
                <a:latin typeface="Comic Sans MS"/>
                <a:cs typeface="Comic Sans MS"/>
              </a:rPr>
              <a:t>tag </a:t>
            </a:r>
            <a:r>
              <a:rPr sz="2400" dirty="0">
                <a:latin typeface="Comic Sans MS"/>
                <a:cs typeface="Comic Sans MS"/>
              </a:rPr>
              <a:t>for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documents</a:t>
            </a:r>
            <a:endParaRPr sz="2400" dirty="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55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omic Sans MS"/>
                <a:cs typeface="Comic Sans MS"/>
              </a:rPr>
              <a:t>XML </a:t>
            </a:r>
            <a:r>
              <a:rPr sz="2400" spc="-5" dirty="0">
                <a:latin typeface="Comic Sans MS"/>
                <a:cs typeface="Comic Sans MS"/>
              </a:rPr>
              <a:t>schema provides similar service </a:t>
            </a:r>
            <a:r>
              <a:rPr sz="2400" dirty="0">
                <a:latin typeface="Comic Sans MS"/>
                <a:cs typeface="Comic Sans MS"/>
              </a:rPr>
              <a:t>and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add:</a:t>
            </a:r>
            <a:endParaRPr sz="2400" dirty="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omic Sans MS"/>
                <a:cs typeface="Comic Sans MS"/>
              </a:rPr>
              <a:t>XML schemas definition </a:t>
            </a:r>
            <a:r>
              <a:rPr sz="2000" dirty="0">
                <a:latin typeface="Comic Sans MS"/>
                <a:cs typeface="Comic Sans MS"/>
              </a:rPr>
              <a:t>are </a:t>
            </a:r>
            <a:r>
              <a:rPr sz="2000" spc="-5" dirty="0">
                <a:latin typeface="Comic Sans MS"/>
                <a:cs typeface="Comic Sans MS"/>
              </a:rPr>
              <a:t>itself XML</a:t>
            </a:r>
            <a:r>
              <a:rPr sz="2000" spc="2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documents</a:t>
            </a:r>
            <a:endParaRPr sz="2000" dirty="0">
              <a:latin typeface="Comic Sans MS"/>
              <a:cs typeface="Comic Sans MS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47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omic Sans MS"/>
                <a:cs typeface="Comic Sans MS"/>
              </a:rPr>
              <a:t>XML schemas provide </a:t>
            </a:r>
            <a:r>
              <a:rPr sz="2000" dirty="0">
                <a:latin typeface="Comic Sans MS"/>
                <a:cs typeface="Comic Sans MS"/>
              </a:rPr>
              <a:t>a </a:t>
            </a:r>
            <a:r>
              <a:rPr sz="2000" spc="-5" dirty="0">
                <a:latin typeface="Comic Sans MS"/>
                <a:cs typeface="Comic Sans MS"/>
              </a:rPr>
              <a:t>rich </a:t>
            </a:r>
            <a:r>
              <a:rPr sz="2000" dirty="0">
                <a:latin typeface="Comic Sans MS"/>
                <a:cs typeface="Comic Sans MS"/>
              </a:rPr>
              <a:t>set </a:t>
            </a:r>
            <a:r>
              <a:rPr sz="2000" spc="-5" dirty="0">
                <a:latin typeface="Comic Sans MS"/>
                <a:cs typeface="Comic Sans MS"/>
              </a:rPr>
              <a:t>of datatypes that can </a:t>
            </a:r>
            <a:r>
              <a:rPr sz="2000" dirty="0">
                <a:latin typeface="Comic Sans MS"/>
                <a:cs typeface="Comic Sans MS"/>
              </a:rPr>
              <a:t>be  </a:t>
            </a:r>
            <a:r>
              <a:rPr sz="2000" spc="-5" dirty="0">
                <a:latin typeface="Comic Sans MS"/>
                <a:cs typeface="Comic Sans MS"/>
              </a:rPr>
              <a:t>used to define the values of elementary</a:t>
            </a:r>
            <a:r>
              <a:rPr sz="2000" spc="3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tags</a:t>
            </a:r>
            <a:endParaRPr sz="2000" dirty="0">
              <a:latin typeface="Comic Sans MS"/>
              <a:cs typeface="Comic Sans MS"/>
            </a:endParaRPr>
          </a:p>
          <a:p>
            <a:pPr marL="755650" marR="449580" lvl="1" indent="-285750">
              <a:lnSpc>
                <a:spcPct val="100000"/>
              </a:lnSpc>
              <a:spcBef>
                <a:spcPts val="50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omic Sans MS"/>
                <a:cs typeface="Comic Sans MS"/>
              </a:rPr>
              <a:t>XML schemas provide much richer means for defining  nested tags (such </a:t>
            </a:r>
            <a:r>
              <a:rPr sz="2000" dirty="0">
                <a:latin typeface="Comic Sans MS"/>
                <a:cs typeface="Comic Sans MS"/>
              </a:rPr>
              <a:t>as </a:t>
            </a:r>
            <a:r>
              <a:rPr sz="2000" spc="-5" dirty="0">
                <a:latin typeface="Comic Sans MS"/>
                <a:cs typeface="Comic Sans MS"/>
              </a:rPr>
              <a:t>tags with</a:t>
            </a:r>
            <a:r>
              <a:rPr sz="2000" spc="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subtags)</a:t>
            </a:r>
            <a:endParaRPr sz="2000" dirty="0">
              <a:latin typeface="Comic Sans MS"/>
              <a:cs typeface="Comic Sans MS"/>
            </a:endParaRPr>
          </a:p>
          <a:p>
            <a:pPr marL="755650" marR="156845" lvl="1" indent="-285750">
              <a:lnSpc>
                <a:spcPct val="100000"/>
              </a:lnSpc>
              <a:spcBef>
                <a:spcPts val="46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omic Sans MS"/>
                <a:cs typeface="Comic Sans MS"/>
              </a:rPr>
              <a:t>XML schemas provide the namespace mechanism to  combine XML documents with heterogeneous</a:t>
            </a:r>
            <a:r>
              <a:rPr sz="2000" spc="5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vocabulary</a:t>
            </a:r>
            <a:endParaRPr sz="20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2406" y="803465"/>
            <a:ext cx="11182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RDF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768665"/>
            <a:ext cx="7454900" cy="4545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465455" indent="-342900" algn="just">
              <a:lnSpc>
                <a:spcPct val="99700"/>
              </a:lnSpc>
              <a:spcBef>
                <a:spcPts val="110"/>
              </a:spcBef>
              <a:buChar char="•"/>
              <a:tabLst>
                <a:tab pos="355600" algn="l"/>
              </a:tabLst>
            </a:pPr>
            <a:r>
              <a:rPr sz="2800" spc="-5" dirty="0">
                <a:latin typeface="Comic Sans MS"/>
                <a:cs typeface="Comic Sans MS"/>
              </a:rPr>
              <a:t>XML </a:t>
            </a:r>
            <a:r>
              <a:rPr sz="2800" dirty="0">
                <a:latin typeface="Comic Sans MS"/>
                <a:cs typeface="Comic Sans MS"/>
              </a:rPr>
              <a:t>provides </a:t>
            </a:r>
            <a:r>
              <a:rPr sz="2800" spc="-5" dirty="0">
                <a:latin typeface="Comic Sans MS"/>
                <a:cs typeface="Comic Sans MS"/>
              </a:rPr>
              <a:t>semantic </a:t>
            </a:r>
            <a:r>
              <a:rPr sz="2800" dirty="0">
                <a:latin typeface="Comic Sans MS"/>
                <a:cs typeface="Comic Sans MS"/>
              </a:rPr>
              <a:t>information as a  </a:t>
            </a:r>
            <a:r>
              <a:rPr sz="2800" spc="-5" dirty="0">
                <a:latin typeface="Comic Sans MS"/>
                <a:cs typeface="Comic Sans MS"/>
              </a:rPr>
              <a:t>by-product </a:t>
            </a:r>
            <a:r>
              <a:rPr sz="2800" dirty="0">
                <a:latin typeface="Comic Sans MS"/>
                <a:cs typeface="Comic Sans MS"/>
              </a:rPr>
              <a:t>of defining </a:t>
            </a:r>
            <a:r>
              <a:rPr sz="2800" spc="-5" dirty="0">
                <a:latin typeface="Comic Sans MS"/>
                <a:cs typeface="Comic Sans MS"/>
              </a:rPr>
              <a:t>the structure </a:t>
            </a:r>
            <a:r>
              <a:rPr sz="2800" dirty="0">
                <a:latin typeface="Comic Sans MS"/>
                <a:cs typeface="Comic Sans MS"/>
              </a:rPr>
              <a:t>of  </a:t>
            </a:r>
            <a:r>
              <a:rPr sz="2800" spc="-5" dirty="0">
                <a:latin typeface="Comic Sans MS"/>
                <a:cs typeface="Comic Sans MS"/>
              </a:rPr>
              <a:t>the document</a:t>
            </a:r>
            <a:endParaRPr sz="2800">
              <a:latin typeface="Comic Sans MS"/>
              <a:cs typeface="Comic Sans MS"/>
            </a:endParaRPr>
          </a:p>
          <a:p>
            <a:pPr marL="355600" marR="508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omic Sans MS"/>
                <a:cs typeface="Comic Sans MS"/>
              </a:rPr>
              <a:t>XML prescribes </a:t>
            </a:r>
            <a:r>
              <a:rPr sz="2800" dirty="0">
                <a:latin typeface="Comic Sans MS"/>
                <a:cs typeface="Comic Sans MS"/>
              </a:rPr>
              <a:t>a tree </a:t>
            </a:r>
            <a:r>
              <a:rPr sz="2800" spc="-5" dirty="0">
                <a:latin typeface="Comic Sans MS"/>
                <a:cs typeface="Comic Sans MS"/>
              </a:rPr>
              <a:t>structure </a:t>
            </a:r>
            <a:r>
              <a:rPr sz="2800" dirty="0">
                <a:latin typeface="Comic Sans MS"/>
                <a:cs typeface="Comic Sans MS"/>
              </a:rPr>
              <a:t>for  </a:t>
            </a:r>
            <a:r>
              <a:rPr sz="2800" spc="-5" dirty="0">
                <a:latin typeface="Comic Sans MS"/>
                <a:cs typeface="Comic Sans MS"/>
              </a:rPr>
              <a:t>documents and the </a:t>
            </a:r>
            <a:r>
              <a:rPr sz="2800" dirty="0">
                <a:latin typeface="Comic Sans MS"/>
                <a:cs typeface="Comic Sans MS"/>
              </a:rPr>
              <a:t>different </a:t>
            </a:r>
            <a:r>
              <a:rPr sz="2800" spc="-5" dirty="0">
                <a:latin typeface="Comic Sans MS"/>
                <a:cs typeface="Comic Sans MS"/>
              </a:rPr>
              <a:t>leaves </a:t>
            </a:r>
            <a:r>
              <a:rPr sz="2800" dirty="0">
                <a:latin typeface="Comic Sans MS"/>
                <a:cs typeface="Comic Sans MS"/>
              </a:rPr>
              <a:t>of </a:t>
            </a:r>
            <a:r>
              <a:rPr sz="2800" spc="-5" dirty="0">
                <a:latin typeface="Comic Sans MS"/>
                <a:cs typeface="Comic Sans MS"/>
              </a:rPr>
              <a:t>the  </a:t>
            </a:r>
            <a:r>
              <a:rPr sz="2800" dirty="0">
                <a:latin typeface="Comic Sans MS"/>
                <a:cs typeface="Comic Sans MS"/>
              </a:rPr>
              <a:t>tree </a:t>
            </a:r>
            <a:r>
              <a:rPr sz="2800" spc="-5" dirty="0">
                <a:latin typeface="Comic Sans MS"/>
                <a:cs typeface="Comic Sans MS"/>
              </a:rPr>
              <a:t>have </a:t>
            </a:r>
            <a:r>
              <a:rPr sz="2800" dirty="0">
                <a:latin typeface="Comic Sans MS"/>
                <a:cs typeface="Comic Sans MS"/>
              </a:rPr>
              <a:t>a </a:t>
            </a:r>
            <a:r>
              <a:rPr sz="2800" spc="-5" dirty="0">
                <a:latin typeface="Comic Sans MS"/>
                <a:cs typeface="Comic Sans MS"/>
              </a:rPr>
              <a:t>well-defined </a:t>
            </a:r>
            <a:r>
              <a:rPr sz="2800" dirty="0">
                <a:latin typeface="Comic Sans MS"/>
                <a:cs typeface="Comic Sans MS"/>
              </a:rPr>
              <a:t>tag </a:t>
            </a:r>
            <a:r>
              <a:rPr sz="2800" spc="-5" dirty="0">
                <a:latin typeface="Comic Sans MS"/>
                <a:cs typeface="Comic Sans MS"/>
              </a:rPr>
              <a:t>and context  the information can </a:t>
            </a:r>
            <a:r>
              <a:rPr sz="2800" dirty="0">
                <a:latin typeface="Comic Sans MS"/>
                <a:cs typeface="Comic Sans MS"/>
              </a:rPr>
              <a:t>be </a:t>
            </a:r>
            <a:r>
              <a:rPr sz="2800" spc="-5" dirty="0">
                <a:latin typeface="Comic Sans MS"/>
                <a:cs typeface="Comic Sans MS"/>
              </a:rPr>
              <a:t>understood</a:t>
            </a:r>
            <a:r>
              <a:rPr sz="2800" spc="15" dirty="0">
                <a:latin typeface="Comic Sans MS"/>
                <a:cs typeface="Comic Sans MS"/>
              </a:rPr>
              <a:t> </a:t>
            </a:r>
            <a:r>
              <a:rPr sz="2800" spc="-5" dirty="0">
                <a:latin typeface="Comic Sans MS"/>
                <a:cs typeface="Comic Sans MS"/>
              </a:rPr>
              <a:t>with.</a:t>
            </a:r>
            <a:endParaRPr sz="28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Comic Sans MS"/>
              <a:buChar char="•"/>
            </a:pPr>
            <a:endParaRPr sz="4200">
              <a:latin typeface="Times New Roman"/>
              <a:cs typeface="Times New Roman"/>
            </a:endParaRPr>
          </a:p>
          <a:p>
            <a:pPr marL="355600" marR="1207135" indent="-342900">
              <a:lnSpc>
                <a:spcPts val="3329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omic Sans MS"/>
                <a:cs typeface="Comic Sans MS"/>
              </a:rPr>
              <a:t>That is, structure </a:t>
            </a:r>
            <a:r>
              <a:rPr sz="2800" dirty="0">
                <a:latin typeface="Comic Sans MS"/>
                <a:cs typeface="Comic Sans MS"/>
              </a:rPr>
              <a:t>and </a:t>
            </a:r>
            <a:r>
              <a:rPr sz="2800" spc="-5" dirty="0">
                <a:latin typeface="Comic Sans MS"/>
                <a:cs typeface="Comic Sans MS"/>
              </a:rPr>
              <a:t>semantics </a:t>
            </a:r>
            <a:r>
              <a:rPr sz="2800" dirty="0">
                <a:latin typeface="Comic Sans MS"/>
                <a:cs typeface="Comic Sans MS"/>
              </a:rPr>
              <a:t>of  </a:t>
            </a:r>
            <a:r>
              <a:rPr sz="2800" spc="-5" dirty="0">
                <a:latin typeface="Comic Sans MS"/>
                <a:cs typeface="Comic Sans MS"/>
              </a:rPr>
              <a:t>documents </a:t>
            </a:r>
            <a:r>
              <a:rPr sz="2800" dirty="0">
                <a:latin typeface="Comic Sans MS"/>
                <a:cs typeface="Comic Sans MS"/>
              </a:rPr>
              <a:t>are</a:t>
            </a:r>
            <a:r>
              <a:rPr sz="2800" spc="-5" dirty="0">
                <a:latin typeface="Comic Sans MS"/>
                <a:cs typeface="Comic Sans MS"/>
              </a:rPr>
              <a:t> interwoven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0550" y="4953000"/>
            <a:ext cx="1543050" cy="457200"/>
          </a:xfrm>
          <a:custGeom>
            <a:avLst/>
            <a:gdLst/>
            <a:ahLst/>
            <a:cxnLst/>
            <a:rect l="l" t="t" r="r" b="b"/>
            <a:pathLst>
              <a:path w="1543050" h="457200">
                <a:moveTo>
                  <a:pt x="1085850" y="0"/>
                </a:moveTo>
                <a:lnTo>
                  <a:pt x="1085850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1085850" y="342900"/>
                </a:lnTo>
                <a:lnTo>
                  <a:pt x="1085850" y="457200"/>
                </a:lnTo>
                <a:lnTo>
                  <a:pt x="1543050" y="228600"/>
                </a:lnTo>
                <a:lnTo>
                  <a:pt x="108585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9100" y="5067300"/>
            <a:ext cx="114300" cy="228600"/>
          </a:xfrm>
          <a:custGeom>
            <a:avLst/>
            <a:gdLst/>
            <a:ahLst/>
            <a:cxnLst/>
            <a:rect l="l" t="t" r="r" b="b"/>
            <a:pathLst>
              <a:path w="114300" h="228600">
                <a:moveTo>
                  <a:pt x="0" y="228600"/>
                </a:moveTo>
                <a:lnTo>
                  <a:pt x="114300" y="228600"/>
                </a:lnTo>
                <a:lnTo>
                  <a:pt x="1143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3375" y="5067300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57150">
            <a:solidFill>
              <a:srgbClr val="00CC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0550" y="4953000"/>
            <a:ext cx="1543050" cy="457200"/>
          </a:xfrm>
          <a:custGeom>
            <a:avLst/>
            <a:gdLst/>
            <a:ahLst/>
            <a:cxnLst/>
            <a:rect l="l" t="t" r="r" b="b"/>
            <a:pathLst>
              <a:path w="1543050" h="457200">
                <a:moveTo>
                  <a:pt x="1085850" y="0"/>
                </a:moveTo>
                <a:lnTo>
                  <a:pt x="1085850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1085850" y="342900"/>
                </a:lnTo>
                <a:lnTo>
                  <a:pt x="1085850" y="457200"/>
                </a:lnTo>
                <a:lnTo>
                  <a:pt x="1543050" y="228600"/>
                </a:lnTo>
                <a:lnTo>
                  <a:pt x="108585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9100" y="5067300"/>
            <a:ext cx="114300" cy="228600"/>
          </a:xfrm>
          <a:custGeom>
            <a:avLst/>
            <a:gdLst/>
            <a:ahLst/>
            <a:cxnLst/>
            <a:rect l="l" t="t" r="r" b="b"/>
            <a:pathLst>
              <a:path w="114300" h="228600">
                <a:moveTo>
                  <a:pt x="0" y="0"/>
                </a:moveTo>
                <a:lnTo>
                  <a:pt x="114300" y="0"/>
                </a:lnTo>
                <a:lnTo>
                  <a:pt x="1143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4800" y="5067300"/>
            <a:ext cx="57150" cy="228600"/>
          </a:xfrm>
          <a:custGeom>
            <a:avLst/>
            <a:gdLst/>
            <a:ahLst/>
            <a:cxnLst/>
            <a:rect l="l" t="t" r="r" b="b"/>
            <a:pathLst>
              <a:path w="57150" h="228600">
                <a:moveTo>
                  <a:pt x="0" y="0"/>
                </a:moveTo>
                <a:lnTo>
                  <a:pt x="57150" y="0"/>
                </a:lnTo>
                <a:lnTo>
                  <a:pt x="5715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2406" y="803465"/>
            <a:ext cx="11182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RDF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93074"/>
            <a:ext cx="7279640" cy="3925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omic Sans MS"/>
                <a:cs typeface="Comic Sans MS"/>
              </a:rPr>
              <a:t>The Resource Decription </a:t>
            </a:r>
            <a:r>
              <a:rPr sz="3200" spc="-5" dirty="0">
                <a:latin typeface="Comic Sans MS"/>
                <a:cs typeface="Comic Sans MS"/>
              </a:rPr>
              <a:t>Framework  </a:t>
            </a:r>
            <a:r>
              <a:rPr sz="3200" dirty="0">
                <a:latin typeface="Comic Sans MS"/>
                <a:cs typeface="Comic Sans MS"/>
              </a:rPr>
              <a:t>RDF </a:t>
            </a:r>
            <a:r>
              <a:rPr sz="3200" spc="-5" dirty="0">
                <a:latin typeface="Comic Sans MS"/>
                <a:cs typeface="Comic Sans MS"/>
              </a:rPr>
              <a:t>provides </a:t>
            </a:r>
            <a:r>
              <a:rPr sz="3200" dirty="0">
                <a:latin typeface="Comic Sans MS"/>
                <a:cs typeface="Comic Sans MS"/>
              </a:rPr>
              <a:t>a </a:t>
            </a:r>
            <a:r>
              <a:rPr sz="3200" spc="-5" dirty="0">
                <a:latin typeface="Comic Sans MS"/>
                <a:cs typeface="Comic Sans MS"/>
              </a:rPr>
              <a:t>means for adding  semantics </a:t>
            </a:r>
            <a:r>
              <a:rPr sz="3200" dirty="0">
                <a:latin typeface="Comic Sans MS"/>
                <a:cs typeface="Comic Sans MS"/>
              </a:rPr>
              <a:t>to a </a:t>
            </a:r>
            <a:r>
              <a:rPr sz="3200" spc="-5" dirty="0">
                <a:latin typeface="Comic Sans MS"/>
                <a:cs typeface="Comic Sans MS"/>
              </a:rPr>
              <a:t>document without  making any assumptions about </a:t>
            </a:r>
            <a:r>
              <a:rPr sz="3200" dirty="0">
                <a:latin typeface="Comic Sans MS"/>
                <a:cs typeface="Comic Sans MS"/>
              </a:rPr>
              <a:t>the  </a:t>
            </a:r>
            <a:r>
              <a:rPr sz="3200" spc="-5" dirty="0">
                <a:latin typeface="Comic Sans MS"/>
                <a:cs typeface="Comic Sans MS"/>
              </a:rPr>
              <a:t>structure </a:t>
            </a:r>
            <a:r>
              <a:rPr sz="3200" dirty="0">
                <a:latin typeface="Comic Sans MS"/>
                <a:cs typeface="Comic Sans MS"/>
              </a:rPr>
              <a:t>of the </a:t>
            </a:r>
            <a:r>
              <a:rPr sz="3200" spc="-5" dirty="0">
                <a:latin typeface="Comic Sans MS"/>
                <a:cs typeface="Comic Sans MS"/>
              </a:rPr>
              <a:t>document and </a:t>
            </a:r>
            <a:r>
              <a:rPr sz="3200" dirty="0">
                <a:latin typeface="Comic Sans MS"/>
                <a:cs typeface="Comic Sans MS"/>
              </a:rPr>
              <a:t>it  </a:t>
            </a:r>
            <a:r>
              <a:rPr sz="3200" spc="-5" dirty="0">
                <a:latin typeface="Comic Sans MS"/>
                <a:cs typeface="Comic Sans MS"/>
              </a:rPr>
              <a:t>provides pre-defined modeling  </a:t>
            </a:r>
            <a:r>
              <a:rPr sz="3200" dirty="0">
                <a:latin typeface="Comic Sans MS"/>
                <a:cs typeface="Comic Sans MS"/>
              </a:rPr>
              <a:t>primitives </a:t>
            </a:r>
            <a:r>
              <a:rPr sz="3200" spc="-5" dirty="0">
                <a:latin typeface="Comic Sans MS"/>
                <a:cs typeface="Comic Sans MS"/>
              </a:rPr>
              <a:t>for expressing semantics  </a:t>
            </a:r>
            <a:r>
              <a:rPr sz="3200" dirty="0">
                <a:latin typeface="Comic Sans MS"/>
                <a:cs typeface="Comic Sans MS"/>
              </a:rPr>
              <a:t>of </a:t>
            </a:r>
            <a:r>
              <a:rPr sz="3200" spc="-5" dirty="0">
                <a:latin typeface="Comic Sans MS"/>
                <a:cs typeface="Comic Sans MS"/>
              </a:rPr>
              <a:t>data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7825" y="803465"/>
            <a:ext cx="33077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RDF</a:t>
            </a:r>
            <a:r>
              <a:rPr spc="-85" dirty="0"/>
              <a:t> </a:t>
            </a:r>
            <a:r>
              <a:rPr spc="-5" dirty="0"/>
              <a:t>Schema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92465"/>
            <a:ext cx="7275830" cy="451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64160" indent="-3429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omic Sans MS"/>
                <a:cs typeface="Comic Sans MS"/>
              </a:rPr>
              <a:t>RDFs provides a </a:t>
            </a:r>
            <a:r>
              <a:rPr sz="2800" spc="-5" dirty="0">
                <a:latin typeface="Comic Sans MS"/>
                <a:cs typeface="Comic Sans MS"/>
              </a:rPr>
              <a:t>simple </a:t>
            </a:r>
            <a:r>
              <a:rPr sz="2800" dirty="0">
                <a:latin typeface="Comic Sans MS"/>
                <a:cs typeface="Comic Sans MS"/>
              </a:rPr>
              <a:t>and basic </a:t>
            </a:r>
            <a:r>
              <a:rPr sz="2800" spc="-5" dirty="0">
                <a:latin typeface="Comic Sans MS"/>
                <a:cs typeface="Comic Sans MS"/>
              </a:rPr>
              <a:t>modeling  language </a:t>
            </a:r>
            <a:r>
              <a:rPr sz="2800" dirty="0">
                <a:latin typeface="Comic Sans MS"/>
                <a:cs typeface="Comic Sans MS"/>
              </a:rPr>
              <a:t>for</a:t>
            </a:r>
            <a:r>
              <a:rPr sz="2800" spc="10" dirty="0">
                <a:latin typeface="Comic Sans MS"/>
                <a:cs typeface="Comic Sans MS"/>
              </a:rPr>
              <a:t> </a:t>
            </a:r>
            <a:r>
              <a:rPr sz="2800" spc="-5" dirty="0">
                <a:latin typeface="Comic Sans MS"/>
                <a:cs typeface="Comic Sans MS"/>
              </a:rPr>
              <a:t>ontologies</a:t>
            </a:r>
            <a:endParaRPr sz="2800">
              <a:latin typeface="Comic Sans MS"/>
              <a:cs typeface="Comic Sans MS"/>
            </a:endParaRPr>
          </a:p>
          <a:p>
            <a:pPr marL="755650" indent="-285750">
              <a:lnSpc>
                <a:spcPct val="100000"/>
              </a:lnSpc>
              <a:spcBef>
                <a:spcPts val="58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Comic Sans MS"/>
                <a:cs typeface="Comic Sans MS"/>
              </a:rPr>
              <a:t>concepts</a:t>
            </a:r>
            <a:endParaRPr sz="2400">
              <a:latin typeface="Comic Sans MS"/>
              <a:cs typeface="Comic Sans MS"/>
            </a:endParaRPr>
          </a:p>
          <a:p>
            <a:pPr marL="755650" indent="-285750">
              <a:lnSpc>
                <a:spcPct val="100000"/>
              </a:lnSpc>
              <a:spcBef>
                <a:spcPts val="58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Comic Sans MS"/>
                <a:cs typeface="Comic Sans MS"/>
              </a:rPr>
              <a:t>properties</a:t>
            </a:r>
            <a:endParaRPr sz="2400">
              <a:latin typeface="Comic Sans MS"/>
              <a:cs typeface="Comic Sans MS"/>
            </a:endParaRPr>
          </a:p>
          <a:p>
            <a:pPr marL="755650" indent="-285750">
              <a:lnSpc>
                <a:spcPct val="100000"/>
              </a:lnSpc>
              <a:spcBef>
                <a:spcPts val="58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Comic Sans MS"/>
                <a:cs typeface="Comic Sans MS"/>
              </a:rPr>
              <a:t>is-a hierarchy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and</a:t>
            </a:r>
            <a:endParaRPr sz="2400">
              <a:latin typeface="Comic Sans MS"/>
              <a:cs typeface="Comic Sans MS"/>
            </a:endParaRPr>
          </a:p>
          <a:p>
            <a:pPr marL="755650" indent="-285750">
              <a:lnSpc>
                <a:spcPct val="100000"/>
              </a:lnSpc>
              <a:spcBef>
                <a:spcPts val="55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Comic Sans MS"/>
                <a:cs typeface="Comic Sans MS"/>
              </a:rPr>
              <a:t>simple domain </a:t>
            </a:r>
            <a:r>
              <a:rPr sz="2400" dirty="0">
                <a:latin typeface="Comic Sans MS"/>
                <a:cs typeface="Comic Sans MS"/>
              </a:rPr>
              <a:t>and </a:t>
            </a:r>
            <a:r>
              <a:rPr sz="2400" spc="-5" dirty="0">
                <a:latin typeface="Comic Sans MS"/>
                <a:cs typeface="Comic Sans MS"/>
              </a:rPr>
              <a:t>range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restrictions</a:t>
            </a:r>
            <a:endParaRPr sz="2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800" dirty="0">
                <a:latin typeface="Comic Sans MS"/>
                <a:cs typeface="Comic Sans MS"/>
              </a:rPr>
              <a:t>be </a:t>
            </a:r>
            <a:r>
              <a:rPr sz="2800" spc="-5" dirty="0">
                <a:latin typeface="Comic Sans MS"/>
                <a:cs typeface="Comic Sans MS"/>
              </a:rPr>
              <a:t>expressed </a:t>
            </a:r>
            <a:r>
              <a:rPr sz="2800" dirty="0">
                <a:latin typeface="Comic Sans MS"/>
                <a:cs typeface="Comic Sans MS"/>
              </a:rPr>
              <a:t>in RDFs</a:t>
            </a:r>
            <a:endParaRPr sz="2800">
              <a:latin typeface="Comic Sans MS"/>
              <a:cs typeface="Comic Sans MS"/>
            </a:endParaRPr>
          </a:p>
          <a:p>
            <a:pPr marL="355600" marR="5080" indent="-3429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Comic Sans MS"/>
                <a:cs typeface="Comic Sans MS"/>
              </a:rPr>
              <a:t>Advanced ontology modeling need </a:t>
            </a:r>
            <a:r>
              <a:rPr sz="2800" dirty="0">
                <a:latin typeface="Comic Sans MS"/>
                <a:cs typeface="Comic Sans MS"/>
              </a:rPr>
              <a:t>more,  </a:t>
            </a:r>
            <a:r>
              <a:rPr sz="2800" spc="-5" dirty="0">
                <a:latin typeface="Comic Sans MS"/>
                <a:cs typeface="Comic Sans MS"/>
              </a:rPr>
              <a:t>however, </a:t>
            </a:r>
            <a:r>
              <a:rPr sz="2800" dirty="0">
                <a:latin typeface="Comic Sans MS"/>
                <a:cs typeface="Comic Sans MS"/>
              </a:rPr>
              <a:t>can be realized as a </a:t>
            </a:r>
            <a:r>
              <a:rPr sz="2800" spc="-5" dirty="0">
                <a:latin typeface="Comic Sans MS"/>
                <a:cs typeface="Comic Sans MS"/>
              </a:rPr>
              <a:t>layer </a:t>
            </a:r>
            <a:r>
              <a:rPr sz="2800" dirty="0">
                <a:latin typeface="Comic Sans MS"/>
                <a:cs typeface="Comic Sans MS"/>
              </a:rPr>
              <a:t>on top  of</a:t>
            </a:r>
            <a:r>
              <a:rPr sz="2800" spc="-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RDFs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3668" y="574865"/>
            <a:ext cx="10845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OI</a:t>
            </a:r>
            <a:r>
              <a:rPr dirty="0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92465"/>
            <a:ext cx="7592059" cy="3610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omic Sans MS"/>
                <a:cs typeface="Comic Sans MS"/>
              </a:rPr>
              <a:t>OIL </a:t>
            </a:r>
            <a:r>
              <a:rPr sz="2800" dirty="0">
                <a:latin typeface="Comic Sans MS"/>
                <a:cs typeface="Comic Sans MS"/>
              </a:rPr>
              <a:t>adds a </a:t>
            </a:r>
            <a:r>
              <a:rPr sz="2800" spc="-5" dirty="0">
                <a:latin typeface="Comic Sans MS"/>
                <a:cs typeface="Comic Sans MS"/>
              </a:rPr>
              <a:t>simple Description Logic </a:t>
            </a:r>
            <a:r>
              <a:rPr sz="2800" dirty="0">
                <a:latin typeface="Comic Sans MS"/>
                <a:cs typeface="Comic Sans MS"/>
              </a:rPr>
              <a:t>to RDF  </a:t>
            </a:r>
            <a:r>
              <a:rPr sz="2800" spc="-5" dirty="0">
                <a:latin typeface="Comic Sans MS"/>
                <a:cs typeface="Comic Sans MS"/>
              </a:rPr>
              <a:t>Schema</a:t>
            </a:r>
            <a:endParaRPr sz="2800">
              <a:latin typeface="Comic Sans MS"/>
              <a:cs typeface="Comic Sans MS"/>
            </a:endParaRPr>
          </a:p>
          <a:p>
            <a:pPr marL="355600" marR="654050" indent="-342900">
              <a:lnSpc>
                <a:spcPct val="100000"/>
              </a:lnSpc>
              <a:spcBef>
                <a:spcPts val="64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omic Sans MS"/>
                <a:cs typeface="Comic Sans MS"/>
              </a:rPr>
              <a:t>It allows </a:t>
            </a:r>
            <a:r>
              <a:rPr sz="2800" dirty="0">
                <a:latin typeface="Comic Sans MS"/>
                <a:cs typeface="Comic Sans MS"/>
              </a:rPr>
              <a:t>to define </a:t>
            </a:r>
            <a:r>
              <a:rPr sz="2800" spc="-5" dirty="0">
                <a:latin typeface="Comic Sans MS"/>
                <a:cs typeface="Comic Sans MS"/>
              </a:rPr>
              <a:t>axioms </a:t>
            </a:r>
            <a:r>
              <a:rPr sz="2800" dirty="0">
                <a:latin typeface="Comic Sans MS"/>
                <a:cs typeface="Comic Sans MS"/>
              </a:rPr>
              <a:t>that </a:t>
            </a:r>
            <a:r>
              <a:rPr sz="2800" spc="-5" dirty="0">
                <a:latin typeface="Comic Sans MS"/>
                <a:cs typeface="Comic Sans MS"/>
              </a:rPr>
              <a:t>logically  </a:t>
            </a:r>
            <a:r>
              <a:rPr sz="2800" dirty="0">
                <a:latin typeface="Comic Sans MS"/>
                <a:cs typeface="Comic Sans MS"/>
              </a:rPr>
              <a:t>describe </a:t>
            </a:r>
            <a:r>
              <a:rPr sz="2800" spc="-5" dirty="0">
                <a:latin typeface="Comic Sans MS"/>
                <a:cs typeface="Comic Sans MS"/>
              </a:rPr>
              <a:t>classes, </a:t>
            </a:r>
            <a:r>
              <a:rPr sz="2800" dirty="0">
                <a:latin typeface="Comic Sans MS"/>
                <a:cs typeface="Comic Sans MS"/>
              </a:rPr>
              <a:t>properties </a:t>
            </a:r>
            <a:r>
              <a:rPr sz="2800" spc="-5" dirty="0">
                <a:latin typeface="Comic Sans MS"/>
                <a:cs typeface="Comic Sans MS"/>
              </a:rPr>
              <a:t>and their  hierarchies</a:t>
            </a:r>
            <a:endParaRPr sz="2800">
              <a:latin typeface="Comic Sans MS"/>
              <a:cs typeface="Comic Sans MS"/>
            </a:endParaRPr>
          </a:p>
          <a:p>
            <a:pPr marL="355600" marR="870585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omic Sans MS"/>
                <a:cs typeface="Comic Sans MS"/>
              </a:rPr>
              <a:t>OIL enables </a:t>
            </a:r>
            <a:r>
              <a:rPr sz="2800" dirty="0">
                <a:latin typeface="Comic Sans MS"/>
                <a:cs typeface="Comic Sans MS"/>
              </a:rPr>
              <a:t>to </a:t>
            </a:r>
            <a:r>
              <a:rPr sz="2800" spc="-5" dirty="0">
                <a:latin typeface="Comic Sans MS"/>
                <a:cs typeface="Comic Sans MS"/>
              </a:rPr>
              <a:t>define necessary and  sufficient conditions </a:t>
            </a:r>
            <a:r>
              <a:rPr sz="2800" dirty="0">
                <a:latin typeface="Comic Sans MS"/>
                <a:cs typeface="Comic Sans MS"/>
              </a:rPr>
              <a:t>that define </a:t>
            </a:r>
            <a:r>
              <a:rPr sz="2800" spc="-5" dirty="0">
                <a:latin typeface="Comic Sans MS"/>
                <a:cs typeface="Comic Sans MS"/>
              </a:rPr>
              <a:t>class  membership </a:t>
            </a:r>
            <a:r>
              <a:rPr sz="2800" dirty="0">
                <a:latin typeface="Comic Sans MS"/>
                <a:cs typeface="Comic Sans MS"/>
              </a:rPr>
              <a:t>of </a:t>
            </a:r>
            <a:r>
              <a:rPr sz="2800" spc="-5" dirty="0">
                <a:latin typeface="Comic Sans MS"/>
                <a:cs typeface="Comic Sans MS"/>
              </a:rPr>
              <a:t>instances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200" y="381000"/>
            <a:ext cx="6826250" cy="76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90193" y="384365"/>
            <a:ext cx="10845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OI</a:t>
            </a:r>
            <a:r>
              <a:rPr dirty="0"/>
              <a:t>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9125" y="1054243"/>
            <a:ext cx="8173084" cy="499872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5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omic Sans MS"/>
                <a:cs typeface="Comic Sans MS"/>
              </a:rPr>
              <a:t>OIL</a:t>
            </a:r>
            <a:endParaRPr sz="2800">
              <a:latin typeface="Comic Sans MS"/>
              <a:cs typeface="Comic Sans MS"/>
            </a:endParaRPr>
          </a:p>
          <a:p>
            <a:pPr marL="755650" marR="1640839" lvl="1" indent="-285750">
              <a:lnSpc>
                <a:spcPts val="2570"/>
              </a:lnSpc>
              <a:spcBef>
                <a:spcPts val="650"/>
              </a:spcBef>
              <a:buClr>
                <a:srgbClr val="99CCFF"/>
              </a:buClr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Comic Sans MS"/>
                <a:cs typeface="Comic Sans MS"/>
              </a:rPr>
              <a:t>Developed </a:t>
            </a:r>
            <a:r>
              <a:rPr sz="2400" dirty="0">
                <a:latin typeface="Comic Sans MS"/>
                <a:cs typeface="Comic Sans MS"/>
              </a:rPr>
              <a:t>in </a:t>
            </a:r>
            <a:r>
              <a:rPr sz="2400" spc="-5" dirty="0">
                <a:latin typeface="Comic Sans MS"/>
                <a:cs typeface="Comic Sans MS"/>
              </a:rPr>
              <a:t>the Ontoknowledge project </a:t>
            </a:r>
            <a:r>
              <a:rPr sz="2400" spc="-5" dirty="0">
                <a:latin typeface="Comic Sans MS"/>
                <a:cs typeface="Comic Sans MS"/>
                <a:hlinkClick r:id="rId3"/>
              </a:rPr>
              <a:t> www.ontoknowledge.org</a:t>
            </a:r>
            <a:endParaRPr sz="2400">
              <a:latin typeface="Comic Sans MS"/>
              <a:cs typeface="Comic Sans MS"/>
            </a:endParaRPr>
          </a:p>
          <a:p>
            <a:pPr lvl="1">
              <a:lnSpc>
                <a:spcPct val="100000"/>
              </a:lnSpc>
              <a:buClr>
                <a:srgbClr val="99CCFF"/>
              </a:buClr>
              <a:buFont typeface="Comic Sans MS"/>
              <a:buChar char="–"/>
            </a:pPr>
            <a:endParaRPr sz="3300">
              <a:latin typeface="Times New Roman"/>
              <a:cs typeface="Times New Roman"/>
            </a:endParaRPr>
          </a:p>
          <a:p>
            <a:pPr marL="755650" marR="1115695" lvl="1" indent="-285750">
              <a:lnSpc>
                <a:spcPts val="2570"/>
              </a:lnSpc>
              <a:buClr>
                <a:srgbClr val="99CCFF"/>
              </a:buClr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Comic Sans MS"/>
                <a:cs typeface="Comic Sans MS"/>
              </a:rPr>
              <a:t>Core </a:t>
            </a:r>
            <a:r>
              <a:rPr sz="2400" dirty="0">
                <a:latin typeface="Comic Sans MS"/>
                <a:cs typeface="Comic Sans MS"/>
              </a:rPr>
              <a:t>language </a:t>
            </a:r>
            <a:r>
              <a:rPr sz="2400" spc="-5" dirty="0">
                <a:latin typeface="Comic Sans MS"/>
                <a:cs typeface="Comic Sans MS"/>
              </a:rPr>
              <a:t>contains consensus primitives,  extensions add aditional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expresiveness</a:t>
            </a:r>
            <a:endParaRPr sz="2400">
              <a:latin typeface="Comic Sans MS"/>
              <a:cs typeface="Comic Sans MS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99CCFF"/>
              </a:buClr>
              <a:buFont typeface="Comic Sans MS"/>
              <a:buChar char="–"/>
            </a:pPr>
            <a:endParaRPr sz="295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buClr>
                <a:srgbClr val="99CCFF"/>
              </a:buClr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Comic Sans MS"/>
                <a:cs typeface="Comic Sans MS"/>
              </a:rPr>
              <a:t>Layered</a:t>
            </a:r>
            <a:r>
              <a:rPr sz="2400" spc="-1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architecture:</a:t>
            </a:r>
            <a:endParaRPr sz="2400">
              <a:latin typeface="Comic Sans MS"/>
              <a:cs typeface="Comic Sans MS"/>
            </a:endParaRPr>
          </a:p>
          <a:p>
            <a:pPr marL="1155700" marR="245745" lvl="2" indent="-228600">
              <a:lnSpc>
                <a:spcPts val="2130"/>
              </a:lnSpc>
              <a:spcBef>
                <a:spcPts val="58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Comic Sans MS"/>
                <a:cs typeface="Comic Sans MS"/>
              </a:rPr>
              <a:t>Applications </a:t>
            </a:r>
            <a:r>
              <a:rPr sz="2000" dirty="0">
                <a:latin typeface="Comic Sans MS"/>
                <a:cs typeface="Comic Sans MS"/>
              </a:rPr>
              <a:t>are </a:t>
            </a:r>
            <a:r>
              <a:rPr sz="2000" spc="-5" dirty="0">
                <a:latin typeface="Comic Sans MS"/>
                <a:cs typeface="Comic Sans MS"/>
              </a:rPr>
              <a:t>not forced to work with </a:t>
            </a:r>
            <a:r>
              <a:rPr sz="2000" dirty="0">
                <a:latin typeface="Comic Sans MS"/>
                <a:cs typeface="Comic Sans MS"/>
              </a:rPr>
              <a:t>a language </a:t>
            </a:r>
            <a:r>
              <a:rPr sz="2000" spc="-5" dirty="0">
                <a:latin typeface="Comic Sans MS"/>
                <a:cs typeface="Comic Sans MS"/>
              </a:rPr>
              <a:t>more  complex </a:t>
            </a:r>
            <a:r>
              <a:rPr sz="2000" dirty="0">
                <a:latin typeface="Comic Sans MS"/>
                <a:cs typeface="Comic Sans MS"/>
              </a:rPr>
              <a:t>and expresive </a:t>
            </a:r>
            <a:r>
              <a:rPr sz="2000" spc="-5" dirty="0">
                <a:latin typeface="Comic Sans MS"/>
                <a:cs typeface="Comic Sans MS"/>
              </a:rPr>
              <a:t>than</a:t>
            </a:r>
            <a:r>
              <a:rPr sz="2000" dirty="0">
                <a:latin typeface="Comic Sans MS"/>
                <a:cs typeface="Comic Sans MS"/>
              </a:rPr>
              <a:t> required</a:t>
            </a:r>
            <a:endParaRPr sz="2000">
              <a:latin typeface="Comic Sans MS"/>
              <a:cs typeface="Comic Sans MS"/>
            </a:endParaRPr>
          </a:p>
          <a:p>
            <a:pPr marL="1155700" marR="5080" lvl="2" indent="-228600">
              <a:lnSpc>
                <a:spcPts val="2130"/>
              </a:lnSpc>
              <a:spcBef>
                <a:spcPts val="54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Comic Sans MS"/>
                <a:cs typeface="Comic Sans MS"/>
              </a:rPr>
              <a:t>Applications that can only process </a:t>
            </a:r>
            <a:r>
              <a:rPr sz="2000" dirty="0">
                <a:latin typeface="Comic Sans MS"/>
                <a:cs typeface="Comic Sans MS"/>
              </a:rPr>
              <a:t>a </a:t>
            </a:r>
            <a:r>
              <a:rPr sz="2000" spc="-5" dirty="0">
                <a:latin typeface="Comic Sans MS"/>
                <a:cs typeface="Comic Sans MS"/>
              </a:rPr>
              <a:t>low </a:t>
            </a:r>
            <a:r>
              <a:rPr sz="2000" dirty="0">
                <a:latin typeface="Comic Sans MS"/>
                <a:cs typeface="Comic Sans MS"/>
              </a:rPr>
              <a:t>level </a:t>
            </a:r>
            <a:r>
              <a:rPr sz="2000" spc="-5" dirty="0">
                <a:latin typeface="Comic Sans MS"/>
                <a:cs typeface="Comic Sans MS"/>
              </a:rPr>
              <a:t>of complexity  </a:t>
            </a:r>
            <a:r>
              <a:rPr sz="2000" dirty="0">
                <a:latin typeface="Comic Sans MS"/>
                <a:cs typeface="Comic Sans MS"/>
              </a:rPr>
              <a:t>are able </a:t>
            </a:r>
            <a:r>
              <a:rPr sz="2000" spc="-5" dirty="0">
                <a:latin typeface="Comic Sans MS"/>
                <a:cs typeface="Comic Sans MS"/>
              </a:rPr>
              <a:t>to catch </a:t>
            </a:r>
            <a:r>
              <a:rPr sz="2000" spc="-10" dirty="0">
                <a:latin typeface="Comic Sans MS"/>
                <a:cs typeface="Comic Sans MS"/>
              </a:rPr>
              <a:t>the </a:t>
            </a:r>
            <a:r>
              <a:rPr sz="2000" spc="-5" dirty="0">
                <a:latin typeface="Comic Sans MS"/>
                <a:cs typeface="Comic Sans MS"/>
              </a:rPr>
              <a:t>aspects of </a:t>
            </a:r>
            <a:r>
              <a:rPr sz="2000" spc="-10" dirty="0">
                <a:latin typeface="Comic Sans MS"/>
                <a:cs typeface="Comic Sans MS"/>
              </a:rPr>
              <a:t>the</a:t>
            </a:r>
            <a:r>
              <a:rPr sz="2000" spc="3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ontology</a:t>
            </a:r>
            <a:endParaRPr sz="2000">
              <a:latin typeface="Comic Sans MS"/>
              <a:cs typeface="Comic Sans MS"/>
            </a:endParaRPr>
          </a:p>
          <a:p>
            <a:pPr marL="1155700" marR="308610" lvl="2" indent="-228600">
              <a:lnSpc>
                <a:spcPts val="2130"/>
              </a:lnSpc>
              <a:spcBef>
                <a:spcPts val="54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Comic Sans MS"/>
                <a:cs typeface="Comic Sans MS"/>
              </a:rPr>
              <a:t>Applications aware of higher </a:t>
            </a:r>
            <a:r>
              <a:rPr sz="2000" dirty="0">
                <a:latin typeface="Comic Sans MS"/>
                <a:cs typeface="Comic Sans MS"/>
              </a:rPr>
              <a:t>level </a:t>
            </a:r>
            <a:r>
              <a:rPr sz="2000" spc="-5" dirty="0">
                <a:latin typeface="Comic Sans MS"/>
                <a:cs typeface="Comic Sans MS"/>
              </a:rPr>
              <a:t>of complexity can still  understand </a:t>
            </a:r>
            <a:r>
              <a:rPr sz="2000" dirty="0">
                <a:latin typeface="Comic Sans MS"/>
                <a:cs typeface="Comic Sans MS"/>
              </a:rPr>
              <a:t>a simpler </a:t>
            </a:r>
            <a:r>
              <a:rPr sz="2000" spc="-5" dirty="0">
                <a:latin typeface="Comic Sans MS"/>
                <a:cs typeface="Comic Sans MS"/>
              </a:rPr>
              <a:t>ontology language</a:t>
            </a:r>
            <a:endParaRPr sz="2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9125" y="1209166"/>
            <a:ext cx="11385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omic Sans MS"/>
                <a:cs typeface="Comic Sans MS"/>
              </a:rPr>
              <a:t>O</a:t>
            </a:r>
            <a:r>
              <a:rPr sz="3200" dirty="0">
                <a:latin typeface="Comic Sans MS"/>
                <a:cs typeface="Comic Sans MS"/>
              </a:rPr>
              <a:t>IL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68265" y="3662515"/>
            <a:ext cx="1283335" cy="701040"/>
          </a:xfrm>
          <a:custGeom>
            <a:avLst/>
            <a:gdLst/>
            <a:ahLst/>
            <a:cxnLst/>
            <a:rect l="l" t="t" r="r" b="b"/>
            <a:pathLst>
              <a:path w="1283335" h="701039">
                <a:moveTo>
                  <a:pt x="641479" y="0"/>
                </a:moveTo>
                <a:lnTo>
                  <a:pt x="579700" y="1603"/>
                </a:lnTo>
                <a:lnTo>
                  <a:pt x="519583" y="6315"/>
                </a:lnTo>
                <a:lnTo>
                  <a:pt x="461396" y="13990"/>
                </a:lnTo>
                <a:lnTo>
                  <a:pt x="405408" y="24481"/>
                </a:lnTo>
                <a:lnTo>
                  <a:pt x="351888" y="37639"/>
                </a:lnTo>
                <a:lnTo>
                  <a:pt x="301105" y="53320"/>
                </a:lnTo>
                <a:lnTo>
                  <a:pt x="253327" y="71376"/>
                </a:lnTo>
                <a:lnTo>
                  <a:pt x="208824" y="91661"/>
                </a:lnTo>
                <a:lnTo>
                  <a:pt x="167864" y="114026"/>
                </a:lnTo>
                <a:lnTo>
                  <a:pt x="130716" y="138327"/>
                </a:lnTo>
                <a:lnTo>
                  <a:pt x="97649" y="164415"/>
                </a:lnTo>
                <a:lnTo>
                  <a:pt x="68932" y="192145"/>
                </a:lnTo>
                <a:lnTo>
                  <a:pt x="25622" y="251941"/>
                </a:lnTo>
                <a:lnTo>
                  <a:pt x="2936" y="316540"/>
                </a:lnTo>
                <a:lnTo>
                  <a:pt x="0" y="350273"/>
                </a:lnTo>
                <a:lnTo>
                  <a:pt x="2936" y="384007"/>
                </a:lnTo>
                <a:lnTo>
                  <a:pt x="25622" y="448606"/>
                </a:lnTo>
                <a:lnTo>
                  <a:pt x="68932" y="508402"/>
                </a:lnTo>
                <a:lnTo>
                  <a:pt x="97649" y="536131"/>
                </a:lnTo>
                <a:lnTo>
                  <a:pt x="130716" y="562220"/>
                </a:lnTo>
                <a:lnTo>
                  <a:pt x="167864" y="586520"/>
                </a:lnTo>
                <a:lnTo>
                  <a:pt x="208824" y="608886"/>
                </a:lnTo>
                <a:lnTo>
                  <a:pt x="253327" y="629170"/>
                </a:lnTo>
                <a:lnTo>
                  <a:pt x="301105" y="647226"/>
                </a:lnTo>
                <a:lnTo>
                  <a:pt x="351888" y="662907"/>
                </a:lnTo>
                <a:lnTo>
                  <a:pt x="405408" y="676066"/>
                </a:lnTo>
                <a:lnTo>
                  <a:pt x="461396" y="686556"/>
                </a:lnTo>
                <a:lnTo>
                  <a:pt x="519583" y="694231"/>
                </a:lnTo>
                <a:lnTo>
                  <a:pt x="579700" y="698943"/>
                </a:lnTo>
                <a:lnTo>
                  <a:pt x="641479" y="700547"/>
                </a:lnTo>
                <a:lnTo>
                  <a:pt x="703258" y="698943"/>
                </a:lnTo>
                <a:lnTo>
                  <a:pt x="763375" y="694231"/>
                </a:lnTo>
                <a:lnTo>
                  <a:pt x="821562" y="686556"/>
                </a:lnTo>
                <a:lnTo>
                  <a:pt x="877550" y="676066"/>
                </a:lnTo>
                <a:lnTo>
                  <a:pt x="931070" y="662907"/>
                </a:lnTo>
                <a:lnTo>
                  <a:pt x="981853" y="647226"/>
                </a:lnTo>
                <a:lnTo>
                  <a:pt x="1029631" y="629170"/>
                </a:lnTo>
                <a:lnTo>
                  <a:pt x="1074134" y="608886"/>
                </a:lnTo>
                <a:lnTo>
                  <a:pt x="1115094" y="586520"/>
                </a:lnTo>
                <a:lnTo>
                  <a:pt x="1152242" y="562220"/>
                </a:lnTo>
                <a:lnTo>
                  <a:pt x="1185309" y="536131"/>
                </a:lnTo>
                <a:lnTo>
                  <a:pt x="1214026" y="508402"/>
                </a:lnTo>
                <a:lnTo>
                  <a:pt x="1257336" y="448606"/>
                </a:lnTo>
                <a:lnTo>
                  <a:pt x="1280022" y="384007"/>
                </a:lnTo>
                <a:lnTo>
                  <a:pt x="1282959" y="350273"/>
                </a:lnTo>
                <a:lnTo>
                  <a:pt x="1280022" y="316540"/>
                </a:lnTo>
                <a:lnTo>
                  <a:pt x="1257336" y="251941"/>
                </a:lnTo>
                <a:lnTo>
                  <a:pt x="1214026" y="192145"/>
                </a:lnTo>
                <a:lnTo>
                  <a:pt x="1185309" y="164415"/>
                </a:lnTo>
                <a:lnTo>
                  <a:pt x="1152242" y="138327"/>
                </a:lnTo>
                <a:lnTo>
                  <a:pt x="1115094" y="114026"/>
                </a:lnTo>
                <a:lnTo>
                  <a:pt x="1074134" y="91661"/>
                </a:lnTo>
                <a:lnTo>
                  <a:pt x="1029631" y="71376"/>
                </a:lnTo>
                <a:lnTo>
                  <a:pt x="981853" y="53320"/>
                </a:lnTo>
                <a:lnTo>
                  <a:pt x="931070" y="37639"/>
                </a:lnTo>
                <a:lnTo>
                  <a:pt x="877550" y="24481"/>
                </a:lnTo>
                <a:lnTo>
                  <a:pt x="821562" y="13990"/>
                </a:lnTo>
                <a:lnTo>
                  <a:pt x="763375" y="6315"/>
                </a:lnTo>
                <a:lnTo>
                  <a:pt x="703258" y="1603"/>
                </a:lnTo>
                <a:lnTo>
                  <a:pt x="641479" y="0"/>
                </a:lnTo>
                <a:close/>
              </a:path>
            </a:pathLst>
          </a:custGeom>
          <a:solidFill>
            <a:srgbClr val="339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68265" y="3662515"/>
            <a:ext cx="1283335" cy="701040"/>
          </a:xfrm>
          <a:custGeom>
            <a:avLst/>
            <a:gdLst/>
            <a:ahLst/>
            <a:cxnLst/>
            <a:rect l="l" t="t" r="r" b="b"/>
            <a:pathLst>
              <a:path w="1283335" h="701039">
                <a:moveTo>
                  <a:pt x="0" y="350274"/>
                </a:moveTo>
                <a:lnTo>
                  <a:pt x="11566" y="283713"/>
                </a:lnTo>
                <a:lnTo>
                  <a:pt x="44833" y="221369"/>
                </a:lnTo>
                <a:lnTo>
                  <a:pt x="97649" y="164415"/>
                </a:lnTo>
                <a:lnTo>
                  <a:pt x="130716" y="138327"/>
                </a:lnTo>
                <a:lnTo>
                  <a:pt x="167864" y="114026"/>
                </a:lnTo>
                <a:lnTo>
                  <a:pt x="208824" y="91660"/>
                </a:lnTo>
                <a:lnTo>
                  <a:pt x="253327" y="71376"/>
                </a:lnTo>
                <a:lnTo>
                  <a:pt x="301105" y="53320"/>
                </a:lnTo>
                <a:lnTo>
                  <a:pt x="351888" y="37639"/>
                </a:lnTo>
                <a:lnTo>
                  <a:pt x="405408" y="24480"/>
                </a:lnTo>
                <a:lnTo>
                  <a:pt x="461396" y="13990"/>
                </a:lnTo>
                <a:lnTo>
                  <a:pt x="519583" y="6315"/>
                </a:lnTo>
                <a:lnTo>
                  <a:pt x="579700" y="1603"/>
                </a:lnTo>
                <a:lnTo>
                  <a:pt x="641479" y="0"/>
                </a:lnTo>
                <a:lnTo>
                  <a:pt x="703258" y="1603"/>
                </a:lnTo>
                <a:lnTo>
                  <a:pt x="763375" y="6315"/>
                </a:lnTo>
                <a:lnTo>
                  <a:pt x="821562" y="13990"/>
                </a:lnTo>
                <a:lnTo>
                  <a:pt x="877550" y="24480"/>
                </a:lnTo>
                <a:lnTo>
                  <a:pt x="931070" y="37639"/>
                </a:lnTo>
                <a:lnTo>
                  <a:pt x="981853" y="53320"/>
                </a:lnTo>
                <a:lnTo>
                  <a:pt x="1029631" y="71376"/>
                </a:lnTo>
                <a:lnTo>
                  <a:pt x="1074134" y="91660"/>
                </a:lnTo>
                <a:lnTo>
                  <a:pt x="1115094" y="114026"/>
                </a:lnTo>
                <a:lnTo>
                  <a:pt x="1152242" y="138327"/>
                </a:lnTo>
                <a:lnTo>
                  <a:pt x="1185309" y="164415"/>
                </a:lnTo>
                <a:lnTo>
                  <a:pt x="1214026" y="192145"/>
                </a:lnTo>
                <a:lnTo>
                  <a:pt x="1257336" y="251941"/>
                </a:lnTo>
                <a:lnTo>
                  <a:pt x="1280022" y="316540"/>
                </a:lnTo>
                <a:lnTo>
                  <a:pt x="1282959" y="350274"/>
                </a:lnTo>
                <a:lnTo>
                  <a:pt x="1280022" y="384007"/>
                </a:lnTo>
                <a:lnTo>
                  <a:pt x="1257336" y="448606"/>
                </a:lnTo>
                <a:lnTo>
                  <a:pt x="1214026" y="508402"/>
                </a:lnTo>
                <a:lnTo>
                  <a:pt x="1185309" y="536132"/>
                </a:lnTo>
                <a:lnTo>
                  <a:pt x="1152242" y="562220"/>
                </a:lnTo>
                <a:lnTo>
                  <a:pt x="1115094" y="586521"/>
                </a:lnTo>
                <a:lnTo>
                  <a:pt x="1074134" y="608887"/>
                </a:lnTo>
                <a:lnTo>
                  <a:pt x="1029631" y="629171"/>
                </a:lnTo>
                <a:lnTo>
                  <a:pt x="981853" y="647227"/>
                </a:lnTo>
                <a:lnTo>
                  <a:pt x="931070" y="662908"/>
                </a:lnTo>
                <a:lnTo>
                  <a:pt x="877550" y="676067"/>
                </a:lnTo>
                <a:lnTo>
                  <a:pt x="821562" y="686557"/>
                </a:lnTo>
                <a:lnTo>
                  <a:pt x="763375" y="694232"/>
                </a:lnTo>
                <a:lnTo>
                  <a:pt x="703258" y="698944"/>
                </a:lnTo>
                <a:lnTo>
                  <a:pt x="641479" y="700548"/>
                </a:lnTo>
                <a:lnTo>
                  <a:pt x="579700" y="698944"/>
                </a:lnTo>
                <a:lnTo>
                  <a:pt x="519583" y="694232"/>
                </a:lnTo>
                <a:lnTo>
                  <a:pt x="461396" y="686557"/>
                </a:lnTo>
                <a:lnTo>
                  <a:pt x="405408" y="676067"/>
                </a:lnTo>
                <a:lnTo>
                  <a:pt x="351888" y="662908"/>
                </a:lnTo>
                <a:lnTo>
                  <a:pt x="301105" y="647227"/>
                </a:lnTo>
                <a:lnTo>
                  <a:pt x="253327" y="629171"/>
                </a:lnTo>
                <a:lnTo>
                  <a:pt x="208824" y="608887"/>
                </a:lnTo>
                <a:lnTo>
                  <a:pt x="167864" y="586521"/>
                </a:lnTo>
                <a:lnTo>
                  <a:pt x="130716" y="562220"/>
                </a:lnTo>
                <a:lnTo>
                  <a:pt x="97649" y="536132"/>
                </a:lnTo>
                <a:lnTo>
                  <a:pt x="68932" y="508402"/>
                </a:lnTo>
                <a:lnTo>
                  <a:pt x="25622" y="448606"/>
                </a:lnTo>
                <a:lnTo>
                  <a:pt x="2936" y="384007"/>
                </a:lnTo>
                <a:lnTo>
                  <a:pt x="0" y="35027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00976" y="3789683"/>
            <a:ext cx="6172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Arial"/>
                <a:cs typeface="Arial"/>
              </a:rPr>
              <a:t>OIL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3000" y="1934633"/>
            <a:ext cx="2565400" cy="1126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13366" y="1926166"/>
            <a:ext cx="2429932" cy="10964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87450" y="1981200"/>
            <a:ext cx="2423795" cy="9810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91440" marR="494665">
              <a:lnSpc>
                <a:spcPts val="2300"/>
              </a:lnSpc>
              <a:spcBef>
                <a:spcPts val="85"/>
              </a:spcBef>
            </a:pPr>
            <a:r>
              <a:rPr sz="1600" b="1" spc="-5" dirty="0">
                <a:latin typeface="Arial"/>
                <a:cs typeface="Arial"/>
              </a:rPr>
              <a:t>Description Logic</a:t>
            </a:r>
            <a:r>
              <a:rPr sz="1600" spc="-5" dirty="0">
                <a:latin typeface="Arial"/>
                <a:cs typeface="Arial"/>
              </a:rPr>
              <a:t>:  Formal Semantics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&amp;</a:t>
            </a:r>
            <a:endParaRPr sz="1600">
              <a:latin typeface="Arial"/>
              <a:cs typeface="Arial"/>
            </a:endParaRPr>
          </a:p>
          <a:p>
            <a:pPr marL="434340">
              <a:lnSpc>
                <a:spcPts val="1760"/>
              </a:lnSpc>
            </a:pPr>
            <a:r>
              <a:rPr sz="1600" spc="-5" dirty="0">
                <a:latin typeface="Arial"/>
                <a:cs typeface="Arial"/>
              </a:rPr>
              <a:t>Reasoning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support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92967" y="5300133"/>
            <a:ext cx="2569632" cy="11218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54867" y="5283200"/>
            <a:ext cx="2696632" cy="121496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040613" y="5343832"/>
            <a:ext cx="2423795" cy="9810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5"/>
              </a:spcBef>
            </a:pPr>
            <a:r>
              <a:rPr sz="1800" b="1" spc="-15" dirty="0">
                <a:latin typeface="Arial"/>
                <a:cs typeface="Arial"/>
              </a:rPr>
              <a:t>Web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languages</a:t>
            </a:r>
            <a:r>
              <a:rPr sz="1800" spc="-5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433705" marR="101600" indent="-342900">
              <a:lnSpc>
                <a:spcPct val="100000"/>
              </a:lnSpc>
              <a:spcBef>
                <a:spcPts val="405"/>
              </a:spcBef>
            </a:pPr>
            <a:r>
              <a:rPr sz="1800" spc="-5" dirty="0">
                <a:latin typeface="Arial"/>
                <a:cs typeface="Arial"/>
              </a:rPr>
              <a:t>XML- and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RDF-based  syntax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35033" y="1934633"/>
            <a:ext cx="3136900" cy="112606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92700" y="1921933"/>
            <a:ext cx="3064932" cy="121496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78879" y="1981199"/>
            <a:ext cx="2994025" cy="981075"/>
          </a:xfrm>
          <a:custGeom>
            <a:avLst/>
            <a:gdLst/>
            <a:ahLst/>
            <a:cxnLst/>
            <a:rect l="l" t="t" r="r" b="b"/>
            <a:pathLst>
              <a:path w="2994025" h="981075">
                <a:moveTo>
                  <a:pt x="0" y="980768"/>
                </a:moveTo>
                <a:lnTo>
                  <a:pt x="2993570" y="980768"/>
                </a:lnTo>
                <a:lnTo>
                  <a:pt x="2993570" y="0"/>
                </a:lnTo>
                <a:lnTo>
                  <a:pt x="0" y="0"/>
                </a:lnTo>
                <a:lnTo>
                  <a:pt x="0" y="9807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178879" y="1981200"/>
            <a:ext cx="2994025" cy="981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90805" marR="302895">
              <a:lnSpc>
                <a:spcPts val="2570"/>
              </a:lnSpc>
              <a:spcBef>
                <a:spcPts val="70"/>
              </a:spcBef>
            </a:pPr>
            <a:r>
              <a:rPr sz="1800" b="1" spc="-5" dirty="0">
                <a:latin typeface="Arial"/>
                <a:cs typeface="Arial"/>
              </a:rPr>
              <a:t>Frame-based systems</a:t>
            </a:r>
            <a:r>
              <a:rPr sz="1800" spc="-5" dirty="0">
                <a:latin typeface="Arial"/>
                <a:cs typeface="Arial"/>
              </a:rPr>
              <a:t>:  Epistemological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Modeling</a:t>
            </a:r>
            <a:endParaRPr sz="1800">
              <a:latin typeface="Arial"/>
              <a:cs typeface="Arial"/>
            </a:endParaRPr>
          </a:p>
          <a:p>
            <a:pPr marL="433705">
              <a:lnSpc>
                <a:spcPts val="2010"/>
              </a:lnSpc>
            </a:pPr>
            <a:r>
              <a:rPr sz="1800" spc="-5" dirty="0">
                <a:latin typeface="Arial"/>
                <a:cs typeface="Arial"/>
              </a:rPr>
              <a:t>Primitives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66721" y="4363064"/>
            <a:ext cx="228600" cy="981075"/>
          </a:xfrm>
          <a:custGeom>
            <a:avLst/>
            <a:gdLst/>
            <a:ahLst/>
            <a:cxnLst/>
            <a:rect l="l" t="t" r="r" b="b"/>
            <a:pathLst>
              <a:path w="228600" h="981075">
                <a:moveTo>
                  <a:pt x="127000" y="228599"/>
                </a:moveTo>
                <a:lnTo>
                  <a:pt x="101600" y="228599"/>
                </a:lnTo>
                <a:lnTo>
                  <a:pt x="101600" y="980767"/>
                </a:lnTo>
                <a:lnTo>
                  <a:pt x="127000" y="980768"/>
                </a:lnTo>
                <a:lnTo>
                  <a:pt x="127000" y="228599"/>
                </a:lnTo>
                <a:close/>
              </a:path>
              <a:path w="228600" h="981075">
                <a:moveTo>
                  <a:pt x="152400" y="228599"/>
                </a:moveTo>
                <a:lnTo>
                  <a:pt x="139700" y="228599"/>
                </a:lnTo>
                <a:lnTo>
                  <a:pt x="139700" y="980768"/>
                </a:lnTo>
                <a:lnTo>
                  <a:pt x="152400" y="980768"/>
                </a:lnTo>
                <a:lnTo>
                  <a:pt x="152400" y="228599"/>
                </a:lnTo>
                <a:close/>
              </a:path>
              <a:path w="228600" h="981075">
                <a:moveTo>
                  <a:pt x="88900" y="228599"/>
                </a:moveTo>
                <a:lnTo>
                  <a:pt x="76200" y="228599"/>
                </a:lnTo>
                <a:lnTo>
                  <a:pt x="76200" y="980767"/>
                </a:lnTo>
                <a:lnTo>
                  <a:pt x="88900" y="980767"/>
                </a:lnTo>
                <a:lnTo>
                  <a:pt x="88900" y="228599"/>
                </a:lnTo>
                <a:close/>
              </a:path>
              <a:path w="228600" h="981075">
                <a:moveTo>
                  <a:pt x="114300" y="0"/>
                </a:moveTo>
                <a:lnTo>
                  <a:pt x="0" y="228599"/>
                </a:lnTo>
                <a:lnTo>
                  <a:pt x="228600" y="228599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47801" y="2931299"/>
            <a:ext cx="1163320" cy="871855"/>
          </a:xfrm>
          <a:custGeom>
            <a:avLst/>
            <a:gdLst/>
            <a:ahLst/>
            <a:cxnLst/>
            <a:rect l="l" t="t" r="r" b="b"/>
            <a:pathLst>
              <a:path w="1163320" h="871854">
                <a:moveTo>
                  <a:pt x="7536" y="51113"/>
                </a:moveTo>
                <a:lnTo>
                  <a:pt x="0" y="61335"/>
                </a:lnTo>
                <a:lnTo>
                  <a:pt x="956400" y="766352"/>
                </a:lnTo>
                <a:lnTo>
                  <a:pt x="911185" y="827688"/>
                </a:lnTo>
                <a:lnTo>
                  <a:pt x="1163015" y="871326"/>
                </a:lnTo>
                <a:lnTo>
                  <a:pt x="1104220" y="756128"/>
                </a:lnTo>
                <a:lnTo>
                  <a:pt x="963935" y="756128"/>
                </a:lnTo>
                <a:lnTo>
                  <a:pt x="7536" y="51113"/>
                </a:lnTo>
                <a:close/>
              </a:path>
              <a:path w="1163320" h="871854">
                <a:moveTo>
                  <a:pt x="30142" y="20445"/>
                </a:moveTo>
                <a:lnTo>
                  <a:pt x="15071" y="40891"/>
                </a:lnTo>
                <a:lnTo>
                  <a:pt x="971471" y="745906"/>
                </a:lnTo>
                <a:lnTo>
                  <a:pt x="963935" y="756128"/>
                </a:lnTo>
                <a:lnTo>
                  <a:pt x="1104220" y="756128"/>
                </a:lnTo>
                <a:lnTo>
                  <a:pt x="1088567" y="725460"/>
                </a:lnTo>
                <a:lnTo>
                  <a:pt x="986542" y="725460"/>
                </a:lnTo>
                <a:lnTo>
                  <a:pt x="30142" y="20445"/>
                </a:lnTo>
                <a:close/>
              </a:path>
              <a:path w="1163320" h="871854">
                <a:moveTo>
                  <a:pt x="45214" y="0"/>
                </a:moveTo>
                <a:lnTo>
                  <a:pt x="37678" y="10223"/>
                </a:lnTo>
                <a:lnTo>
                  <a:pt x="994078" y="715238"/>
                </a:lnTo>
                <a:lnTo>
                  <a:pt x="986542" y="725460"/>
                </a:lnTo>
                <a:lnTo>
                  <a:pt x="1088567" y="725460"/>
                </a:lnTo>
                <a:lnTo>
                  <a:pt x="1078132" y="705015"/>
                </a:lnTo>
                <a:lnTo>
                  <a:pt x="1001613" y="705015"/>
                </a:lnTo>
                <a:lnTo>
                  <a:pt x="45214" y="0"/>
                </a:lnTo>
                <a:close/>
              </a:path>
              <a:path w="1163320" h="871854">
                <a:moveTo>
                  <a:pt x="1046827" y="643679"/>
                </a:moveTo>
                <a:lnTo>
                  <a:pt x="1001613" y="705015"/>
                </a:lnTo>
                <a:lnTo>
                  <a:pt x="1078132" y="705015"/>
                </a:lnTo>
                <a:lnTo>
                  <a:pt x="1046827" y="6436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8673" y="2928388"/>
            <a:ext cx="1586230" cy="874394"/>
          </a:xfrm>
          <a:custGeom>
            <a:avLst/>
            <a:gdLst/>
            <a:ahLst/>
            <a:cxnLst/>
            <a:rect l="l" t="t" r="r" b="b"/>
            <a:pathLst>
              <a:path w="1586229" h="874395">
                <a:moveTo>
                  <a:pt x="147467" y="665488"/>
                </a:moveTo>
                <a:lnTo>
                  <a:pt x="0" y="874237"/>
                </a:lnTo>
                <a:lnTo>
                  <a:pt x="255479" y="866961"/>
                </a:lnTo>
                <a:lnTo>
                  <a:pt x="219475" y="799804"/>
                </a:lnTo>
                <a:lnTo>
                  <a:pt x="240354" y="788610"/>
                </a:lnTo>
                <a:lnTo>
                  <a:pt x="213474" y="788610"/>
                </a:lnTo>
                <a:lnTo>
                  <a:pt x="207473" y="777417"/>
                </a:lnTo>
                <a:lnTo>
                  <a:pt x="249230" y="755031"/>
                </a:lnTo>
                <a:lnTo>
                  <a:pt x="195472" y="755031"/>
                </a:lnTo>
                <a:lnTo>
                  <a:pt x="189471" y="743839"/>
                </a:lnTo>
                <a:lnTo>
                  <a:pt x="210348" y="732646"/>
                </a:lnTo>
                <a:lnTo>
                  <a:pt x="183471" y="732646"/>
                </a:lnTo>
                <a:lnTo>
                  <a:pt x="147467" y="665488"/>
                </a:lnTo>
                <a:close/>
              </a:path>
              <a:path w="1586229" h="874395">
                <a:moveTo>
                  <a:pt x="1580062" y="55965"/>
                </a:moveTo>
                <a:lnTo>
                  <a:pt x="213474" y="788610"/>
                </a:lnTo>
                <a:lnTo>
                  <a:pt x="240354" y="788610"/>
                </a:lnTo>
                <a:lnTo>
                  <a:pt x="1586063" y="67157"/>
                </a:lnTo>
                <a:lnTo>
                  <a:pt x="1580062" y="55965"/>
                </a:lnTo>
                <a:close/>
              </a:path>
              <a:path w="1586229" h="874395">
                <a:moveTo>
                  <a:pt x="1562060" y="22386"/>
                </a:moveTo>
                <a:lnTo>
                  <a:pt x="195472" y="755031"/>
                </a:lnTo>
                <a:lnTo>
                  <a:pt x="249230" y="755031"/>
                </a:lnTo>
                <a:lnTo>
                  <a:pt x="1574062" y="44772"/>
                </a:lnTo>
                <a:lnTo>
                  <a:pt x="1562060" y="22386"/>
                </a:lnTo>
                <a:close/>
              </a:path>
              <a:path w="1586229" h="874395">
                <a:moveTo>
                  <a:pt x="1550059" y="0"/>
                </a:moveTo>
                <a:lnTo>
                  <a:pt x="183471" y="732646"/>
                </a:lnTo>
                <a:lnTo>
                  <a:pt x="210348" y="732646"/>
                </a:lnTo>
                <a:lnTo>
                  <a:pt x="1556059" y="11193"/>
                </a:lnTo>
                <a:lnTo>
                  <a:pt x="15500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381000"/>
            <a:ext cx="7772400" cy="76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84575" y="449579"/>
            <a:ext cx="2432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DAML+OIL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547687" y="899171"/>
            <a:ext cx="7998459" cy="555434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omic Sans MS"/>
                <a:cs typeface="Comic Sans MS"/>
              </a:rPr>
              <a:t>DAML+OIL</a:t>
            </a:r>
            <a:endParaRPr sz="32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330"/>
              </a:spcBef>
              <a:buClr>
                <a:srgbClr val="99CCFF"/>
              </a:buClr>
              <a:buChar char="–"/>
              <a:tabLst>
                <a:tab pos="755650" algn="l"/>
              </a:tabLst>
            </a:pPr>
            <a:r>
              <a:rPr sz="2800" spc="-5" dirty="0">
                <a:latin typeface="Comic Sans MS"/>
                <a:cs typeface="Comic Sans MS"/>
              </a:rPr>
              <a:t>Semantic markup language</a:t>
            </a:r>
            <a:endParaRPr sz="2800">
              <a:latin typeface="Comic Sans MS"/>
              <a:cs typeface="Comic Sans MS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99CCFF"/>
              </a:buClr>
              <a:buFont typeface="Comic Sans MS"/>
              <a:buChar char="–"/>
            </a:pPr>
            <a:endParaRPr sz="3800">
              <a:latin typeface="Times New Roman"/>
              <a:cs typeface="Times New Roman"/>
            </a:endParaRPr>
          </a:p>
          <a:p>
            <a:pPr marL="755015" marR="5080" lvl="1" indent="-285750">
              <a:lnSpc>
                <a:spcPts val="3030"/>
              </a:lnSpc>
              <a:buClr>
                <a:srgbClr val="99CCFF"/>
              </a:buClr>
              <a:buChar char="–"/>
              <a:tabLst>
                <a:tab pos="755650" algn="l"/>
              </a:tabLst>
            </a:pPr>
            <a:r>
              <a:rPr sz="2800" spc="-5" dirty="0">
                <a:latin typeface="Comic Sans MS"/>
                <a:cs typeface="Comic Sans MS"/>
              </a:rPr>
              <a:t>Joint </a:t>
            </a:r>
            <a:r>
              <a:rPr sz="2800" dirty="0">
                <a:latin typeface="Comic Sans MS"/>
                <a:cs typeface="Comic Sans MS"/>
              </a:rPr>
              <a:t>efford of the </a:t>
            </a:r>
            <a:r>
              <a:rPr sz="2800" spc="-5" dirty="0">
                <a:latin typeface="Comic Sans MS"/>
                <a:cs typeface="Comic Sans MS"/>
              </a:rPr>
              <a:t>American and European  communities</a:t>
            </a:r>
            <a:endParaRPr sz="2800">
              <a:latin typeface="Comic Sans MS"/>
              <a:cs typeface="Comic Sans MS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99CCFF"/>
              </a:buClr>
              <a:buFont typeface="Comic Sans MS"/>
              <a:buChar char="–"/>
            </a:pPr>
            <a:endParaRPr sz="345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buClr>
                <a:srgbClr val="99CCFF"/>
              </a:buClr>
              <a:buChar char="–"/>
              <a:tabLst>
                <a:tab pos="755650" algn="l"/>
              </a:tabLst>
            </a:pPr>
            <a:r>
              <a:rPr sz="2800" spc="-5" dirty="0">
                <a:latin typeface="Comic Sans MS"/>
                <a:cs typeface="Comic Sans MS"/>
              </a:rPr>
              <a:t>DAML+OIL </a:t>
            </a:r>
            <a:r>
              <a:rPr sz="2800" dirty="0">
                <a:latin typeface="Comic Sans MS"/>
                <a:cs typeface="Comic Sans MS"/>
              </a:rPr>
              <a:t>= </a:t>
            </a:r>
            <a:r>
              <a:rPr sz="2800" spc="-5" dirty="0">
                <a:latin typeface="Comic Sans MS"/>
                <a:cs typeface="Comic Sans MS"/>
              </a:rPr>
              <a:t>DAM-ONT </a:t>
            </a:r>
            <a:r>
              <a:rPr sz="2800" dirty="0">
                <a:latin typeface="Comic Sans MS"/>
                <a:cs typeface="Comic Sans MS"/>
              </a:rPr>
              <a:t>+</a:t>
            </a:r>
            <a:r>
              <a:rPr sz="2800" spc="-10" dirty="0">
                <a:latin typeface="Comic Sans MS"/>
                <a:cs typeface="Comic Sans MS"/>
              </a:rPr>
              <a:t> </a:t>
            </a:r>
            <a:r>
              <a:rPr sz="2800" spc="-5" dirty="0">
                <a:latin typeface="Comic Sans MS"/>
                <a:cs typeface="Comic Sans MS"/>
              </a:rPr>
              <a:t>OIL</a:t>
            </a:r>
            <a:endParaRPr sz="2800">
              <a:latin typeface="Comic Sans MS"/>
              <a:cs typeface="Comic Sans MS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99CCFF"/>
              </a:buClr>
              <a:buFont typeface="Comic Sans MS"/>
              <a:buChar char="–"/>
            </a:pPr>
            <a:endParaRPr sz="3800">
              <a:latin typeface="Times New Roman"/>
              <a:cs typeface="Times New Roman"/>
            </a:endParaRPr>
          </a:p>
          <a:p>
            <a:pPr marL="755015" marR="579755" lvl="1" indent="-285750">
              <a:lnSpc>
                <a:spcPts val="3030"/>
              </a:lnSpc>
              <a:buClr>
                <a:srgbClr val="99CCFF"/>
              </a:buClr>
              <a:buChar char="–"/>
              <a:tabLst>
                <a:tab pos="755650" algn="l"/>
              </a:tabLst>
            </a:pPr>
            <a:r>
              <a:rPr sz="2800" spc="-5" dirty="0">
                <a:latin typeface="Comic Sans MS"/>
                <a:cs typeface="Comic Sans MS"/>
              </a:rPr>
              <a:t>Designed </a:t>
            </a:r>
            <a:r>
              <a:rPr sz="2800" dirty="0">
                <a:latin typeface="Comic Sans MS"/>
                <a:cs typeface="Comic Sans MS"/>
              </a:rPr>
              <a:t>to </a:t>
            </a:r>
            <a:r>
              <a:rPr sz="2800" spc="-5" dirty="0">
                <a:latin typeface="Comic Sans MS"/>
                <a:cs typeface="Comic Sans MS"/>
              </a:rPr>
              <a:t>describe </a:t>
            </a:r>
            <a:r>
              <a:rPr sz="2800" dirty="0">
                <a:latin typeface="Comic Sans MS"/>
                <a:cs typeface="Comic Sans MS"/>
              </a:rPr>
              <a:t>the </a:t>
            </a:r>
            <a:r>
              <a:rPr sz="2800" spc="-5" dirty="0">
                <a:latin typeface="Comic Sans MS"/>
                <a:cs typeface="Comic Sans MS"/>
              </a:rPr>
              <a:t>structure </a:t>
            </a:r>
            <a:r>
              <a:rPr sz="2800" dirty="0">
                <a:latin typeface="Comic Sans MS"/>
                <a:cs typeface="Comic Sans MS"/>
              </a:rPr>
              <a:t>of a  domain in terms of </a:t>
            </a:r>
            <a:r>
              <a:rPr sz="2800" spc="-5" dirty="0">
                <a:latin typeface="Comic Sans MS"/>
                <a:cs typeface="Comic Sans MS"/>
              </a:rPr>
              <a:t>classes and</a:t>
            </a:r>
            <a:r>
              <a:rPr sz="2800" spc="-40" dirty="0">
                <a:latin typeface="Comic Sans MS"/>
                <a:cs typeface="Comic Sans MS"/>
              </a:rPr>
              <a:t> </a:t>
            </a:r>
            <a:r>
              <a:rPr sz="2800" spc="-5" dirty="0">
                <a:latin typeface="Comic Sans MS"/>
                <a:cs typeface="Comic Sans MS"/>
              </a:rPr>
              <a:t>objects</a:t>
            </a:r>
            <a:endParaRPr sz="2800">
              <a:latin typeface="Comic Sans MS"/>
              <a:cs typeface="Comic Sans MS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99CCFF"/>
              </a:buClr>
              <a:buFont typeface="Comic Sans MS"/>
              <a:buChar char="–"/>
            </a:pPr>
            <a:endParaRPr sz="345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buClr>
                <a:srgbClr val="99CCFF"/>
              </a:buClr>
              <a:buChar char="–"/>
              <a:tabLst>
                <a:tab pos="755650" algn="l"/>
              </a:tabLst>
            </a:pPr>
            <a:r>
              <a:rPr sz="2800" spc="-5" dirty="0">
                <a:latin typeface="Comic Sans MS"/>
                <a:cs typeface="Comic Sans MS"/>
              </a:rPr>
              <a:t>Supports full range </a:t>
            </a:r>
            <a:r>
              <a:rPr sz="2800" dirty="0">
                <a:latin typeface="Comic Sans MS"/>
                <a:cs typeface="Comic Sans MS"/>
              </a:rPr>
              <a:t>of datatypes in</a:t>
            </a:r>
            <a:r>
              <a:rPr sz="2800" spc="-15" dirty="0">
                <a:latin typeface="Comic Sans MS"/>
                <a:cs typeface="Comic Sans MS"/>
              </a:rPr>
              <a:t> </a:t>
            </a:r>
            <a:r>
              <a:rPr sz="2800" spc="-5" dirty="0">
                <a:latin typeface="Comic Sans MS"/>
                <a:cs typeface="Comic Sans MS"/>
              </a:rPr>
              <a:t>XML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228600"/>
            <a:ext cx="7162800" cy="76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60800" y="297179"/>
            <a:ext cx="1116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O</a:t>
            </a:r>
            <a:r>
              <a:rPr sz="3600" spc="-10" dirty="0"/>
              <a:t>W</a:t>
            </a:r>
            <a:r>
              <a:rPr sz="3600" dirty="0"/>
              <a:t>L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547687" y="856741"/>
            <a:ext cx="8255634" cy="5392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OWL</a:t>
            </a:r>
            <a:endParaRPr sz="24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20"/>
              </a:spcBef>
              <a:buClr>
                <a:srgbClr val="99CCFF"/>
              </a:buClr>
              <a:buChar char="–"/>
              <a:tabLst>
                <a:tab pos="755015" algn="l"/>
                <a:tab pos="755650" algn="l"/>
              </a:tabLst>
            </a:pPr>
            <a:r>
              <a:rPr sz="2000" dirty="0">
                <a:latin typeface="Comic Sans MS"/>
                <a:cs typeface="Comic Sans MS"/>
              </a:rPr>
              <a:t>Under development </a:t>
            </a:r>
            <a:r>
              <a:rPr sz="2000" spc="-5" dirty="0">
                <a:latin typeface="Comic Sans MS"/>
                <a:cs typeface="Comic Sans MS"/>
              </a:rPr>
              <a:t>of W3C </a:t>
            </a:r>
            <a:r>
              <a:rPr sz="2000" dirty="0">
                <a:latin typeface="Comic Sans MS"/>
                <a:cs typeface="Comic Sans MS"/>
              </a:rPr>
              <a:t>Web </a:t>
            </a:r>
            <a:r>
              <a:rPr sz="2000" spc="-5" dirty="0">
                <a:latin typeface="Comic Sans MS"/>
                <a:cs typeface="Comic Sans MS"/>
              </a:rPr>
              <a:t>Ontology Working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Group</a:t>
            </a:r>
            <a:endParaRPr sz="20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buClr>
                <a:srgbClr val="99CCFF"/>
              </a:buClr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omic Sans MS"/>
                <a:cs typeface="Comic Sans MS"/>
              </a:rPr>
              <a:t>DAML+OIL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based</a:t>
            </a:r>
            <a:endParaRPr sz="20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buClr>
                <a:srgbClr val="99CCFF"/>
              </a:buClr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omic Sans MS"/>
                <a:cs typeface="Comic Sans MS"/>
              </a:rPr>
              <a:t>Offers:</a:t>
            </a:r>
            <a:endParaRPr sz="2000">
              <a:latin typeface="Comic Sans MS"/>
              <a:cs typeface="Comic Sans MS"/>
            </a:endParaRPr>
          </a:p>
          <a:p>
            <a:pPr marL="1155700" lvl="2" indent="-229235">
              <a:lnSpc>
                <a:spcPct val="100000"/>
              </a:lnSpc>
              <a:buChar char="•"/>
              <a:tabLst>
                <a:tab pos="1155065" algn="l"/>
                <a:tab pos="1155700" algn="l"/>
              </a:tabLst>
            </a:pPr>
            <a:r>
              <a:rPr sz="1800" spc="-5" dirty="0">
                <a:latin typeface="Comic Sans MS"/>
                <a:cs typeface="Comic Sans MS"/>
              </a:rPr>
              <a:t>More accurate </a:t>
            </a:r>
            <a:r>
              <a:rPr sz="1800" dirty="0">
                <a:latin typeface="Comic Sans MS"/>
                <a:cs typeface="Comic Sans MS"/>
              </a:rPr>
              <a:t>web</a:t>
            </a:r>
            <a:r>
              <a:rPr sz="1800" spc="-5" dirty="0">
                <a:latin typeface="Comic Sans MS"/>
                <a:cs typeface="Comic Sans MS"/>
              </a:rPr>
              <a:t> searches</a:t>
            </a:r>
            <a:endParaRPr sz="1800">
              <a:latin typeface="Comic Sans MS"/>
              <a:cs typeface="Comic Sans MS"/>
            </a:endParaRPr>
          </a:p>
          <a:p>
            <a:pPr marL="1155700" lvl="2" indent="-229235">
              <a:lnSpc>
                <a:spcPct val="100000"/>
              </a:lnSpc>
              <a:spcBef>
                <a:spcPts val="5"/>
              </a:spcBef>
              <a:buChar char="•"/>
              <a:tabLst>
                <a:tab pos="1155065" algn="l"/>
                <a:tab pos="1155700" algn="l"/>
              </a:tabLst>
            </a:pPr>
            <a:r>
              <a:rPr sz="1800" spc="-5" dirty="0">
                <a:latin typeface="Comic Sans MS"/>
                <a:cs typeface="Comic Sans MS"/>
              </a:rPr>
              <a:t>Intelligent agents</a:t>
            </a:r>
            <a:endParaRPr sz="1800">
              <a:latin typeface="Comic Sans MS"/>
              <a:cs typeface="Comic Sans MS"/>
            </a:endParaRPr>
          </a:p>
          <a:p>
            <a:pPr marL="1155700" lvl="2" indent="-229235">
              <a:lnSpc>
                <a:spcPts val="2145"/>
              </a:lnSpc>
              <a:spcBef>
                <a:spcPts val="5"/>
              </a:spcBef>
              <a:buChar char="•"/>
              <a:tabLst>
                <a:tab pos="1155065" algn="l"/>
                <a:tab pos="1155700" algn="l"/>
              </a:tabLst>
            </a:pPr>
            <a:r>
              <a:rPr sz="1800" spc="-5" dirty="0">
                <a:latin typeface="Comic Sans MS"/>
                <a:cs typeface="Comic Sans MS"/>
              </a:rPr>
              <a:t>Knowledge management</a:t>
            </a:r>
            <a:endParaRPr sz="1800">
              <a:latin typeface="Comic Sans MS"/>
              <a:cs typeface="Comic Sans MS"/>
            </a:endParaRPr>
          </a:p>
          <a:p>
            <a:pPr marL="755650" lvl="1" indent="-285750">
              <a:lnSpc>
                <a:spcPts val="2385"/>
              </a:lnSpc>
              <a:buClr>
                <a:srgbClr val="99CCFF"/>
              </a:buClr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omic Sans MS"/>
                <a:cs typeface="Comic Sans MS"/>
              </a:rPr>
              <a:t>Abstract syntax that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provides:</a:t>
            </a:r>
            <a:endParaRPr sz="2000">
              <a:latin typeface="Comic Sans MS"/>
              <a:cs typeface="Comic Sans MS"/>
            </a:endParaRPr>
          </a:p>
          <a:p>
            <a:pPr marL="1155700" lvl="2" indent="-229235">
              <a:lnSpc>
                <a:spcPct val="100000"/>
              </a:lnSpc>
              <a:buChar char="•"/>
              <a:tabLst>
                <a:tab pos="1155065" algn="l"/>
                <a:tab pos="1155700" algn="l"/>
              </a:tabLst>
            </a:pPr>
            <a:r>
              <a:rPr sz="1800" spc="-5" dirty="0">
                <a:latin typeface="Comic Sans MS"/>
                <a:cs typeface="Comic Sans MS"/>
              </a:rPr>
              <a:t>Higher level </a:t>
            </a:r>
            <a:r>
              <a:rPr sz="1800" dirty="0">
                <a:latin typeface="Comic Sans MS"/>
                <a:cs typeface="Comic Sans MS"/>
              </a:rPr>
              <a:t>way of </a:t>
            </a:r>
            <a:r>
              <a:rPr sz="1800" spc="-5" dirty="0">
                <a:latin typeface="Comic Sans MS"/>
                <a:cs typeface="Comic Sans MS"/>
              </a:rPr>
              <a:t>writing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ontologies</a:t>
            </a:r>
            <a:endParaRPr sz="1800">
              <a:latin typeface="Comic Sans MS"/>
              <a:cs typeface="Comic Sans MS"/>
            </a:endParaRPr>
          </a:p>
          <a:p>
            <a:pPr marL="1155700" lvl="2" indent="-229235">
              <a:lnSpc>
                <a:spcPct val="100000"/>
              </a:lnSpc>
              <a:spcBef>
                <a:spcPts val="10"/>
              </a:spcBef>
              <a:buChar char="•"/>
              <a:tabLst>
                <a:tab pos="1155065" algn="l"/>
                <a:tab pos="1155700" algn="l"/>
              </a:tabLst>
            </a:pPr>
            <a:r>
              <a:rPr sz="1800" spc="-5" dirty="0">
                <a:latin typeface="Comic Sans MS"/>
                <a:cs typeface="Comic Sans MS"/>
              </a:rPr>
              <a:t>Clear statement </a:t>
            </a:r>
            <a:r>
              <a:rPr sz="1800" dirty="0">
                <a:latin typeface="Comic Sans MS"/>
                <a:cs typeface="Comic Sans MS"/>
              </a:rPr>
              <a:t>of</a:t>
            </a:r>
            <a:r>
              <a:rPr sz="1800" spc="-5" dirty="0">
                <a:latin typeface="Comic Sans MS"/>
                <a:cs typeface="Comic Sans MS"/>
              </a:rPr>
              <a:t> semantics</a:t>
            </a:r>
            <a:endParaRPr sz="1800">
              <a:latin typeface="Comic Sans MS"/>
              <a:cs typeface="Comic Sans MS"/>
            </a:endParaRPr>
          </a:p>
          <a:p>
            <a:pPr marL="1155700" lvl="2" indent="-229235">
              <a:lnSpc>
                <a:spcPct val="100000"/>
              </a:lnSpc>
              <a:spcBef>
                <a:spcPts val="5"/>
              </a:spcBef>
              <a:buChar char="•"/>
              <a:tabLst>
                <a:tab pos="1155065" algn="l"/>
                <a:tab pos="1155700" algn="l"/>
              </a:tabLst>
            </a:pPr>
            <a:r>
              <a:rPr sz="1800" spc="-5" dirty="0">
                <a:latin typeface="Comic Sans MS"/>
                <a:cs typeface="Comic Sans MS"/>
              </a:rPr>
              <a:t>Compound axioms resembling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frames</a:t>
            </a:r>
            <a:endParaRPr sz="18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214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OWL-lite</a:t>
            </a:r>
            <a:endParaRPr sz="24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20"/>
              </a:spcBef>
              <a:buClr>
                <a:srgbClr val="99CCFF"/>
              </a:buClr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omic Sans MS"/>
                <a:cs typeface="Comic Sans MS"/>
              </a:rPr>
              <a:t>OWL sublanguage</a:t>
            </a:r>
            <a:endParaRPr sz="20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buClr>
                <a:srgbClr val="99CCFF"/>
              </a:buClr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omic Sans MS"/>
                <a:cs typeface="Comic Sans MS"/>
              </a:rPr>
              <a:t>OWL-lite </a:t>
            </a:r>
            <a:r>
              <a:rPr sz="2000" dirty="0">
                <a:latin typeface="Comic Sans MS"/>
                <a:cs typeface="Comic Sans MS"/>
              </a:rPr>
              <a:t>= </a:t>
            </a:r>
            <a:r>
              <a:rPr sz="2000" spc="-5" dirty="0">
                <a:latin typeface="Comic Sans MS"/>
                <a:cs typeface="Comic Sans MS"/>
              </a:rPr>
              <a:t>RDFs </a:t>
            </a:r>
            <a:r>
              <a:rPr sz="2000" dirty="0">
                <a:latin typeface="Comic Sans MS"/>
                <a:cs typeface="Comic Sans MS"/>
              </a:rPr>
              <a:t>+ 0/1</a:t>
            </a:r>
            <a:r>
              <a:rPr sz="2000" spc="1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cardinality</a:t>
            </a:r>
            <a:endParaRPr sz="20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buClr>
                <a:srgbClr val="99CCFF"/>
              </a:buClr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omic Sans MS"/>
                <a:cs typeface="Comic Sans MS"/>
              </a:rPr>
              <a:t>Suites well to express light weight</a:t>
            </a:r>
            <a:r>
              <a:rPr sz="2000" spc="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ontologies</a:t>
            </a:r>
            <a:endParaRPr sz="20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buClr>
                <a:srgbClr val="99CCFF"/>
              </a:buClr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Comic Sans MS"/>
                <a:cs typeface="Comic Sans MS"/>
              </a:rPr>
              <a:t>Limited expresiveness</a:t>
            </a:r>
            <a:r>
              <a:rPr sz="200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power</a:t>
            </a:r>
            <a:endParaRPr sz="2000">
              <a:latin typeface="Comic Sans MS"/>
              <a:cs typeface="Comic Sans MS"/>
            </a:endParaRPr>
          </a:p>
          <a:p>
            <a:pPr marL="1155700" lvl="2" indent="-229235">
              <a:lnSpc>
                <a:spcPct val="100000"/>
              </a:lnSpc>
              <a:buChar char="•"/>
              <a:tabLst>
                <a:tab pos="1155065" algn="l"/>
                <a:tab pos="1155700" algn="l"/>
              </a:tabLst>
            </a:pPr>
            <a:r>
              <a:rPr sz="1800" dirty="0">
                <a:latin typeface="Comic Sans MS"/>
                <a:cs typeface="Comic Sans MS"/>
              </a:rPr>
              <a:t>Some </a:t>
            </a:r>
            <a:r>
              <a:rPr sz="1800" spc="-5" dirty="0">
                <a:latin typeface="Comic Sans MS"/>
                <a:cs typeface="Comic Sans MS"/>
              </a:rPr>
              <a:t>fields require </a:t>
            </a:r>
            <a:r>
              <a:rPr sz="1800" dirty="0">
                <a:latin typeface="Comic Sans MS"/>
                <a:cs typeface="Comic Sans MS"/>
              </a:rPr>
              <a:t>a </a:t>
            </a:r>
            <a:r>
              <a:rPr sz="1800" spc="-5" dirty="0">
                <a:latin typeface="Comic Sans MS"/>
                <a:cs typeface="Comic Sans MS"/>
              </a:rPr>
              <a:t>full-fledged semantic </a:t>
            </a:r>
            <a:r>
              <a:rPr sz="1800" dirty="0">
                <a:latin typeface="Comic Sans MS"/>
                <a:cs typeface="Comic Sans MS"/>
              </a:rPr>
              <a:t>web </a:t>
            </a:r>
            <a:r>
              <a:rPr sz="1800" spc="-5" dirty="0">
                <a:latin typeface="Comic Sans MS"/>
                <a:cs typeface="Comic Sans MS"/>
              </a:rPr>
              <a:t>modeling</a:t>
            </a:r>
            <a:r>
              <a:rPr sz="180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language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5323649"/>
            <a:ext cx="718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tati</a:t>
            </a: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2996374"/>
            <a:ext cx="1141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Dyn</a:t>
            </a:r>
            <a:r>
              <a:rPr sz="2400" spc="-5" dirty="0">
                <a:latin typeface="Times New Roman"/>
                <a:cs typeface="Times New Roman"/>
              </a:rPr>
              <a:t>ami</a:t>
            </a: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9740" y="2005774"/>
            <a:ext cx="2988310" cy="111950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200"/>
              </a:spcBef>
            </a:pP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Bringing </a:t>
            </a: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the</a:t>
            </a:r>
            <a:r>
              <a:rPr sz="2400" b="1" spc="-50" dirty="0">
                <a:solidFill>
                  <a:srgbClr val="660033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computer  back </a:t>
            </a: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as a 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device </a:t>
            </a: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for  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computation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76600" y="3248940"/>
            <a:ext cx="1474470" cy="1399540"/>
          </a:xfrm>
          <a:custGeom>
            <a:avLst/>
            <a:gdLst/>
            <a:ahLst/>
            <a:cxnLst/>
            <a:rect l="l" t="t" r="r" b="b"/>
            <a:pathLst>
              <a:path w="1474470" h="1399539">
                <a:moveTo>
                  <a:pt x="224181" y="1081910"/>
                </a:moveTo>
                <a:lnTo>
                  <a:pt x="0" y="1399259"/>
                </a:lnTo>
                <a:lnTo>
                  <a:pt x="250221" y="1242040"/>
                </a:lnTo>
                <a:lnTo>
                  <a:pt x="165952" y="1242040"/>
                </a:lnTo>
                <a:lnTo>
                  <a:pt x="170975" y="1228229"/>
                </a:lnTo>
                <a:lnTo>
                  <a:pt x="272203" y="1228229"/>
                </a:lnTo>
                <a:lnTo>
                  <a:pt x="289608" y="1217293"/>
                </a:lnTo>
                <a:lnTo>
                  <a:pt x="247473" y="1217293"/>
                </a:lnTo>
                <a:lnTo>
                  <a:pt x="257016" y="1208252"/>
                </a:lnTo>
                <a:lnTo>
                  <a:pt x="213175" y="1161976"/>
                </a:lnTo>
                <a:lnTo>
                  <a:pt x="195066" y="1161976"/>
                </a:lnTo>
                <a:lnTo>
                  <a:pt x="224181" y="1081910"/>
                </a:lnTo>
                <a:close/>
              </a:path>
              <a:path w="1474470" h="1399539">
                <a:moveTo>
                  <a:pt x="272203" y="1228229"/>
                </a:moveTo>
                <a:lnTo>
                  <a:pt x="170975" y="1228229"/>
                </a:lnTo>
                <a:lnTo>
                  <a:pt x="180014" y="1237772"/>
                </a:lnTo>
                <a:lnTo>
                  <a:pt x="165952" y="1242040"/>
                </a:lnTo>
                <a:lnTo>
                  <a:pt x="250221" y="1242040"/>
                </a:lnTo>
                <a:lnTo>
                  <a:pt x="272203" y="1228229"/>
                </a:lnTo>
                <a:close/>
              </a:path>
              <a:path w="1474470" h="1399539">
                <a:moveTo>
                  <a:pt x="328994" y="1192546"/>
                </a:moveTo>
                <a:lnTo>
                  <a:pt x="247473" y="1217293"/>
                </a:lnTo>
                <a:lnTo>
                  <a:pt x="289608" y="1217293"/>
                </a:lnTo>
                <a:lnTo>
                  <a:pt x="328994" y="1192546"/>
                </a:lnTo>
                <a:close/>
              </a:path>
              <a:path w="1474470" h="1399539">
                <a:moveTo>
                  <a:pt x="204609" y="1152935"/>
                </a:moveTo>
                <a:lnTo>
                  <a:pt x="195066" y="1161976"/>
                </a:lnTo>
                <a:lnTo>
                  <a:pt x="213175" y="1161976"/>
                </a:lnTo>
                <a:lnTo>
                  <a:pt x="204609" y="1152935"/>
                </a:lnTo>
                <a:close/>
              </a:path>
              <a:path w="1474470" h="1399539">
                <a:moveTo>
                  <a:pt x="315244" y="1048123"/>
                </a:moveTo>
                <a:lnTo>
                  <a:pt x="259927" y="1100529"/>
                </a:lnTo>
                <a:lnTo>
                  <a:pt x="312333" y="1155847"/>
                </a:lnTo>
                <a:lnTo>
                  <a:pt x="367651" y="1103440"/>
                </a:lnTo>
                <a:lnTo>
                  <a:pt x="315244" y="1048123"/>
                </a:lnTo>
                <a:close/>
              </a:path>
              <a:path w="1474470" h="1399539">
                <a:moveTo>
                  <a:pt x="425880" y="943311"/>
                </a:moveTo>
                <a:lnTo>
                  <a:pt x="370563" y="995716"/>
                </a:lnTo>
                <a:lnTo>
                  <a:pt x="422968" y="1051034"/>
                </a:lnTo>
                <a:lnTo>
                  <a:pt x="478285" y="998628"/>
                </a:lnTo>
                <a:lnTo>
                  <a:pt x="425880" y="943311"/>
                </a:lnTo>
                <a:close/>
              </a:path>
              <a:path w="1474470" h="1399539">
                <a:moveTo>
                  <a:pt x="536515" y="838498"/>
                </a:moveTo>
                <a:lnTo>
                  <a:pt x="481197" y="890905"/>
                </a:lnTo>
                <a:lnTo>
                  <a:pt x="533604" y="946222"/>
                </a:lnTo>
                <a:lnTo>
                  <a:pt x="588921" y="893815"/>
                </a:lnTo>
                <a:lnTo>
                  <a:pt x="536515" y="838498"/>
                </a:lnTo>
                <a:close/>
              </a:path>
              <a:path w="1474470" h="1399539">
                <a:moveTo>
                  <a:pt x="647150" y="733686"/>
                </a:moveTo>
                <a:lnTo>
                  <a:pt x="591832" y="786093"/>
                </a:lnTo>
                <a:lnTo>
                  <a:pt x="644239" y="841410"/>
                </a:lnTo>
                <a:lnTo>
                  <a:pt x="699556" y="789004"/>
                </a:lnTo>
                <a:lnTo>
                  <a:pt x="647150" y="733686"/>
                </a:lnTo>
                <a:close/>
              </a:path>
              <a:path w="1474470" h="1399539">
                <a:moveTo>
                  <a:pt x="757786" y="628874"/>
                </a:moveTo>
                <a:lnTo>
                  <a:pt x="702468" y="681280"/>
                </a:lnTo>
                <a:lnTo>
                  <a:pt x="754874" y="736597"/>
                </a:lnTo>
                <a:lnTo>
                  <a:pt x="810191" y="684192"/>
                </a:lnTo>
                <a:lnTo>
                  <a:pt x="757786" y="628874"/>
                </a:lnTo>
                <a:close/>
              </a:path>
              <a:path w="1474470" h="1399539">
                <a:moveTo>
                  <a:pt x="868420" y="524061"/>
                </a:moveTo>
                <a:lnTo>
                  <a:pt x="813103" y="576468"/>
                </a:lnTo>
                <a:lnTo>
                  <a:pt x="865510" y="631785"/>
                </a:lnTo>
                <a:lnTo>
                  <a:pt x="920827" y="579379"/>
                </a:lnTo>
                <a:lnTo>
                  <a:pt x="868420" y="524061"/>
                </a:lnTo>
                <a:close/>
              </a:path>
              <a:path w="1474470" h="1399539">
                <a:moveTo>
                  <a:pt x="979055" y="419249"/>
                </a:moveTo>
                <a:lnTo>
                  <a:pt x="923738" y="471656"/>
                </a:lnTo>
                <a:lnTo>
                  <a:pt x="976144" y="526973"/>
                </a:lnTo>
                <a:lnTo>
                  <a:pt x="1031462" y="474567"/>
                </a:lnTo>
                <a:lnTo>
                  <a:pt x="979055" y="419249"/>
                </a:lnTo>
                <a:close/>
              </a:path>
              <a:path w="1474470" h="1399539">
                <a:moveTo>
                  <a:pt x="1089691" y="314438"/>
                </a:moveTo>
                <a:lnTo>
                  <a:pt x="1034374" y="366843"/>
                </a:lnTo>
                <a:lnTo>
                  <a:pt x="1086779" y="422160"/>
                </a:lnTo>
                <a:lnTo>
                  <a:pt x="1142097" y="369755"/>
                </a:lnTo>
                <a:lnTo>
                  <a:pt x="1089691" y="314438"/>
                </a:lnTo>
                <a:close/>
              </a:path>
              <a:path w="1474470" h="1399539">
                <a:moveTo>
                  <a:pt x="1200326" y="209624"/>
                </a:moveTo>
                <a:lnTo>
                  <a:pt x="1145009" y="262031"/>
                </a:lnTo>
                <a:lnTo>
                  <a:pt x="1197415" y="317348"/>
                </a:lnTo>
                <a:lnTo>
                  <a:pt x="1252733" y="264942"/>
                </a:lnTo>
                <a:lnTo>
                  <a:pt x="1200326" y="209624"/>
                </a:lnTo>
                <a:close/>
              </a:path>
              <a:path w="1474470" h="1399539">
                <a:moveTo>
                  <a:pt x="1310961" y="104813"/>
                </a:moveTo>
                <a:lnTo>
                  <a:pt x="1255643" y="157218"/>
                </a:lnTo>
                <a:lnTo>
                  <a:pt x="1308050" y="212537"/>
                </a:lnTo>
                <a:lnTo>
                  <a:pt x="1363367" y="160130"/>
                </a:lnTo>
                <a:lnTo>
                  <a:pt x="1310961" y="104813"/>
                </a:lnTo>
                <a:close/>
              </a:path>
              <a:path w="1474470" h="1399539">
                <a:moveTo>
                  <a:pt x="1421597" y="0"/>
                </a:moveTo>
                <a:lnTo>
                  <a:pt x="1366278" y="52406"/>
                </a:lnTo>
                <a:lnTo>
                  <a:pt x="1418685" y="107723"/>
                </a:lnTo>
                <a:lnTo>
                  <a:pt x="1474002" y="55318"/>
                </a:lnTo>
                <a:lnTo>
                  <a:pt x="1421597" y="0"/>
                </a:lnTo>
                <a:close/>
              </a:path>
            </a:pathLst>
          </a:custGeom>
          <a:solidFill>
            <a:srgbClr val="66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71600" y="1676400"/>
            <a:ext cx="0" cy="4419600"/>
          </a:xfrm>
          <a:custGeom>
            <a:avLst/>
            <a:gdLst/>
            <a:ahLst/>
            <a:cxnLst/>
            <a:rect l="l" t="t" r="r" b="b"/>
            <a:pathLst>
              <a:path h="4419600">
                <a:moveTo>
                  <a:pt x="0" y="0"/>
                </a:moveTo>
                <a:lnTo>
                  <a:pt x="1" y="4419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86200" y="5524501"/>
            <a:ext cx="1143000" cy="76200"/>
          </a:xfrm>
          <a:custGeom>
            <a:avLst/>
            <a:gdLst/>
            <a:ahLst/>
            <a:cxnLst/>
            <a:rect l="l" t="t" r="r" b="b"/>
            <a:pathLst>
              <a:path w="1143000" h="76200">
                <a:moveTo>
                  <a:pt x="0" y="33336"/>
                </a:moveTo>
                <a:lnTo>
                  <a:pt x="0" y="42861"/>
                </a:lnTo>
                <a:lnTo>
                  <a:pt x="1066800" y="42862"/>
                </a:lnTo>
                <a:lnTo>
                  <a:pt x="1066800" y="76199"/>
                </a:lnTo>
                <a:lnTo>
                  <a:pt x="1143000" y="38100"/>
                </a:lnTo>
                <a:lnTo>
                  <a:pt x="1133475" y="33337"/>
                </a:lnTo>
                <a:lnTo>
                  <a:pt x="0" y="33336"/>
                </a:lnTo>
                <a:close/>
              </a:path>
              <a:path w="1143000" h="76200">
                <a:moveTo>
                  <a:pt x="1066800" y="0"/>
                </a:moveTo>
                <a:lnTo>
                  <a:pt x="1066800" y="33337"/>
                </a:lnTo>
                <a:lnTo>
                  <a:pt x="1133475" y="33337"/>
                </a:lnTo>
                <a:lnTo>
                  <a:pt x="1066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47800" y="4876800"/>
            <a:ext cx="2438400" cy="106680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7329">
              <a:lnSpc>
                <a:spcPts val="3650"/>
              </a:lnSpc>
            </a:pPr>
            <a:r>
              <a:rPr sz="3200" dirty="0">
                <a:solidFill>
                  <a:srgbClr val="660033"/>
                </a:solidFill>
                <a:latin typeface="Times New Roman"/>
                <a:cs typeface="Times New Roman"/>
              </a:rPr>
              <a:t>WWW</a:t>
            </a:r>
            <a:endParaRPr sz="3200">
              <a:latin typeface="Times New Roman"/>
              <a:cs typeface="Times New Roman"/>
            </a:endParaRPr>
          </a:p>
          <a:p>
            <a:pPr marL="15621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/>
                <a:cs typeface="Times New Roman"/>
              </a:rPr>
              <a:t>URI, HTML,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HTTP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29200" y="4953000"/>
            <a:ext cx="2590800" cy="106680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3500"/>
              </a:lnSpc>
            </a:pPr>
            <a:r>
              <a:rPr sz="3200" spc="-5" dirty="0">
                <a:solidFill>
                  <a:srgbClr val="660033"/>
                </a:solidFill>
                <a:latin typeface="Times New Roman"/>
                <a:cs typeface="Times New Roman"/>
              </a:rPr>
              <a:t>Semantic</a:t>
            </a:r>
            <a:r>
              <a:rPr sz="3200" spc="-85" dirty="0">
                <a:solidFill>
                  <a:srgbClr val="660033"/>
                </a:solidFill>
                <a:latin typeface="Times New Roman"/>
                <a:cs typeface="Times New Roman"/>
              </a:rPr>
              <a:t> Web</a:t>
            </a:r>
            <a:endParaRPr sz="3200">
              <a:latin typeface="Times New Roman"/>
              <a:cs typeface="Times New Roman"/>
            </a:endParaRPr>
          </a:p>
          <a:p>
            <a:pPr marL="276860">
              <a:lnSpc>
                <a:spcPct val="100000"/>
              </a:lnSpc>
              <a:spcBef>
                <a:spcPts val="30"/>
              </a:spcBef>
            </a:pPr>
            <a:r>
              <a:rPr sz="2000" spc="-40" dirty="0">
                <a:latin typeface="Times New Roman"/>
                <a:cs typeface="Times New Roman"/>
              </a:rPr>
              <a:t>RDF, </a:t>
            </a:r>
            <a:r>
              <a:rPr sz="2000" spc="-5" dirty="0">
                <a:latin typeface="Times New Roman"/>
                <a:cs typeface="Times New Roman"/>
              </a:rPr>
              <a:t>RDF(S),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OWL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7800" y="2514600"/>
            <a:ext cx="2590800" cy="106680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495"/>
              </a:spcBef>
            </a:pPr>
            <a:r>
              <a:rPr sz="3200" spc="-85" dirty="0">
                <a:solidFill>
                  <a:srgbClr val="660033"/>
                </a:solidFill>
                <a:latin typeface="Times New Roman"/>
                <a:cs typeface="Times New Roman"/>
              </a:rPr>
              <a:t>Web</a:t>
            </a:r>
            <a:r>
              <a:rPr sz="3200" spc="-25" dirty="0">
                <a:solidFill>
                  <a:srgbClr val="660033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660033"/>
                </a:solidFill>
                <a:latin typeface="Times New Roman"/>
                <a:cs typeface="Times New Roman"/>
              </a:rPr>
              <a:t>Services</a:t>
            </a:r>
            <a:endParaRPr sz="3200">
              <a:latin typeface="Times New Roman"/>
              <a:cs typeface="Times New Roman"/>
            </a:endParaRPr>
          </a:p>
          <a:p>
            <a:pPr marL="204470">
              <a:lnSpc>
                <a:spcPct val="100000"/>
              </a:lnSpc>
              <a:spcBef>
                <a:spcPts val="395"/>
              </a:spcBef>
            </a:pPr>
            <a:r>
              <a:rPr sz="2000" dirty="0">
                <a:latin typeface="Times New Roman"/>
                <a:cs typeface="Times New Roman"/>
              </a:rPr>
              <a:t>UDDI, WSDL,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SOAP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71701" y="3581400"/>
            <a:ext cx="76200" cy="1295400"/>
          </a:xfrm>
          <a:custGeom>
            <a:avLst/>
            <a:gdLst/>
            <a:ahLst/>
            <a:cxnLst/>
            <a:rect l="l" t="t" r="r" b="b"/>
            <a:pathLst>
              <a:path w="76200" h="1295400">
                <a:moveTo>
                  <a:pt x="42862" y="76200"/>
                </a:moveTo>
                <a:lnTo>
                  <a:pt x="33337" y="76200"/>
                </a:lnTo>
                <a:lnTo>
                  <a:pt x="33336" y="1295400"/>
                </a:lnTo>
                <a:lnTo>
                  <a:pt x="42861" y="1295400"/>
                </a:lnTo>
                <a:lnTo>
                  <a:pt x="42862" y="76200"/>
                </a:lnTo>
                <a:close/>
              </a:path>
              <a:path w="76200" h="12954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912268" y="727265"/>
            <a:ext cx="339597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Web</a:t>
            </a:r>
            <a:r>
              <a:rPr spc="-65" dirty="0"/>
              <a:t> </a:t>
            </a:r>
            <a:r>
              <a:rPr spc="-5" dirty="0"/>
              <a:t>Service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8437" y="193865"/>
            <a:ext cx="36683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Web</a:t>
            </a:r>
            <a:r>
              <a:rPr spc="-60" dirty="0"/>
              <a:t> </a:t>
            </a:r>
            <a:r>
              <a:rPr spc="-5"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6440" y="1891474"/>
            <a:ext cx="6851650" cy="390080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27305">
              <a:lnSpc>
                <a:spcPct val="90000"/>
              </a:lnSpc>
              <a:spcBef>
                <a:spcPts val="385"/>
              </a:spcBef>
            </a:pPr>
            <a:r>
              <a:rPr sz="2400" spc="-55" dirty="0">
                <a:latin typeface="Times New Roman"/>
                <a:cs typeface="Times New Roman"/>
              </a:rPr>
              <a:t>“Web </a:t>
            </a:r>
            <a:r>
              <a:rPr sz="2400" spc="-5" dirty="0">
                <a:latin typeface="Times New Roman"/>
                <a:cs typeface="Times New Roman"/>
              </a:rPr>
              <a:t>services are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new breed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70" dirty="0">
                <a:latin typeface="Times New Roman"/>
                <a:cs typeface="Times New Roman"/>
              </a:rPr>
              <a:t>Web </a:t>
            </a:r>
            <a:r>
              <a:rPr sz="2400" spc="-5" dirty="0">
                <a:latin typeface="Times New Roman"/>
                <a:cs typeface="Times New Roman"/>
              </a:rPr>
              <a:t>application.  They are self-contained, self-describing, modular  applications that can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published, located, and invoked  across the </a:t>
            </a:r>
            <a:r>
              <a:rPr sz="2400" spc="-50" dirty="0">
                <a:latin typeface="Times New Roman"/>
                <a:cs typeface="Times New Roman"/>
              </a:rPr>
              <a:t>Web. </a:t>
            </a:r>
            <a:r>
              <a:rPr sz="2400" spc="-70" dirty="0">
                <a:latin typeface="Times New Roman"/>
                <a:cs typeface="Times New Roman"/>
              </a:rPr>
              <a:t>Web </a:t>
            </a:r>
            <a:r>
              <a:rPr sz="2400" spc="-5" dirty="0">
                <a:latin typeface="Times New Roman"/>
                <a:cs typeface="Times New Roman"/>
              </a:rPr>
              <a:t>services perform functions, which  can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anything </a:t>
            </a:r>
            <a:r>
              <a:rPr sz="2400" dirty="0">
                <a:latin typeface="Times New Roman"/>
                <a:cs typeface="Times New Roman"/>
              </a:rPr>
              <a:t>from </a:t>
            </a:r>
            <a:r>
              <a:rPr sz="2400" spc="-5" dirty="0">
                <a:latin typeface="Times New Roman"/>
                <a:cs typeface="Times New Roman"/>
              </a:rPr>
              <a:t>simple requests to complicated  business processes.</a:t>
            </a:r>
            <a:r>
              <a:rPr sz="2400" dirty="0">
                <a:latin typeface="Times New Roman"/>
                <a:cs typeface="Times New Roman"/>
              </a:rPr>
              <a:t> …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89700"/>
              </a:lnSpc>
              <a:spcBef>
                <a:spcPts val="585"/>
              </a:spcBef>
            </a:pPr>
            <a:r>
              <a:rPr sz="2400" spc="-5" dirty="0">
                <a:latin typeface="Times New Roman"/>
                <a:cs typeface="Times New Roman"/>
              </a:rPr>
              <a:t>Once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70" dirty="0">
                <a:latin typeface="Times New Roman"/>
                <a:cs typeface="Times New Roman"/>
              </a:rPr>
              <a:t>Web </a:t>
            </a:r>
            <a:r>
              <a:rPr sz="2400" spc="-5" dirty="0">
                <a:latin typeface="Times New Roman"/>
                <a:cs typeface="Times New Roman"/>
              </a:rPr>
              <a:t>service is deployed, other applications (and  other </a:t>
            </a:r>
            <a:r>
              <a:rPr sz="2400" spc="-70" dirty="0">
                <a:latin typeface="Times New Roman"/>
                <a:cs typeface="Times New Roman"/>
              </a:rPr>
              <a:t>Web </a:t>
            </a:r>
            <a:r>
              <a:rPr sz="2400" spc="-5" dirty="0">
                <a:latin typeface="Times New Roman"/>
                <a:cs typeface="Times New Roman"/>
              </a:rPr>
              <a:t>services) can discover and invoke the  deployed service.”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3403600">
              <a:lnSpc>
                <a:spcPct val="100000"/>
              </a:lnSpc>
              <a:spcBef>
                <a:spcPts val="5"/>
              </a:spcBef>
            </a:pPr>
            <a:r>
              <a:rPr sz="2400" i="1" spc="-5" dirty="0">
                <a:latin typeface="Times New Roman"/>
                <a:cs typeface="Times New Roman"/>
              </a:rPr>
              <a:t>IBM web service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tutorial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8437" y="193865"/>
            <a:ext cx="36683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Web</a:t>
            </a:r>
            <a:r>
              <a:rPr spc="-60" dirty="0"/>
              <a:t> </a:t>
            </a:r>
            <a:r>
              <a:rPr spc="-5"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891474"/>
            <a:ext cx="7153909" cy="284226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5600" marR="8890" indent="-342900">
              <a:lnSpc>
                <a:spcPct val="89700"/>
              </a:lnSpc>
              <a:spcBef>
                <a:spcPts val="39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70" dirty="0">
                <a:latin typeface="Times New Roman"/>
                <a:cs typeface="Times New Roman"/>
              </a:rPr>
              <a:t>Web </a:t>
            </a:r>
            <a:r>
              <a:rPr sz="2400" spc="-5" dirty="0">
                <a:latin typeface="Times New Roman"/>
                <a:cs typeface="Times New Roman"/>
              </a:rPr>
              <a:t>Services connect computers and devices with each  other using the Internet to exchange data and combine  data in new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ways.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600"/>
              </a:lnSpc>
              <a:spcBef>
                <a:spcPts val="60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key to </a:t>
            </a:r>
            <a:r>
              <a:rPr sz="2400" spc="-70" dirty="0">
                <a:latin typeface="Times New Roman"/>
                <a:cs typeface="Times New Roman"/>
              </a:rPr>
              <a:t>Web </a:t>
            </a:r>
            <a:r>
              <a:rPr sz="2400" spc="-5" dirty="0">
                <a:latin typeface="Times New Roman"/>
                <a:cs typeface="Times New Roman"/>
              </a:rPr>
              <a:t>Services is on-the-fly software creation  through the </a:t>
            </a:r>
            <a:r>
              <a:rPr sz="2400" dirty="0">
                <a:latin typeface="Times New Roman"/>
                <a:cs typeface="Times New Roman"/>
              </a:rPr>
              <a:t>use of </a:t>
            </a:r>
            <a:r>
              <a:rPr sz="2400" spc="-5" dirty="0">
                <a:latin typeface="Times New Roman"/>
                <a:cs typeface="Times New Roman"/>
              </a:rPr>
              <a:t>loosely coupled, reusable software  components.</a:t>
            </a:r>
            <a:endParaRPr sz="2400">
              <a:latin typeface="Times New Roman"/>
              <a:cs typeface="Times New Roman"/>
            </a:endParaRPr>
          </a:p>
          <a:p>
            <a:pPr marL="355600" marR="85090" indent="-342900">
              <a:lnSpc>
                <a:spcPts val="2600"/>
              </a:lnSpc>
              <a:spcBef>
                <a:spcPts val="5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Software can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delivered and paid </a:t>
            </a:r>
            <a:r>
              <a:rPr sz="2400" dirty="0">
                <a:latin typeface="Times New Roman"/>
                <a:cs typeface="Times New Roman"/>
              </a:rPr>
              <a:t>for </a:t>
            </a:r>
            <a:r>
              <a:rPr sz="2400" spc="-5" dirty="0">
                <a:latin typeface="Times New Roman"/>
                <a:cs typeface="Times New Roman"/>
              </a:rPr>
              <a:t>as fluid streams 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services as opposed to packaged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products.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8437" y="193865"/>
            <a:ext cx="36683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Web</a:t>
            </a:r>
            <a:r>
              <a:rPr spc="-60" dirty="0"/>
              <a:t> </a:t>
            </a:r>
            <a:r>
              <a:rPr spc="-5"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891474"/>
            <a:ext cx="7226934" cy="434467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12065" indent="-342900">
              <a:lnSpc>
                <a:spcPct val="89900"/>
              </a:lnSpc>
              <a:spcBef>
                <a:spcPts val="39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UDDI </a:t>
            </a:r>
            <a:r>
              <a:rPr sz="2400" spc="-5" dirty="0">
                <a:latin typeface="Times New Roman"/>
                <a:cs typeface="Times New Roman"/>
              </a:rPr>
              <a:t>provides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mechanism </a:t>
            </a:r>
            <a:r>
              <a:rPr sz="2400" dirty="0">
                <a:latin typeface="Times New Roman"/>
                <a:cs typeface="Times New Roman"/>
              </a:rPr>
              <a:t>for </a:t>
            </a:r>
            <a:r>
              <a:rPr sz="2400" spc="-5" dirty="0">
                <a:latin typeface="Times New Roman"/>
                <a:cs typeface="Times New Roman"/>
              </a:rPr>
              <a:t>clients to find web  services. </a:t>
            </a:r>
            <a:r>
              <a:rPr sz="2400" dirty="0">
                <a:latin typeface="Times New Roman"/>
                <a:cs typeface="Times New Roman"/>
              </a:rPr>
              <a:t>A UDDI </a:t>
            </a:r>
            <a:r>
              <a:rPr sz="2400" spc="-5" dirty="0">
                <a:latin typeface="Times New Roman"/>
                <a:cs typeface="Times New Roman"/>
              </a:rPr>
              <a:t>registry is similar to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CORBA</a:t>
            </a:r>
            <a:r>
              <a:rPr sz="2400" spc="-3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trader, 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it can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thought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a DNS </a:t>
            </a:r>
            <a:r>
              <a:rPr sz="2400" spc="-5" dirty="0">
                <a:latin typeface="Times New Roman"/>
                <a:cs typeface="Times New Roman"/>
              </a:rPr>
              <a:t>service </a:t>
            </a:r>
            <a:r>
              <a:rPr sz="2400" dirty="0">
                <a:latin typeface="Times New Roman"/>
                <a:cs typeface="Times New Roman"/>
              </a:rPr>
              <a:t>for </a:t>
            </a:r>
            <a:r>
              <a:rPr sz="2400" spc="-5" dirty="0">
                <a:latin typeface="Times New Roman"/>
                <a:cs typeface="Times New Roman"/>
              </a:rPr>
              <a:t>business  applications.</a:t>
            </a:r>
            <a:endParaRPr sz="2400">
              <a:latin typeface="Times New Roman"/>
              <a:cs typeface="Times New Roman"/>
            </a:endParaRPr>
          </a:p>
          <a:p>
            <a:pPr marL="355600" marR="449580" indent="-342900">
              <a:lnSpc>
                <a:spcPct val="89900"/>
              </a:lnSpc>
              <a:spcBef>
                <a:spcPts val="57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WSDL </a:t>
            </a:r>
            <a:r>
              <a:rPr sz="2400" spc="-5" dirty="0">
                <a:latin typeface="Times New Roman"/>
                <a:cs typeface="Times New Roman"/>
              </a:rPr>
              <a:t>defines services as collections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network  endpoints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i="1" spc="-5" dirty="0">
                <a:latin typeface="Times New Roman"/>
                <a:cs typeface="Times New Roman"/>
              </a:rPr>
              <a:t>ports</a:t>
            </a:r>
            <a:r>
              <a:rPr sz="2400" spc="-5" dirty="0">
                <a:latin typeface="Times New Roman"/>
                <a:cs typeface="Times New Roman"/>
              </a:rPr>
              <a:t>. </a:t>
            </a:r>
            <a:r>
              <a:rPr sz="2400" dirty="0">
                <a:latin typeface="Times New Roman"/>
                <a:cs typeface="Times New Roman"/>
              </a:rPr>
              <a:t>A port </a:t>
            </a:r>
            <a:r>
              <a:rPr sz="2400" spc="-5" dirty="0">
                <a:latin typeface="Times New Roman"/>
                <a:cs typeface="Times New Roman"/>
              </a:rPr>
              <a:t>is defined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-5" dirty="0">
                <a:latin typeface="Times New Roman"/>
                <a:cs typeface="Times New Roman"/>
              </a:rPr>
              <a:t>associating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 </a:t>
            </a:r>
            <a:r>
              <a:rPr sz="2400" spc="-5" dirty="0">
                <a:latin typeface="Times New Roman"/>
                <a:cs typeface="Times New Roman"/>
              </a:rPr>
              <a:t>network address with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binding;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collection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ports  define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service.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90000"/>
              </a:lnSpc>
              <a:spcBef>
                <a:spcPts val="55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SOAP </a:t>
            </a:r>
            <a:r>
              <a:rPr sz="2200" dirty="0">
                <a:latin typeface="Times New Roman"/>
                <a:cs typeface="Times New Roman"/>
              </a:rPr>
              <a:t>is a </a:t>
            </a:r>
            <a:r>
              <a:rPr sz="2200" spc="-5" dirty="0">
                <a:latin typeface="Times New Roman"/>
                <a:cs typeface="Times New Roman"/>
              </a:rPr>
              <a:t>message layout specification that defines </a:t>
            </a:r>
            <a:r>
              <a:rPr sz="2200" dirty="0">
                <a:latin typeface="Times New Roman"/>
                <a:cs typeface="Times New Roman"/>
              </a:rPr>
              <a:t>a  uniform </a:t>
            </a:r>
            <a:r>
              <a:rPr sz="2200" spc="-5" dirty="0">
                <a:latin typeface="Times New Roman"/>
                <a:cs typeface="Times New Roman"/>
              </a:rPr>
              <a:t>way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passing XML-encoded data. </a:t>
            </a:r>
            <a:r>
              <a:rPr sz="2200" dirty="0">
                <a:latin typeface="Times New Roman"/>
                <a:cs typeface="Times New Roman"/>
              </a:rPr>
              <a:t>In </a:t>
            </a:r>
            <a:r>
              <a:rPr sz="2200" spc="-5" dirty="0">
                <a:latin typeface="Times New Roman"/>
                <a:cs typeface="Times New Roman"/>
              </a:rPr>
              <a:t>also defines </a:t>
            </a:r>
            <a:r>
              <a:rPr sz="2200" dirty="0">
                <a:latin typeface="Times New Roman"/>
                <a:cs typeface="Times New Roman"/>
              </a:rPr>
              <a:t>a  </a:t>
            </a:r>
            <a:r>
              <a:rPr sz="2200" spc="-5" dirty="0">
                <a:latin typeface="Times New Roman"/>
                <a:cs typeface="Times New Roman"/>
              </a:rPr>
              <a:t>way </a:t>
            </a:r>
            <a:r>
              <a:rPr sz="2200" dirty="0">
                <a:latin typeface="Times New Roman"/>
                <a:cs typeface="Times New Roman"/>
              </a:rPr>
              <a:t>to bind to HTTP </a:t>
            </a:r>
            <a:r>
              <a:rPr sz="2200" spc="-5" dirty="0">
                <a:latin typeface="Times New Roman"/>
                <a:cs typeface="Times New Roman"/>
              </a:rPr>
              <a:t>as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underlying communication  protocol. SOAP </a:t>
            </a:r>
            <a:r>
              <a:rPr sz="2200" dirty="0">
                <a:latin typeface="Times New Roman"/>
                <a:cs typeface="Times New Roman"/>
              </a:rPr>
              <a:t>is </a:t>
            </a:r>
            <a:r>
              <a:rPr sz="2200" spc="-5" dirty="0">
                <a:latin typeface="Times New Roman"/>
                <a:cs typeface="Times New Roman"/>
              </a:rPr>
              <a:t>basically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spc="-5" dirty="0">
                <a:latin typeface="Times New Roman"/>
                <a:cs typeface="Times New Roman"/>
              </a:rPr>
              <a:t>technology </a:t>
            </a:r>
            <a:r>
              <a:rPr sz="2200" dirty="0">
                <a:latin typeface="Times New Roman"/>
                <a:cs typeface="Times New Roman"/>
              </a:rPr>
              <a:t>to </a:t>
            </a:r>
            <a:r>
              <a:rPr sz="2200" spc="-5" dirty="0">
                <a:latin typeface="Times New Roman"/>
                <a:cs typeface="Times New Roman"/>
              </a:rPr>
              <a:t>allow </a:t>
            </a:r>
            <a:r>
              <a:rPr sz="2200" dirty="0">
                <a:latin typeface="Times New Roman"/>
                <a:cs typeface="Times New Roman"/>
              </a:rPr>
              <a:t>for </a:t>
            </a:r>
            <a:r>
              <a:rPr sz="2200" spc="-5" dirty="0">
                <a:latin typeface="Times New Roman"/>
                <a:cs typeface="Times New Roman"/>
              </a:rPr>
              <a:t>“RPC  </a:t>
            </a:r>
            <a:r>
              <a:rPr sz="2200" i="1" spc="-5" dirty="0">
                <a:latin typeface="Times New Roman"/>
                <a:cs typeface="Times New Roman"/>
              </a:rPr>
              <a:t>over </a:t>
            </a:r>
            <a:r>
              <a:rPr sz="2200" i="1" dirty="0">
                <a:latin typeface="Times New Roman"/>
                <a:cs typeface="Times New Roman"/>
              </a:rPr>
              <a:t>the</a:t>
            </a:r>
            <a:r>
              <a:rPr sz="2200" i="1" spc="-1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web</a:t>
            </a:r>
            <a:r>
              <a:rPr sz="2200" spc="-5" dirty="0">
                <a:latin typeface="Times New Roman"/>
                <a:cs typeface="Times New Roman"/>
              </a:rPr>
              <a:t>”.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73173" y="1718927"/>
            <a:ext cx="1313815" cy="720090"/>
          </a:xfrm>
          <a:custGeom>
            <a:avLst/>
            <a:gdLst/>
            <a:ahLst/>
            <a:cxnLst/>
            <a:rect l="l" t="t" r="r" b="b"/>
            <a:pathLst>
              <a:path w="1313814" h="720089">
                <a:moveTo>
                  <a:pt x="940850" y="608552"/>
                </a:moveTo>
                <a:lnTo>
                  <a:pt x="1313226" y="719472"/>
                </a:lnTo>
                <a:lnTo>
                  <a:pt x="1181544" y="612047"/>
                </a:lnTo>
                <a:lnTo>
                  <a:pt x="1091144" y="612047"/>
                </a:lnTo>
                <a:lnTo>
                  <a:pt x="940850" y="608552"/>
                </a:lnTo>
                <a:close/>
              </a:path>
              <a:path w="1313814" h="720089">
                <a:moveTo>
                  <a:pt x="1012156" y="473862"/>
                </a:moveTo>
                <a:lnTo>
                  <a:pt x="1099536" y="596195"/>
                </a:lnTo>
                <a:lnTo>
                  <a:pt x="1091144" y="612047"/>
                </a:lnTo>
                <a:lnTo>
                  <a:pt x="1181544" y="612047"/>
                </a:lnTo>
                <a:lnTo>
                  <a:pt x="1012156" y="473862"/>
                </a:lnTo>
                <a:close/>
              </a:path>
              <a:path w="1313814" h="720089">
                <a:moveTo>
                  <a:pt x="978477" y="499143"/>
                </a:moveTo>
                <a:lnTo>
                  <a:pt x="942825" y="566487"/>
                </a:lnTo>
                <a:lnTo>
                  <a:pt x="1010169" y="602141"/>
                </a:lnTo>
                <a:lnTo>
                  <a:pt x="1045823" y="534795"/>
                </a:lnTo>
                <a:lnTo>
                  <a:pt x="978477" y="499143"/>
                </a:lnTo>
                <a:close/>
              </a:path>
              <a:path w="1313814" h="720089">
                <a:moveTo>
                  <a:pt x="843789" y="427836"/>
                </a:moveTo>
                <a:lnTo>
                  <a:pt x="808136" y="495181"/>
                </a:lnTo>
                <a:lnTo>
                  <a:pt x="875480" y="530834"/>
                </a:lnTo>
                <a:lnTo>
                  <a:pt x="911133" y="463490"/>
                </a:lnTo>
                <a:lnTo>
                  <a:pt x="843789" y="427836"/>
                </a:lnTo>
                <a:close/>
              </a:path>
              <a:path w="1313814" h="720089">
                <a:moveTo>
                  <a:pt x="709099" y="356530"/>
                </a:moveTo>
                <a:lnTo>
                  <a:pt x="673446" y="423875"/>
                </a:lnTo>
                <a:lnTo>
                  <a:pt x="740791" y="459527"/>
                </a:lnTo>
                <a:lnTo>
                  <a:pt x="776444" y="392183"/>
                </a:lnTo>
                <a:lnTo>
                  <a:pt x="709099" y="356530"/>
                </a:lnTo>
                <a:close/>
              </a:path>
              <a:path w="1313814" h="720089">
                <a:moveTo>
                  <a:pt x="574410" y="285224"/>
                </a:moveTo>
                <a:lnTo>
                  <a:pt x="538758" y="352569"/>
                </a:lnTo>
                <a:lnTo>
                  <a:pt x="606102" y="388222"/>
                </a:lnTo>
                <a:lnTo>
                  <a:pt x="641755" y="320878"/>
                </a:lnTo>
                <a:lnTo>
                  <a:pt x="574410" y="285224"/>
                </a:lnTo>
                <a:close/>
              </a:path>
              <a:path w="1313814" h="720089">
                <a:moveTo>
                  <a:pt x="439720" y="213918"/>
                </a:moveTo>
                <a:lnTo>
                  <a:pt x="404068" y="281263"/>
                </a:lnTo>
                <a:lnTo>
                  <a:pt x="471412" y="316915"/>
                </a:lnTo>
                <a:lnTo>
                  <a:pt x="507066" y="249571"/>
                </a:lnTo>
                <a:lnTo>
                  <a:pt x="439720" y="213918"/>
                </a:lnTo>
                <a:close/>
              </a:path>
              <a:path w="1313814" h="720089">
                <a:moveTo>
                  <a:pt x="305032" y="142612"/>
                </a:moveTo>
                <a:lnTo>
                  <a:pt x="269378" y="209957"/>
                </a:lnTo>
                <a:lnTo>
                  <a:pt x="336723" y="245610"/>
                </a:lnTo>
                <a:lnTo>
                  <a:pt x="372376" y="178266"/>
                </a:lnTo>
                <a:lnTo>
                  <a:pt x="305032" y="142612"/>
                </a:lnTo>
                <a:close/>
              </a:path>
              <a:path w="1313814" h="720089">
                <a:moveTo>
                  <a:pt x="170342" y="71306"/>
                </a:moveTo>
                <a:lnTo>
                  <a:pt x="134689" y="138650"/>
                </a:lnTo>
                <a:lnTo>
                  <a:pt x="202034" y="174303"/>
                </a:lnTo>
                <a:lnTo>
                  <a:pt x="237686" y="106959"/>
                </a:lnTo>
                <a:lnTo>
                  <a:pt x="170342" y="71306"/>
                </a:lnTo>
                <a:close/>
              </a:path>
              <a:path w="1313814" h="720089">
                <a:moveTo>
                  <a:pt x="35653" y="0"/>
                </a:moveTo>
                <a:lnTo>
                  <a:pt x="0" y="67345"/>
                </a:lnTo>
                <a:lnTo>
                  <a:pt x="67345" y="102998"/>
                </a:lnTo>
                <a:lnTo>
                  <a:pt x="102998" y="35653"/>
                </a:lnTo>
                <a:lnTo>
                  <a:pt x="35653" y="0"/>
                </a:lnTo>
                <a:close/>
              </a:path>
            </a:pathLst>
          </a:custGeom>
          <a:solidFill>
            <a:srgbClr val="66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55139" y="1243774"/>
            <a:ext cx="4715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Bringing </a:t>
            </a: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the 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web </a:t>
            </a:r>
            <a:r>
              <a:rPr sz="2400" b="1" dirty="0">
                <a:solidFill>
                  <a:srgbClr val="660033"/>
                </a:solidFill>
                <a:latin typeface="Times New Roman"/>
                <a:cs typeface="Times New Roman"/>
              </a:rPr>
              <a:t>to </a:t>
            </a:r>
            <a:r>
              <a:rPr sz="2400" b="1" spc="-5" dirty="0">
                <a:solidFill>
                  <a:srgbClr val="660033"/>
                </a:solidFill>
                <a:latin typeface="Times New Roman"/>
                <a:cs typeface="Times New Roman"/>
              </a:rPr>
              <a:t>its full potential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5323649"/>
            <a:ext cx="718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tati</a:t>
            </a: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2996374"/>
            <a:ext cx="1141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Dyn</a:t>
            </a:r>
            <a:r>
              <a:rPr sz="2400" spc="-5" dirty="0">
                <a:latin typeface="Times New Roman"/>
                <a:cs typeface="Times New Roman"/>
              </a:rPr>
              <a:t>ami</a:t>
            </a: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1600" y="1676400"/>
            <a:ext cx="0" cy="4419600"/>
          </a:xfrm>
          <a:custGeom>
            <a:avLst/>
            <a:gdLst/>
            <a:ahLst/>
            <a:cxnLst/>
            <a:rect l="l" t="t" r="r" b="b"/>
            <a:pathLst>
              <a:path h="4419600">
                <a:moveTo>
                  <a:pt x="0" y="0"/>
                </a:moveTo>
                <a:lnTo>
                  <a:pt x="1" y="4419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47800" y="2514600"/>
            <a:ext cx="2590800" cy="106680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495"/>
              </a:spcBef>
            </a:pPr>
            <a:r>
              <a:rPr sz="3200" spc="-85" dirty="0">
                <a:solidFill>
                  <a:srgbClr val="660033"/>
                </a:solidFill>
                <a:latin typeface="Times New Roman"/>
                <a:cs typeface="Times New Roman"/>
              </a:rPr>
              <a:t>Web</a:t>
            </a:r>
            <a:r>
              <a:rPr sz="3200" spc="-25" dirty="0">
                <a:solidFill>
                  <a:srgbClr val="660033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660033"/>
                </a:solidFill>
                <a:latin typeface="Times New Roman"/>
                <a:cs typeface="Times New Roman"/>
              </a:rPr>
              <a:t>Services</a:t>
            </a:r>
            <a:endParaRPr sz="3200">
              <a:latin typeface="Times New Roman"/>
              <a:cs typeface="Times New Roman"/>
            </a:endParaRPr>
          </a:p>
          <a:p>
            <a:pPr marL="204470">
              <a:lnSpc>
                <a:spcPct val="100000"/>
              </a:lnSpc>
              <a:spcBef>
                <a:spcPts val="395"/>
              </a:spcBef>
            </a:pPr>
            <a:r>
              <a:rPr sz="2000" dirty="0">
                <a:latin typeface="Times New Roman"/>
                <a:cs typeface="Times New Roman"/>
              </a:rPr>
              <a:t>UDDI, WSDL,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SOAP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71701" y="3581400"/>
            <a:ext cx="76200" cy="1295400"/>
          </a:xfrm>
          <a:custGeom>
            <a:avLst/>
            <a:gdLst/>
            <a:ahLst/>
            <a:cxnLst/>
            <a:rect l="l" t="t" r="r" b="b"/>
            <a:pathLst>
              <a:path w="76200" h="1295400">
                <a:moveTo>
                  <a:pt x="42862" y="76200"/>
                </a:moveTo>
                <a:lnTo>
                  <a:pt x="33337" y="76200"/>
                </a:lnTo>
                <a:lnTo>
                  <a:pt x="33336" y="1295400"/>
                </a:lnTo>
                <a:lnTo>
                  <a:pt x="42861" y="1295400"/>
                </a:lnTo>
                <a:lnTo>
                  <a:pt x="42862" y="76200"/>
                </a:lnTo>
                <a:close/>
              </a:path>
              <a:path w="76200" h="12954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86200" y="5524501"/>
            <a:ext cx="1143000" cy="76200"/>
          </a:xfrm>
          <a:custGeom>
            <a:avLst/>
            <a:gdLst/>
            <a:ahLst/>
            <a:cxnLst/>
            <a:rect l="l" t="t" r="r" b="b"/>
            <a:pathLst>
              <a:path w="1143000" h="76200">
                <a:moveTo>
                  <a:pt x="0" y="33336"/>
                </a:moveTo>
                <a:lnTo>
                  <a:pt x="0" y="42861"/>
                </a:lnTo>
                <a:lnTo>
                  <a:pt x="1066800" y="42862"/>
                </a:lnTo>
                <a:lnTo>
                  <a:pt x="1066800" y="76199"/>
                </a:lnTo>
                <a:lnTo>
                  <a:pt x="1143000" y="38100"/>
                </a:lnTo>
                <a:lnTo>
                  <a:pt x="1133475" y="33337"/>
                </a:lnTo>
                <a:lnTo>
                  <a:pt x="0" y="33336"/>
                </a:lnTo>
                <a:close/>
              </a:path>
              <a:path w="1143000" h="76200">
                <a:moveTo>
                  <a:pt x="1066800" y="0"/>
                </a:moveTo>
                <a:lnTo>
                  <a:pt x="1066800" y="33337"/>
                </a:lnTo>
                <a:lnTo>
                  <a:pt x="1133475" y="33337"/>
                </a:lnTo>
                <a:lnTo>
                  <a:pt x="1066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47800" y="4876800"/>
            <a:ext cx="2438400" cy="106680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7329">
              <a:lnSpc>
                <a:spcPts val="3650"/>
              </a:lnSpc>
            </a:pPr>
            <a:r>
              <a:rPr sz="3200" dirty="0">
                <a:solidFill>
                  <a:srgbClr val="660033"/>
                </a:solidFill>
                <a:latin typeface="Times New Roman"/>
                <a:cs typeface="Times New Roman"/>
              </a:rPr>
              <a:t>WWW</a:t>
            </a:r>
            <a:endParaRPr sz="3200">
              <a:latin typeface="Times New Roman"/>
              <a:cs typeface="Times New Roman"/>
            </a:endParaRPr>
          </a:p>
          <a:p>
            <a:pPr marL="15621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/>
                <a:cs typeface="Times New Roman"/>
              </a:rPr>
              <a:t>URI, HTML,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HTTP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29200" y="4953000"/>
            <a:ext cx="2590800" cy="106680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3500"/>
              </a:lnSpc>
            </a:pPr>
            <a:r>
              <a:rPr sz="3200" spc="-5" dirty="0">
                <a:solidFill>
                  <a:srgbClr val="660033"/>
                </a:solidFill>
                <a:latin typeface="Times New Roman"/>
                <a:cs typeface="Times New Roman"/>
              </a:rPr>
              <a:t>Semantic</a:t>
            </a:r>
            <a:r>
              <a:rPr sz="3200" spc="-85" dirty="0">
                <a:solidFill>
                  <a:srgbClr val="660033"/>
                </a:solidFill>
                <a:latin typeface="Times New Roman"/>
                <a:cs typeface="Times New Roman"/>
              </a:rPr>
              <a:t> Web</a:t>
            </a:r>
            <a:endParaRPr sz="3200">
              <a:latin typeface="Times New Roman"/>
              <a:cs typeface="Times New Roman"/>
            </a:endParaRPr>
          </a:p>
          <a:p>
            <a:pPr marL="276860">
              <a:lnSpc>
                <a:spcPct val="100000"/>
              </a:lnSpc>
              <a:spcBef>
                <a:spcPts val="30"/>
              </a:spcBef>
            </a:pPr>
            <a:r>
              <a:rPr sz="2000" spc="-40" dirty="0">
                <a:latin typeface="Times New Roman"/>
                <a:cs typeface="Times New Roman"/>
              </a:rPr>
              <a:t>RDF, </a:t>
            </a:r>
            <a:r>
              <a:rPr sz="2000" spc="-5" dirty="0">
                <a:latin typeface="Times New Roman"/>
                <a:cs typeface="Times New Roman"/>
              </a:rPr>
              <a:t>RDF(S),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OWL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53000" y="2590800"/>
            <a:ext cx="2667000" cy="106680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810895" marR="74930" indent="-575945">
              <a:lnSpc>
                <a:spcPct val="100000"/>
              </a:lnSpc>
              <a:spcBef>
                <a:spcPts val="500"/>
              </a:spcBef>
            </a:pPr>
            <a:r>
              <a:rPr sz="3000" dirty="0">
                <a:solidFill>
                  <a:srgbClr val="660033"/>
                </a:solidFill>
                <a:latin typeface="Times New Roman"/>
                <a:cs typeface="Times New Roman"/>
              </a:rPr>
              <a:t>Intelligent</a:t>
            </a:r>
            <a:r>
              <a:rPr sz="3000" spc="-135" dirty="0">
                <a:solidFill>
                  <a:srgbClr val="660033"/>
                </a:solidFill>
                <a:latin typeface="Times New Roman"/>
                <a:cs typeface="Times New Roman"/>
              </a:rPr>
              <a:t> </a:t>
            </a:r>
            <a:r>
              <a:rPr sz="3000" spc="-80" dirty="0">
                <a:solidFill>
                  <a:srgbClr val="660033"/>
                </a:solidFill>
                <a:latin typeface="Times New Roman"/>
                <a:cs typeface="Times New Roman"/>
              </a:rPr>
              <a:t>Web  </a:t>
            </a:r>
            <a:r>
              <a:rPr sz="3000" dirty="0">
                <a:solidFill>
                  <a:srgbClr val="660033"/>
                </a:solidFill>
                <a:latin typeface="Times New Roman"/>
                <a:cs typeface="Times New Roman"/>
              </a:rPr>
              <a:t>Services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38600" y="3086101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0" y="33336"/>
                </a:moveTo>
                <a:lnTo>
                  <a:pt x="0" y="42861"/>
                </a:lnTo>
                <a:lnTo>
                  <a:pt x="838200" y="42862"/>
                </a:lnTo>
                <a:lnTo>
                  <a:pt x="838200" y="76200"/>
                </a:lnTo>
                <a:lnTo>
                  <a:pt x="914400" y="38100"/>
                </a:lnTo>
                <a:lnTo>
                  <a:pt x="904875" y="33337"/>
                </a:lnTo>
                <a:lnTo>
                  <a:pt x="0" y="33336"/>
                </a:lnTo>
                <a:close/>
              </a:path>
              <a:path w="914400" h="76200">
                <a:moveTo>
                  <a:pt x="838200" y="0"/>
                </a:moveTo>
                <a:lnTo>
                  <a:pt x="838200" y="33337"/>
                </a:lnTo>
                <a:lnTo>
                  <a:pt x="904875" y="33337"/>
                </a:lnTo>
                <a:lnTo>
                  <a:pt x="838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86501" y="3657600"/>
            <a:ext cx="76200" cy="1295400"/>
          </a:xfrm>
          <a:custGeom>
            <a:avLst/>
            <a:gdLst/>
            <a:ahLst/>
            <a:cxnLst/>
            <a:rect l="l" t="t" r="r" b="b"/>
            <a:pathLst>
              <a:path w="76200" h="1295400">
                <a:moveTo>
                  <a:pt x="42862" y="76200"/>
                </a:moveTo>
                <a:lnTo>
                  <a:pt x="33337" y="76200"/>
                </a:lnTo>
                <a:lnTo>
                  <a:pt x="33336" y="1295400"/>
                </a:lnTo>
                <a:lnTo>
                  <a:pt x="42861" y="1295400"/>
                </a:lnTo>
                <a:lnTo>
                  <a:pt x="42862" y="76200"/>
                </a:lnTo>
                <a:close/>
              </a:path>
              <a:path w="76200" h="12954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622425" y="422465"/>
            <a:ext cx="59753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Semantic </a:t>
            </a:r>
            <a:r>
              <a:rPr dirty="0"/>
              <a:t>Web</a:t>
            </a:r>
            <a:r>
              <a:rPr spc="-75" dirty="0"/>
              <a:t> </a:t>
            </a:r>
            <a:r>
              <a:rPr spc="-5" dirty="0"/>
              <a:t>Service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Semantic </a:t>
            </a:r>
            <a:r>
              <a:rPr dirty="0"/>
              <a:t>Web</a:t>
            </a:r>
            <a:r>
              <a:rPr spc="-70" dirty="0"/>
              <a:t> </a:t>
            </a:r>
            <a:r>
              <a:rPr spc="-5"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6440" y="1929574"/>
            <a:ext cx="6885305" cy="4777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"Semantic </a:t>
            </a:r>
            <a:r>
              <a:rPr sz="2400" spc="-10" dirty="0">
                <a:latin typeface="Times New Roman"/>
                <a:cs typeface="Times New Roman"/>
              </a:rPr>
              <a:t>differences, </a:t>
            </a:r>
            <a:r>
              <a:rPr sz="2400" spc="-5" dirty="0">
                <a:latin typeface="Times New Roman"/>
                <a:cs typeface="Times New Roman"/>
              </a:rPr>
              <a:t>remain the primary roadblock to  smooth application integration, </a:t>
            </a:r>
            <a:r>
              <a:rPr sz="2400" dirty="0">
                <a:latin typeface="Times New Roman"/>
                <a:cs typeface="Times New Roman"/>
              </a:rPr>
              <a:t>one </a:t>
            </a:r>
            <a:r>
              <a:rPr sz="2400" spc="-5" dirty="0">
                <a:latin typeface="Times New Roman"/>
                <a:cs typeface="Times New Roman"/>
              </a:rPr>
              <a:t>which </a:t>
            </a:r>
            <a:r>
              <a:rPr sz="2400" spc="-70" dirty="0">
                <a:latin typeface="Times New Roman"/>
                <a:cs typeface="Times New Roman"/>
              </a:rPr>
              <a:t>Web </a:t>
            </a:r>
            <a:r>
              <a:rPr sz="2400" spc="-5" dirty="0">
                <a:latin typeface="Times New Roman"/>
                <a:cs typeface="Times New Roman"/>
              </a:rPr>
              <a:t>Services  alone </a:t>
            </a:r>
            <a:r>
              <a:rPr sz="2400" dirty="0">
                <a:latin typeface="Times New Roman"/>
                <a:cs typeface="Times New Roman"/>
              </a:rPr>
              <a:t>won't </a:t>
            </a:r>
            <a:r>
              <a:rPr sz="2400" spc="-5" dirty="0">
                <a:latin typeface="Times New Roman"/>
                <a:cs typeface="Times New Roman"/>
              </a:rPr>
              <a:t>overcome. Until someone finds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way </a:t>
            </a:r>
            <a:r>
              <a:rPr sz="2400" dirty="0">
                <a:latin typeface="Times New Roman"/>
                <a:cs typeface="Times New Roman"/>
              </a:rPr>
              <a:t>for  </a:t>
            </a:r>
            <a:r>
              <a:rPr sz="2400" spc="-5" dirty="0">
                <a:latin typeface="Times New Roman"/>
                <a:cs typeface="Times New Roman"/>
              </a:rPr>
              <a:t>applications to understand each </a:t>
            </a:r>
            <a:r>
              <a:rPr sz="2400" spc="-20" dirty="0">
                <a:latin typeface="Times New Roman"/>
                <a:cs typeface="Times New Roman"/>
              </a:rPr>
              <a:t>other,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effect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70" dirty="0">
                <a:latin typeface="Times New Roman"/>
                <a:cs typeface="Times New Roman"/>
              </a:rPr>
              <a:t>Web  </a:t>
            </a:r>
            <a:r>
              <a:rPr sz="2400" spc="-5" dirty="0">
                <a:latin typeface="Times New Roman"/>
                <a:cs typeface="Times New Roman"/>
              </a:rPr>
              <a:t>services technology will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fairly limited. When </a:t>
            </a:r>
            <a:r>
              <a:rPr sz="2400" dirty="0">
                <a:latin typeface="Times New Roman"/>
                <a:cs typeface="Times New Roman"/>
              </a:rPr>
              <a:t>I </a:t>
            </a:r>
            <a:r>
              <a:rPr sz="2400" spc="-5" dirty="0">
                <a:latin typeface="Times New Roman"/>
                <a:cs typeface="Times New Roman"/>
              </a:rPr>
              <a:t>pass  customer data across [the </a:t>
            </a:r>
            <a:r>
              <a:rPr sz="2400" spc="-50" dirty="0">
                <a:latin typeface="Times New Roman"/>
                <a:cs typeface="Times New Roman"/>
              </a:rPr>
              <a:t>Web] </a:t>
            </a:r>
            <a:r>
              <a:rPr sz="2400" spc="-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certain format using 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70" dirty="0">
                <a:latin typeface="Times New Roman"/>
                <a:cs typeface="Times New Roman"/>
              </a:rPr>
              <a:t>Web </a:t>
            </a:r>
            <a:r>
              <a:rPr sz="2400" spc="-5" dirty="0">
                <a:latin typeface="Times New Roman"/>
                <a:cs typeface="Times New Roman"/>
              </a:rPr>
              <a:t>Services interface, the receiving program has to  </a:t>
            </a:r>
            <a:r>
              <a:rPr sz="2400" dirty="0">
                <a:latin typeface="Times New Roman"/>
                <a:cs typeface="Times New Roman"/>
              </a:rPr>
              <a:t>know </a:t>
            </a:r>
            <a:r>
              <a:rPr sz="2400" spc="-5" dirty="0">
                <a:latin typeface="Times New Roman"/>
                <a:cs typeface="Times New Roman"/>
              </a:rPr>
              <a:t>what that format is. </a:t>
            </a:r>
            <a:r>
              <a:rPr sz="2400" spc="-80" dirty="0">
                <a:latin typeface="Times New Roman"/>
                <a:cs typeface="Times New Roman"/>
              </a:rPr>
              <a:t>You </a:t>
            </a:r>
            <a:r>
              <a:rPr sz="2400" spc="-5" dirty="0">
                <a:latin typeface="Times New Roman"/>
                <a:cs typeface="Times New Roman"/>
              </a:rPr>
              <a:t>have to agree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" dirty="0">
                <a:latin typeface="Times New Roman"/>
                <a:cs typeface="Times New Roman"/>
              </a:rPr>
              <a:t>what  the business objects look like. </a:t>
            </a:r>
            <a:r>
              <a:rPr sz="2400" dirty="0">
                <a:latin typeface="Times New Roman"/>
                <a:cs typeface="Times New Roman"/>
              </a:rPr>
              <a:t>And no one </a:t>
            </a:r>
            <a:r>
              <a:rPr sz="2400" spc="-5" dirty="0">
                <a:latin typeface="Times New Roman"/>
                <a:cs typeface="Times New Roman"/>
              </a:rPr>
              <a:t>has come </a:t>
            </a:r>
            <a:r>
              <a:rPr sz="2400" dirty="0">
                <a:latin typeface="Times New Roman"/>
                <a:cs typeface="Times New Roman"/>
              </a:rPr>
              <a:t>up  </a:t>
            </a:r>
            <a:r>
              <a:rPr sz="2400" spc="-5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feasible way to </a:t>
            </a:r>
            <a:r>
              <a:rPr sz="2400" dirty="0">
                <a:latin typeface="Times New Roman"/>
                <a:cs typeface="Times New Roman"/>
              </a:rPr>
              <a:t>work </a:t>
            </a:r>
            <a:r>
              <a:rPr sz="2400" spc="-5" dirty="0">
                <a:latin typeface="Times New Roman"/>
                <a:cs typeface="Times New Roman"/>
              </a:rPr>
              <a:t>that </a:t>
            </a:r>
            <a:r>
              <a:rPr sz="2400" dirty="0">
                <a:latin typeface="Times New Roman"/>
                <a:cs typeface="Times New Roman"/>
              </a:rPr>
              <a:t>out </a:t>
            </a:r>
            <a:r>
              <a:rPr sz="2400" spc="-5" dirty="0">
                <a:latin typeface="Times New Roman"/>
                <a:cs typeface="Times New Roman"/>
              </a:rPr>
              <a:t>yet </a:t>
            </a:r>
            <a:r>
              <a:rPr sz="2400" dirty="0">
                <a:latin typeface="Times New Roman"/>
                <a:cs typeface="Times New Roman"/>
              </a:rPr>
              <a:t>-- not </a:t>
            </a:r>
            <a:r>
              <a:rPr sz="2400" spc="-5" dirty="0">
                <a:latin typeface="Times New Roman"/>
                <a:cs typeface="Times New Roman"/>
              </a:rPr>
              <a:t>Oracle,  and </a:t>
            </a:r>
            <a:r>
              <a:rPr sz="2400" dirty="0">
                <a:latin typeface="Times New Roman"/>
                <a:cs typeface="Times New Roman"/>
              </a:rPr>
              <a:t>not </a:t>
            </a:r>
            <a:r>
              <a:rPr sz="2400" spc="-5" dirty="0">
                <a:latin typeface="Times New Roman"/>
                <a:cs typeface="Times New Roman"/>
              </a:rPr>
              <a:t>its competitors..."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--- </a:t>
            </a:r>
            <a:r>
              <a:rPr sz="2400" spc="-5" dirty="0">
                <a:latin typeface="Times New Roman"/>
                <a:cs typeface="Times New Roman"/>
              </a:rPr>
              <a:t>Oracle Chairman and CEO Larry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Ellison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Semantic </a:t>
            </a:r>
            <a:r>
              <a:rPr dirty="0"/>
              <a:t>Web</a:t>
            </a:r>
            <a:r>
              <a:rPr spc="-70" dirty="0"/>
              <a:t> </a:t>
            </a:r>
            <a:r>
              <a:rPr spc="-5"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929574"/>
            <a:ext cx="7195820" cy="309626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55600" marR="230504" indent="-342900">
              <a:lnSpc>
                <a:spcPts val="2870"/>
              </a:lnSpc>
              <a:spcBef>
                <a:spcPts val="2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UDDI, </a:t>
            </a:r>
            <a:r>
              <a:rPr sz="2400" spc="-5" dirty="0">
                <a:latin typeface="Times New Roman"/>
                <a:cs typeface="Times New Roman"/>
              </a:rPr>
              <a:t>WSDL, and </a:t>
            </a:r>
            <a:r>
              <a:rPr sz="2400" dirty="0">
                <a:latin typeface="Times New Roman"/>
                <a:cs typeface="Times New Roman"/>
              </a:rPr>
              <a:t>SOAP </a:t>
            </a:r>
            <a:r>
              <a:rPr sz="2400" spc="-5" dirty="0">
                <a:latin typeface="Times New Roman"/>
                <a:cs typeface="Times New Roman"/>
              </a:rPr>
              <a:t>are important steps into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 direction </a:t>
            </a:r>
            <a:r>
              <a:rPr sz="2400" dirty="0">
                <a:latin typeface="Times New Roman"/>
                <a:cs typeface="Times New Roman"/>
              </a:rPr>
              <a:t>of a </a:t>
            </a:r>
            <a:r>
              <a:rPr sz="2400" spc="-5" dirty="0">
                <a:latin typeface="Times New Roman"/>
                <a:cs typeface="Times New Roman"/>
              </a:rPr>
              <a:t>web populated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services.</a:t>
            </a:r>
            <a:endParaRPr sz="2400">
              <a:latin typeface="Times New Roman"/>
              <a:cs typeface="Times New Roman"/>
            </a:endParaRPr>
          </a:p>
          <a:p>
            <a:pPr marL="355600" marR="156845" indent="-342900">
              <a:lnSpc>
                <a:spcPts val="2870"/>
              </a:lnSpc>
              <a:spcBef>
                <a:spcPts val="59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15" dirty="0">
                <a:latin typeface="Times New Roman"/>
                <a:cs typeface="Times New Roman"/>
              </a:rPr>
              <a:t>However, </a:t>
            </a:r>
            <a:r>
              <a:rPr sz="2400" spc="-5" dirty="0">
                <a:latin typeface="Times New Roman"/>
                <a:cs typeface="Times New Roman"/>
              </a:rPr>
              <a:t>they only address part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the overall stack  that needs to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available in order to achieve the above  vision </a:t>
            </a:r>
            <a:r>
              <a:rPr sz="2400" spc="-20" dirty="0">
                <a:latin typeface="Times New Roman"/>
                <a:cs typeface="Times New Roman"/>
              </a:rPr>
              <a:t>eventually.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99"/>
              </a:lnSpc>
              <a:spcBef>
                <a:spcPts val="484"/>
              </a:spcBef>
              <a:buChar char="•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There are many layer requires to achieve automatic web  service </a:t>
            </a:r>
            <a:r>
              <a:rPr sz="2400" spc="-20" dirty="0">
                <a:latin typeface="Times New Roman"/>
                <a:cs typeface="Times New Roman"/>
              </a:rPr>
              <a:t>discovery, </a:t>
            </a:r>
            <a:r>
              <a:rPr sz="2400" spc="-5" dirty="0">
                <a:latin typeface="Times New Roman"/>
                <a:cs typeface="Times New Roman"/>
              </a:rPr>
              <a:t>selection, mediation and composition  into complex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services.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Semantic </a:t>
            </a:r>
            <a:r>
              <a:rPr dirty="0"/>
              <a:t>Web</a:t>
            </a:r>
            <a:r>
              <a:rPr spc="-70" dirty="0"/>
              <a:t> </a:t>
            </a:r>
            <a:r>
              <a:rPr spc="-5"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929574"/>
            <a:ext cx="7182484" cy="35369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55600" marR="488950" indent="-342900">
              <a:lnSpc>
                <a:spcPts val="2870"/>
              </a:lnSpc>
              <a:spcBef>
                <a:spcPts val="2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Semantic </a:t>
            </a:r>
            <a:r>
              <a:rPr sz="2400" spc="-70" dirty="0">
                <a:latin typeface="Times New Roman"/>
                <a:cs typeface="Times New Roman"/>
              </a:rPr>
              <a:t>Web </a:t>
            </a:r>
            <a:r>
              <a:rPr sz="2400" spc="-5" dirty="0">
                <a:latin typeface="Times New Roman"/>
                <a:cs typeface="Times New Roman"/>
              </a:rPr>
              <a:t>Services combine Semantic </a:t>
            </a:r>
            <a:r>
              <a:rPr sz="2400" spc="-70" dirty="0">
                <a:latin typeface="Times New Roman"/>
                <a:cs typeface="Times New Roman"/>
              </a:rPr>
              <a:t>Web </a:t>
            </a:r>
            <a:r>
              <a:rPr sz="2400" spc="-5" dirty="0">
                <a:latin typeface="Times New Roman"/>
                <a:cs typeface="Times New Roman"/>
              </a:rPr>
              <a:t>and  </a:t>
            </a:r>
            <a:r>
              <a:rPr sz="2400" spc="-70" dirty="0">
                <a:latin typeface="Times New Roman"/>
                <a:cs typeface="Times New Roman"/>
              </a:rPr>
              <a:t>Web </a:t>
            </a:r>
            <a:r>
              <a:rPr sz="2400" spc="-5" dirty="0">
                <a:latin typeface="Times New Roman"/>
                <a:cs typeface="Times New Roman"/>
              </a:rPr>
              <a:t>Service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Technology.</a:t>
            </a:r>
            <a:endParaRPr sz="2400">
              <a:latin typeface="Times New Roman"/>
              <a:cs typeface="Times New Roman"/>
            </a:endParaRPr>
          </a:p>
          <a:p>
            <a:pPr marL="355600" marR="528955" indent="-342900">
              <a:lnSpc>
                <a:spcPts val="2870"/>
              </a:lnSpc>
              <a:spcBef>
                <a:spcPts val="59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Automatization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70" dirty="0">
                <a:latin typeface="Times New Roman"/>
                <a:cs typeface="Times New Roman"/>
              </a:rPr>
              <a:t>Web </a:t>
            </a:r>
            <a:r>
              <a:rPr sz="2400" spc="-5" dirty="0">
                <a:latin typeface="Times New Roman"/>
                <a:cs typeface="Times New Roman"/>
              </a:rPr>
              <a:t>Service </a:t>
            </a:r>
            <a:r>
              <a:rPr sz="2400" spc="-20" dirty="0">
                <a:latin typeface="Times New Roman"/>
                <a:cs typeface="Times New Roman"/>
              </a:rPr>
              <a:t>Discovery,  </a:t>
            </a:r>
            <a:r>
              <a:rPr sz="2400" spc="-5" dirty="0">
                <a:latin typeface="Times New Roman"/>
                <a:cs typeface="Times New Roman"/>
              </a:rPr>
              <a:t>Combination, and Invocation makes the technology  scalable.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70"/>
              </a:lnSpc>
              <a:spcBef>
                <a:spcPts val="5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This combination is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pre-requisite to make web service  technology scalable and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mature.</a:t>
            </a:r>
            <a:endParaRPr sz="2400">
              <a:latin typeface="Times New Roman"/>
              <a:cs typeface="Times New Roman"/>
            </a:endParaRPr>
          </a:p>
          <a:p>
            <a:pPr marL="355600" marR="111125" indent="-342900">
              <a:lnSpc>
                <a:spcPct val="100699"/>
              </a:lnSpc>
              <a:spcBef>
                <a:spcPts val="4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This technology is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pre-requisite to enable fully open,  flexible, and dynamic </a:t>
            </a:r>
            <a:r>
              <a:rPr sz="2400" spc="-40" dirty="0">
                <a:latin typeface="Times New Roman"/>
                <a:cs typeface="Times New Roman"/>
              </a:rPr>
              <a:t>eWork </a:t>
            </a:r>
            <a:r>
              <a:rPr sz="2400" spc="-5" dirty="0">
                <a:latin typeface="Times New Roman"/>
                <a:cs typeface="Times New Roman"/>
              </a:rPr>
              <a:t>and eCommerce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reality.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Semantic </a:t>
            </a:r>
            <a:r>
              <a:rPr dirty="0"/>
              <a:t>Web</a:t>
            </a:r>
            <a:r>
              <a:rPr spc="-70" dirty="0"/>
              <a:t> </a:t>
            </a:r>
            <a:r>
              <a:rPr spc="-5"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891474"/>
            <a:ext cx="7226300" cy="41592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080" indent="-342900">
              <a:lnSpc>
                <a:spcPct val="89900"/>
              </a:lnSpc>
              <a:spcBef>
                <a:spcPts val="3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Mechanized </a:t>
            </a:r>
            <a:r>
              <a:rPr sz="2400" dirty="0">
                <a:latin typeface="Times New Roman"/>
                <a:cs typeface="Times New Roman"/>
              </a:rPr>
              <a:t>support </a:t>
            </a:r>
            <a:r>
              <a:rPr sz="2400" spc="-5" dirty="0">
                <a:latin typeface="Times New Roman"/>
                <a:cs typeface="Times New Roman"/>
              </a:rPr>
              <a:t>is needed in finding and comparing  vendors and their </a:t>
            </a:r>
            <a:r>
              <a:rPr sz="2400" spc="-10" dirty="0">
                <a:latin typeface="Times New Roman"/>
                <a:cs typeface="Times New Roman"/>
              </a:rPr>
              <a:t>offers. </a:t>
            </a:r>
            <a:r>
              <a:rPr sz="2400" spc="-5" dirty="0">
                <a:latin typeface="Times New Roman"/>
                <a:cs typeface="Times New Roman"/>
              </a:rPr>
              <a:t>Machine processable  semantics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information allows to mechanize these  tasks.</a:t>
            </a:r>
            <a:endParaRPr sz="2400">
              <a:latin typeface="Times New Roman"/>
              <a:cs typeface="Times New Roman"/>
            </a:endParaRPr>
          </a:p>
          <a:p>
            <a:pPr marL="355600" marR="360680" indent="-342900">
              <a:lnSpc>
                <a:spcPct val="899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Mechanized </a:t>
            </a:r>
            <a:r>
              <a:rPr sz="2400" dirty="0">
                <a:latin typeface="Times New Roman"/>
                <a:cs typeface="Times New Roman"/>
              </a:rPr>
              <a:t>support </a:t>
            </a:r>
            <a:r>
              <a:rPr sz="2400" spc="-5" dirty="0">
                <a:latin typeface="Times New Roman"/>
                <a:cs typeface="Times New Roman"/>
              </a:rPr>
              <a:t>is needed in dealing with  numerous and heterogeneous data formats. Ontology  technology is required to define such standards better  and to map between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them.</a:t>
            </a:r>
            <a:endParaRPr sz="2400">
              <a:latin typeface="Times New Roman"/>
              <a:cs typeface="Times New Roman"/>
            </a:endParaRPr>
          </a:p>
          <a:p>
            <a:pPr marL="355600" marR="367665" indent="-342900">
              <a:lnSpc>
                <a:spcPct val="89900"/>
              </a:lnSpc>
              <a:spcBef>
                <a:spcPts val="61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Mechanized </a:t>
            </a:r>
            <a:r>
              <a:rPr sz="2400" dirty="0">
                <a:latin typeface="Times New Roman"/>
                <a:cs typeface="Times New Roman"/>
              </a:rPr>
              <a:t>support </a:t>
            </a:r>
            <a:r>
              <a:rPr sz="2400" spc="-5" dirty="0">
                <a:latin typeface="Times New Roman"/>
                <a:cs typeface="Times New Roman"/>
              </a:rPr>
              <a:t>is needed in dealing with  numerous and heterogeneous business logics.  Mediation is needed to compensate these </a:t>
            </a:r>
            <a:r>
              <a:rPr sz="2400" spc="-10" dirty="0">
                <a:latin typeface="Times New Roman"/>
                <a:cs typeface="Times New Roman"/>
              </a:rPr>
              <a:t>differences,  </a:t>
            </a:r>
            <a:r>
              <a:rPr sz="2400" spc="-5" dirty="0">
                <a:latin typeface="Times New Roman"/>
                <a:cs typeface="Times New Roman"/>
              </a:rPr>
              <a:t>allowing partners to cooperate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properly.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5706" y="651065"/>
            <a:ext cx="41141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Short</a:t>
            </a:r>
            <a:r>
              <a:rPr spc="-80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921065"/>
            <a:ext cx="8072120" cy="291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800" spc="-5" dirty="0">
                <a:latin typeface="Comic Sans MS"/>
                <a:cs typeface="Comic Sans MS"/>
              </a:rPr>
              <a:t>The semantic web </a:t>
            </a:r>
            <a:r>
              <a:rPr sz="2800" dirty="0">
                <a:latin typeface="Comic Sans MS"/>
                <a:cs typeface="Comic Sans MS"/>
              </a:rPr>
              <a:t>is based on </a:t>
            </a:r>
            <a:r>
              <a:rPr sz="2800" b="1" spc="-5" dirty="0">
                <a:latin typeface="Comic Sans MS"/>
                <a:cs typeface="Comic Sans MS"/>
              </a:rPr>
              <a:t>machine-  processable </a:t>
            </a:r>
            <a:r>
              <a:rPr sz="2800" spc="-5" dirty="0">
                <a:latin typeface="Comic Sans MS"/>
                <a:cs typeface="Comic Sans MS"/>
              </a:rPr>
              <a:t>semantics </a:t>
            </a:r>
            <a:r>
              <a:rPr sz="2800" dirty="0">
                <a:latin typeface="Comic Sans MS"/>
                <a:cs typeface="Comic Sans MS"/>
              </a:rPr>
              <a:t>of</a:t>
            </a:r>
            <a:r>
              <a:rPr sz="2800" spc="-38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data.</a:t>
            </a:r>
            <a:endParaRPr sz="2800">
              <a:latin typeface="Comic Sans MS"/>
              <a:cs typeface="Comic Sans MS"/>
            </a:endParaRPr>
          </a:p>
          <a:p>
            <a:pPr marL="355600" indent="-342900" algn="just">
              <a:lnSpc>
                <a:spcPct val="100000"/>
              </a:lnSpc>
              <a:spcBef>
                <a:spcPts val="1280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Comic Sans MS"/>
                <a:cs typeface="Comic Sans MS"/>
              </a:rPr>
              <a:t>Its </a:t>
            </a:r>
            <a:r>
              <a:rPr sz="2800" spc="-5" dirty="0">
                <a:latin typeface="Comic Sans MS"/>
                <a:cs typeface="Comic Sans MS"/>
              </a:rPr>
              <a:t>backbone technology </a:t>
            </a:r>
            <a:r>
              <a:rPr sz="2800" dirty="0">
                <a:latin typeface="Comic Sans MS"/>
                <a:cs typeface="Comic Sans MS"/>
              </a:rPr>
              <a:t>are</a:t>
            </a:r>
            <a:r>
              <a:rPr sz="2800" spc="10" dirty="0">
                <a:latin typeface="Comic Sans MS"/>
                <a:cs typeface="Comic Sans MS"/>
              </a:rPr>
              <a:t> </a:t>
            </a:r>
            <a:r>
              <a:rPr sz="2800" b="1" spc="-5" dirty="0">
                <a:latin typeface="Comic Sans MS"/>
                <a:cs typeface="Comic Sans MS"/>
              </a:rPr>
              <a:t>Ontologies</a:t>
            </a:r>
            <a:r>
              <a:rPr sz="2800" spc="-5" dirty="0">
                <a:latin typeface="Comic Sans MS"/>
                <a:cs typeface="Comic Sans MS"/>
              </a:rPr>
              <a:t>.</a:t>
            </a:r>
            <a:endParaRPr sz="2800">
              <a:latin typeface="Comic Sans MS"/>
              <a:cs typeface="Comic Sans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305"/>
              </a:spcBef>
              <a:buChar char="•"/>
              <a:tabLst>
                <a:tab pos="355600" algn="l"/>
              </a:tabLst>
            </a:pPr>
            <a:r>
              <a:rPr sz="2800" spc="-5" dirty="0">
                <a:latin typeface="Comic Sans MS"/>
                <a:cs typeface="Comic Sans MS"/>
              </a:rPr>
              <a:t>It </a:t>
            </a:r>
            <a:r>
              <a:rPr sz="2800" dirty="0">
                <a:latin typeface="Comic Sans MS"/>
                <a:cs typeface="Comic Sans MS"/>
              </a:rPr>
              <a:t>is based on </a:t>
            </a:r>
            <a:r>
              <a:rPr sz="2800" spc="-5" dirty="0">
                <a:latin typeface="Comic Sans MS"/>
                <a:cs typeface="Comic Sans MS"/>
              </a:rPr>
              <a:t>new web languages such </a:t>
            </a:r>
            <a:r>
              <a:rPr sz="2800" dirty="0">
                <a:latin typeface="Comic Sans MS"/>
                <a:cs typeface="Comic Sans MS"/>
              </a:rPr>
              <a:t>as  </a:t>
            </a:r>
            <a:r>
              <a:rPr sz="2800" spc="-5" dirty="0">
                <a:latin typeface="Comic Sans MS"/>
                <a:cs typeface="Comic Sans MS"/>
              </a:rPr>
              <a:t>XML, </a:t>
            </a:r>
            <a:r>
              <a:rPr sz="2800" dirty="0">
                <a:latin typeface="Comic Sans MS"/>
                <a:cs typeface="Comic Sans MS"/>
              </a:rPr>
              <a:t>RDF, </a:t>
            </a:r>
            <a:r>
              <a:rPr sz="2800" spc="-5" dirty="0">
                <a:latin typeface="Comic Sans MS"/>
                <a:cs typeface="Comic Sans MS"/>
              </a:rPr>
              <a:t>and OWL, and </a:t>
            </a:r>
            <a:r>
              <a:rPr sz="2800" dirty="0">
                <a:latin typeface="Comic Sans MS"/>
                <a:cs typeface="Comic Sans MS"/>
              </a:rPr>
              <a:t>tools </a:t>
            </a:r>
            <a:r>
              <a:rPr sz="2800" spc="-5" dirty="0">
                <a:latin typeface="Comic Sans MS"/>
                <a:cs typeface="Comic Sans MS"/>
              </a:rPr>
              <a:t>that make use  </a:t>
            </a:r>
            <a:r>
              <a:rPr sz="2800" dirty="0">
                <a:latin typeface="Comic Sans MS"/>
                <a:cs typeface="Comic Sans MS"/>
              </a:rPr>
              <a:t>of </a:t>
            </a:r>
            <a:r>
              <a:rPr sz="2800" spc="-5" dirty="0">
                <a:latin typeface="Comic Sans MS"/>
                <a:cs typeface="Comic Sans MS"/>
              </a:rPr>
              <a:t>these</a:t>
            </a:r>
            <a:r>
              <a:rPr sz="2800" dirty="0">
                <a:latin typeface="Comic Sans MS"/>
                <a:cs typeface="Comic Sans MS"/>
              </a:rPr>
              <a:t> </a:t>
            </a:r>
            <a:r>
              <a:rPr sz="2800" spc="-5" dirty="0">
                <a:latin typeface="Comic Sans MS"/>
                <a:cs typeface="Comic Sans MS"/>
              </a:rPr>
              <a:t>languages.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910121"/>
            <a:ext cx="8137525" cy="36214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35"/>
              </a:spcBef>
              <a:buSzPct val="98245"/>
              <a:buFont typeface="Comic Sans MS"/>
              <a:buChar char="•"/>
              <a:tabLst>
                <a:tab pos="354965" algn="l"/>
                <a:tab pos="355600" algn="l"/>
              </a:tabLst>
            </a:pPr>
            <a:r>
              <a:rPr sz="2850" b="1" i="1" spc="-30" dirty="0">
                <a:latin typeface="Comic Sans MS"/>
                <a:cs typeface="Comic Sans MS"/>
              </a:rPr>
              <a:t>Ontologies </a:t>
            </a:r>
            <a:r>
              <a:rPr sz="2800" dirty="0">
                <a:latin typeface="Comic Sans MS"/>
                <a:cs typeface="Comic Sans MS"/>
              </a:rPr>
              <a:t>are key </a:t>
            </a:r>
            <a:r>
              <a:rPr sz="2800" spc="-5" dirty="0">
                <a:latin typeface="Comic Sans MS"/>
                <a:cs typeface="Comic Sans MS"/>
              </a:rPr>
              <a:t>enabling technology </a:t>
            </a:r>
            <a:r>
              <a:rPr sz="2800" dirty="0">
                <a:latin typeface="Comic Sans MS"/>
                <a:cs typeface="Comic Sans MS"/>
              </a:rPr>
              <a:t>for</a:t>
            </a:r>
            <a:r>
              <a:rPr sz="2800" spc="-330" dirty="0">
                <a:latin typeface="Comic Sans MS"/>
                <a:cs typeface="Comic Sans MS"/>
              </a:rPr>
              <a:t> </a:t>
            </a:r>
            <a:r>
              <a:rPr sz="2800" spc="-5" dirty="0">
                <a:latin typeface="Comic Sans MS"/>
                <a:cs typeface="Comic Sans MS"/>
              </a:rPr>
              <a:t>the  semantic web.</a:t>
            </a:r>
            <a:endParaRPr sz="2800">
              <a:latin typeface="Comic Sans MS"/>
              <a:cs typeface="Comic Sans MS"/>
            </a:endParaRPr>
          </a:p>
          <a:p>
            <a:pPr marL="355600" marR="753110" indent="-342900">
              <a:lnSpc>
                <a:spcPct val="100000"/>
              </a:lnSpc>
              <a:spcBef>
                <a:spcPts val="63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omic Sans MS"/>
                <a:cs typeface="Comic Sans MS"/>
              </a:rPr>
              <a:t>They </a:t>
            </a:r>
            <a:r>
              <a:rPr sz="2800" dirty="0">
                <a:latin typeface="Comic Sans MS"/>
                <a:cs typeface="Comic Sans MS"/>
              </a:rPr>
              <a:t>interweave </a:t>
            </a:r>
            <a:r>
              <a:rPr sz="2800" spc="-5" dirty="0">
                <a:latin typeface="Comic Sans MS"/>
                <a:cs typeface="Comic Sans MS"/>
              </a:rPr>
              <a:t>human understanding </a:t>
            </a:r>
            <a:r>
              <a:rPr sz="2800" dirty="0">
                <a:latin typeface="Comic Sans MS"/>
                <a:cs typeface="Comic Sans MS"/>
              </a:rPr>
              <a:t>of  </a:t>
            </a:r>
            <a:r>
              <a:rPr sz="2800" spc="-5" dirty="0">
                <a:latin typeface="Comic Sans MS"/>
                <a:cs typeface="Comic Sans MS"/>
              </a:rPr>
              <a:t>symbols </a:t>
            </a:r>
            <a:r>
              <a:rPr sz="2800" dirty="0">
                <a:latin typeface="Comic Sans MS"/>
                <a:cs typeface="Comic Sans MS"/>
              </a:rPr>
              <a:t>with </a:t>
            </a:r>
            <a:r>
              <a:rPr sz="2800" spc="-5" dirty="0">
                <a:latin typeface="Comic Sans MS"/>
                <a:cs typeface="Comic Sans MS"/>
              </a:rPr>
              <a:t>their machine</a:t>
            </a:r>
            <a:r>
              <a:rPr sz="2800" spc="-2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processability.</a:t>
            </a:r>
            <a:endParaRPr sz="2800">
              <a:latin typeface="Comic Sans MS"/>
              <a:cs typeface="Comic Sans MS"/>
            </a:endParaRPr>
          </a:p>
          <a:p>
            <a:pPr marL="355600" marR="350520" indent="-342900">
              <a:lnSpc>
                <a:spcPts val="3370"/>
              </a:lnSpc>
              <a:spcBef>
                <a:spcPts val="78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omic Sans MS"/>
                <a:cs typeface="Comic Sans MS"/>
              </a:rPr>
              <a:t>In </a:t>
            </a:r>
            <a:r>
              <a:rPr sz="2800" dirty="0">
                <a:latin typeface="Comic Sans MS"/>
                <a:cs typeface="Comic Sans MS"/>
              </a:rPr>
              <a:t>a </a:t>
            </a:r>
            <a:r>
              <a:rPr sz="2800" spc="-5" dirty="0">
                <a:latin typeface="Comic Sans MS"/>
                <a:cs typeface="Comic Sans MS"/>
              </a:rPr>
              <a:t>nutshell, Ontologies </a:t>
            </a:r>
            <a:r>
              <a:rPr sz="2800" dirty="0">
                <a:latin typeface="Comic Sans MS"/>
                <a:cs typeface="Comic Sans MS"/>
              </a:rPr>
              <a:t>are </a:t>
            </a:r>
            <a:r>
              <a:rPr sz="2850" b="1" i="1" spc="-30" dirty="0">
                <a:latin typeface="Comic Sans MS"/>
                <a:cs typeface="Comic Sans MS"/>
              </a:rPr>
              <a:t>formal </a:t>
            </a:r>
            <a:r>
              <a:rPr sz="2800" spc="-5" dirty="0">
                <a:latin typeface="Comic Sans MS"/>
                <a:cs typeface="Comic Sans MS"/>
              </a:rPr>
              <a:t>and  </a:t>
            </a:r>
            <a:r>
              <a:rPr sz="2850" b="1" i="1" spc="-30" dirty="0">
                <a:latin typeface="Comic Sans MS"/>
                <a:cs typeface="Comic Sans MS"/>
              </a:rPr>
              <a:t>consensual </a:t>
            </a:r>
            <a:r>
              <a:rPr sz="2800" spc="-5" dirty="0">
                <a:latin typeface="Comic Sans MS"/>
                <a:cs typeface="Comic Sans MS"/>
              </a:rPr>
              <a:t>specifications </a:t>
            </a:r>
            <a:r>
              <a:rPr sz="2800" dirty="0">
                <a:latin typeface="Comic Sans MS"/>
                <a:cs typeface="Comic Sans MS"/>
              </a:rPr>
              <a:t>of  </a:t>
            </a:r>
            <a:r>
              <a:rPr sz="2800" spc="-5" dirty="0">
                <a:latin typeface="Comic Sans MS"/>
                <a:cs typeface="Comic Sans MS"/>
              </a:rPr>
              <a:t>conceptualizations that </a:t>
            </a:r>
            <a:r>
              <a:rPr sz="2800" dirty="0">
                <a:latin typeface="Comic Sans MS"/>
                <a:cs typeface="Comic Sans MS"/>
              </a:rPr>
              <a:t>provide a </a:t>
            </a:r>
            <a:r>
              <a:rPr sz="2800" spc="-5" dirty="0">
                <a:latin typeface="Comic Sans MS"/>
                <a:cs typeface="Comic Sans MS"/>
              </a:rPr>
              <a:t>shared and  common understanding </a:t>
            </a:r>
            <a:r>
              <a:rPr sz="2800" dirty="0">
                <a:latin typeface="Comic Sans MS"/>
                <a:cs typeface="Comic Sans MS"/>
              </a:rPr>
              <a:t>of a</a:t>
            </a:r>
            <a:r>
              <a:rPr sz="2800" spc="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domain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9506" y="879665"/>
            <a:ext cx="41141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Short</a:t>
            </a:r>
            <a:r>
              <a:rPr spc="-80" dirty="0"/>
              <a:t> </a:t>
            </a:r>
            <a:r>
              <a:rPr spc="-10" dirty="0"/>
              <a:t>Summary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1625" y="807720"/>
            <a:ext cx="39604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Arial"/>
                <a:cs typeface="Arial"/>
              </a:rPr>
              <a:t>Related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spc="-60" dirty="0">
                <a:latin typeface="Arial"/>
                <a:cs typeface="Arial"/>
              </a:rPr>
              <a:t>Topics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667976"/>
            <a:ext cx="7950834" cy="448818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L1</a:t>
            </a:r>
            <a:r>
              <a:rPr sz="3200" spc="-5" dirty="0">
                <a:latin typeface="Comic Sans MS"/>
                <a:cs typeface="Comic Sans MS"/>
              </a:rPr>
              <a:t>: </a:t>
            </a:r>
            <a:r>
              <a:rPr sz="2400" b="1" spc="-5" dirty="0">
                <a:latin typeface="Arial"/>
                <a:cs typeface="Arial"/>
              </a:rPr>
              <a:t>Introduction (Semantic </a:t>
            </a:r>
            <a:r>
              <a:rPr sz="2400" b="1" spc="-20" dirty="0">
                <a:latin typeface="Arial"/>
                <a:cs typeface="Arial"/>
              </a:rPr>
              <a:t>Web </a:t>
            </a:r>
            <a:r>
              <a:rPr sz="2400" b="1" spc="-5" dirty="0">
                <a:latin typeface="Arial"/>
                <a:cs typeface="Arial"/>
              </a:rPr>
              <a:t>and</a:t>
            </a:r>
            <a:r>
              <a:rPr sz="2400" b="1" spc="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Ontologies)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L2</a:t>
            </a:r>
            <a:r>
              <a:rPr sz="3200" spc="-5" dirty="0">
                <a:latin typeface="Comic Sans MS"/>
                <a:cs typeface="Comic Sans MS"/>
              </a:rPr>
              <a:t>: </a:t>
            </a:r>
            <a:r>
              <a:rPr sz="2400" b="1" spc="-5" dirty="0">
                <a:latin typeface="Arial"/>
                <a:cs typeface="Arial"/>
              </a:rPr>
              <a:t>Applications: KM, EAI, and eCommerce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L3</a:t>
            </a:r>
            <a:r>
              <a:rPr sz="3200" spc="-5" dirty="0">
                <a:latin typeface="Comic Sans MS"/>
                <a:cs typeface="Comic Sans MS"/>
              </a:rPr>
              <a:t>: </a:t>
            </a:r>
            <a:r>
              <a:rPr sz="2400" b="1" spc="-5" dirty="0">
                <a:latin typeface="Arial"/>
                <a:cs typeface="Arial"/>
              </a:rPr>
              <a:t>Information Retrieval </a:t>
            </a:r>
            <a:r>
              <a:rPr sz="2400" b="1" dirty="0">
                <a:latin typeface="Arial"/>
                <a:cs typeface="Arial"/>
              </a:rPr>
              <a:t>&amp; </a:t>
            </a:r>
            <a:r>
              <a:rPr sz="2400" b="1" spc="-5" dirty="0">
                <a:latin typeface="Arial"/>
                <a:cs typeface="Arial"/>
              </a:rPr>
              <a:t>Information</a:t>
            </a:r>
            <a:r>
              <a:rPr sz="2400" b="1" spc="2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Extraction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L4</a:t>
            </a:r>
            <a:r>
              <a:rPr sz="3200" spc="-5" dirty="0">
                <a:latin typeface="Comic Sans MS"/>
                <a:cs typeface="Comic Sans MS"/>
              </a:rPr>
              <a:t>: </a:t>
            </a:r>
            <a:r>
              <a:rPr sz="2400" b="1" spc="-5" dirty="0">
                <a:latin typeface="Arial"/>
                <a:cs typeface="Arial"/>
              </a:rPr>
              <a:t>Logic (Propositional Logic and First-order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logic)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93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L5: </a:t>
            </a:r>
            <a:r>
              <a:rPr sz="2400" b="1" spc="-5" dirty="0">
                <a:latin typeface="Arial"/>
                <a:cs typeface="Arial"/>
              </a:rPr>
              <a:t>Logic (First-order Logic and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extensions)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35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L6: </a:t>
            </a:r>
            <a:r>
              <a:rPr sz="2400" b="1" spc="-5" dirty="0">
                <a:latin typeface="Arial"/>
                <a:cs typeface="Arial"/>
              </a:rPr>
              <a:t>XML and XML</a:t>
            </a:r>
            <a:r>
              <a:rPr sz="2400" b="1" spc="-12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Schema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45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L7</a:t>
            </a:r>
            <a:r>
              <a:rPr sz="2400" spc="-5" dirty="0">
                <a:latin typeface="Arial"/>
                <a:cs typeface="Arial"/>
              </a:rPr>
              <a:t>: </a:t>
            </a:r>
            <a:r>
              <a:rPr sz="2400" b="1" dirty="0">
                <a:latin typeface="Arial"/>
                <a:cs typeface="Arial"/>
              </a:rPr>
              <a:t>RDF </a:t>
            </a:r>
            <a:r>
              <a:rPr sz="2400" b="1" spc="-5" dirty="0">
                <a:latin typeface="Arial"/>
                <a:cs typeface="Arial"/>
              </a:rPr>
              <a:t>and </a:t>
            </a:r>
            <a:r>
              <a:rPr sz="2400" b="1" dirty="0">
                <a:latin typeface="Arial"/>
                <a:cs typeface="Arial"/>
              </a:rPr>
              <a:t>RDF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Schema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45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L8</a:t>
            </a:r>
            <a:r>
              <a:rPr sz="2400" spc="-5" dirty="0">
                <a:latin typeface="Arial"/>
                <a:cs typeface="Arial"/>
              </a:rPr>
              <a:t>: </a:t>
            </a:r>
            <a:r>
              <a:rPr sz="2400" b="1" spc="-5" dirty="0">
                <a:latin typeface="Arial"/>
                <a:cs typeface="Arial"/>
              </a:rPr>
              <a:t>Description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Logic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1625" y="816165"/>
            <a:ext cx="39604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Arial"/>
                <a:cs typeface="Arial"/>
              </a:rPr>
              <a:t>Related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spc="-60" dirty="0">
                <a:latin typeface="Arial"/>
                <a:cs typeface="Arial"/>
              </a:rPr>
              <a:t>Topics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93104"/>
            <a:ext cx="6199505" cy="4119245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L9: </a:t>
            </a:r>
            <a:r>
              <a:rPr sz="2400" b="1" spc="-5" dirty="0">
                <a:latin typeface="Arial"/>
                <a:cs typeface="Arial"/>
              </a:rPr>
              <a:t>Frame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Logic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15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L10: </a:t>
            </a:r>
            <a:r>
              <a:rPr sz="2400" b="1" spc="-5" dirty="0">
                <a:latin typeface="Arial"/>
                <a:cs typeface="Arial"/>
              </a:rPr>
              <a:t>OWL and XML/RDF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relationship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15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L11: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b="1" spc="-5" dirty="0">
                <a:latin typeface="Arial"/>
                <a:cs typeface="Arial"/>
              </a:rPr>
              <a:t>Ontobroker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15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L12: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b="1" spc="-5" dirty="0">
                <a:latin typeface="Arial"/>
                <a:cs typeface="Arial"/>
              </a:rPr>
              <a:t>Ontoknowledge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15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L13: </a:t>
            </a:r>
            <a:r>
              <a:rPr sz="2400" b="1" spc="-5" dirty="0">
                <a:latin typeface="Arial"/>
                <a:cs typeface="Arial"/>
              </a:rPr>
              <a:t>Dynamic Logic </a:t>
            </a:r>
            <a:r>
              <a:rPr sz="2400" b="1" dirty="0">
                <a:latin typeface="Arial"/>
                <a:cs typeface="Arial"/>
              </a:rPr>
              <a:t>&amp; </a:t>
            </a:r>
            <a:r>
              <a:rPr sz="2400" b="1" spc="-15" dirty="0">
                <a:latin typeface="Arial"/>
                <a:cs typeface="Arial"/>
              </a:rPr>
              <a:t>Transaction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Logic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15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L14: </a:t>
            </a:r>
            <a:r>
              <a:rPr sz="2400" b="1" spc="-5" dirty="0">
                <a:latin typeface="Arial"/>
                <a:cs typeface="Arial"/>
              </a:rPr>
              <a:t>UDDI, SOAP and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WSDL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15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L15: </a:t>
            </a:r>
            <a:r>
              <a:rPr sz="2400" b="1" spc="-5" dirty="0">
                <a:latin typeface="Arial"/>
                <a:cs typeface="Arial"/>
              </a:rPr>
              <a:t>BPEL4WS and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WSMF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12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/>
                <a:cs typeface="Comic Sans MS"/>
              </a:rPr>
              <a:t>L16: </a:t>
            </a:r>
            <a:r>
              <a:rPr sz="2400" b="1" spc="-5" dirty="0">
                <a:latin typeface="Arial"/>
                <a:cs typeface="Arial"/>
              </a:rPr>
              <a:t>Exam feedback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etc.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7963" y="807720"/>
            <a:ext cx="414845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Arial"/>
                <a:cs typeface="Arial"/>
              </a:rPr>
              <a:t>Seminar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spc="-60" dirty="0">
                <a:latin typeface="Arial"/>
                <a:cs typeface="Arial"/>
              </a:rPr>
              <a:t>Topics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768665"/>
            <a:ext cx="7213600" cy="437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5811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omic Sans MS"/>
                <a:cs typeface="Comic Sans MS"/>
              </a:rPr>
              <a:t>Topic </a:t>
            </a:r>
            <a:r>
              <a:rPr sz="2800" dirty="0">
                <a:latin typeface="Comic Sans MS"/>
                <a:cs typeface="Comic Sans MS"/>
              </a:rPr>
              <a:t>provided by each </a:t>
            </a:r>
            <a:r>
              <a:rPr sz="2800" spc="-5" dirty="0">
                <a:latin typeface="Comic Sans MS"/>
                <a:cs typeface="Comic Sans MS"/>
              </a:rPr>
              <a:t>member </a:t>
            </a:r>
            <a:r>
              <a:rPr sz="2800" dirty="0">
                <a:latin typeface="Comic Sans MS"/>
                <a:cs typeface="Comic Sans MS"/>
              </a:rPr>
              <a:t>of Next  Generation</a:t>
            </a:r>
            <a:r>
              <a:rPr sz="2800" spc="-1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Web</a:t>
            </a:r>
            <a:endParaRPr sz="28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64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omic Sans MS"/>
                <a:cs typeface="Comic Sans MS"/>
              </a:rPr>
              <a:t>The </a:t>
            </a:r>
            <a:r>
              <a:rPr sz="2800" dirty="0">
                <a:latin typeface="Comic Sans MS"/>
                <a:cs typeface="Comic Sans MS"/>
              </a:rPr>
              <a:t>main </a:t>
            </a:r>
            <a:r>
              <a:rPr sz="2800" spc="-5" dirty="0">
                <a:latin typeface="Comic Sans MS"/>
                <a:cs typeface="Comic Sans MS"/>
              </a:rPr>
              <a:t>focuses </a:t>
            </a:r>
            <a:r>
              <a:rPr sz="2800" dirty="0">
                <a:latin typeface="Comic Sans MS"/>
                <a:cs typeface="Comic Sans MS"/>
              </a:rPr>
              <a:t>are:</a:t>
            </a:r>
            <a:endParaRPr sz="28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Comic Sans MS"/>
                <a:cs typeface="Comic Sans MS"/>
              </a:rPr>
              <a:t>Ontology</a:t>
            </a:r>
            <a:endParaRPr sz="28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Comic Sans MS"/>
                <a:cs typeface="Comic Sans MS"/>
              </a:rPr>
              <a:t>Semantic</a:t>
            </a:r>
            <a:r>
              <a:rPr sz="2800" spc="-1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Web</a:t>
            </a:r>
            <a:endParaRPr sz="28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Comic Sans MS"/>
                <a:cs typeface="Comic Sans MS"/>
              </a:rPr>
              <a:t>Web</a:t>
            </a:r>
            <a:r>
              <a:rPr sz="2800" spc="-5" dirty="0">
                <a:latin typeface="Comic Sans MS"/>
                <a:cs typeface="Comic Sans MS"/>
              </a:rPr>
              <a:t> Services</a:t>
            </a:r>
            <a:endParaRPr sz="2800">
              <a:latin typeface="Comic Sans MS"/>
              <a:cs typeface="Comic Sans MS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Comic Sans MS"/>
                <a:cs typeface="Comic Sans MS"/>
              </a:rPr>
              <a:t>Information Retrieval and</a:t>
            </a:r>
            <a:r>
              <a:rPr sz="2800" spc="-9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Information  Extraction</a:t>
            </a:r>
            <a:endParaRPr sz="28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Comic Sans MS"/>
                <a:cs typeface="Comic Sans MS"/>
              </a:rPr>
              <a:t>Applications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5162" y="803465"/>
            <a:ext cx="27349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Hom</a:t>
            </a:r>
            <a:r>
              <a:rPr dirty="0"/>
              <a:t>ewo</a:t>
            </a:r>
            <a:r>
              <a:rPr spc="-5" dirty="0"/>
              <a:t>r</a:t>
            </a:r>
            <a:r>
              <a:rPr dirty="0"/>
              <a:t>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0709"/>
            <a:ext cx="7475855" cy="273367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Comic Sans MS"/>
                <a:cs typeface="Comic Sans MS"/>
              </a:rPr>
              <a:t>Creating </a:t>
            </a:r>
            <a:r>
              <a:rPr sz="2800" spc="-5" dirty="0">
                <a:latin typeface="Comic Sans MS"/>
                <a:cs typeface="Comic Sans MS"/>
              </a:rPr>
              <a:t>your own </a:t>
            </a:r>
            <a:r>
              <a:rPr sz="2800" dirty="0">
                <a:latin typeface="Comic Sans MS"/>
                <a:cs typeface="Comic Sans MS"/>
              </a:rPr>
              <a:t>University</a:t>
            </a:r>
            <a:r>
              <a:rPr sz="2800" spc="-5" dirty="0">
                <a:latin typeface="Comic Sans MS"/>
                <a:cs typeface="Comic Sans MS"/>
              </a:rPr>
              <a:t> Ontology</a:t>
            </a:r>
            <a:endParaRPr sz="28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omic Sans MS"/>
                <a:cs typeface="Comic Sans MS"/>
              </a:rPr>
              <a:t>helpful </a:t>
            </a:r>
            <a:r>
              <a:rPr sz="2800" dirty="0">
                <a:latin typeface="Comic Sans MS"/>
                <a:cs typeface="Comic Sans MS"/>
              </a:rPr>
              <a:t>readings and</a:t>
            </a:r>
            <a:r>
              <a:rPr sz="2800" spc="-15" dirty="0">
                <a:latin typeface="Comic Sans MS"/>
                <a:cs typeface="Comic Sans MS"/>
              </a:rPr>
              <a:t> </a:t>
            </a:r>
            <a:r>
              <a:rPr sz="2800" spc="-5" dirty="0">
                <a:latin typeface="Comic Sans MS"/>
                <a:cs typeface="Comic Sans MS"/>
              </a:rPr>
              <a:t>tools</a:t>
            </a:r>
            <a:endParaRPr sz="28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dirty="0">
                <a:latin typeface="Comic Sans MS"/>
                <a:cs typeface="Comic Sans MS"/>
              </a:rPr>
              <a:t>download and play </a:t>
            </a:r>
            <a:r>
              <a:rPr sz="2400" spc="-5" dirty="0">
                <a:latin typeface="Comic Sans MS"/>
                <a:cs typeface="Comic Sans MS"/>
              </a:rPr>
              <a:t>with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Protégé</a:t>
            </a:r>
            <a:endParaRPr sz="2400">
              <a:latin typeface="Comic Sans MS"/>
              <a:cs typeface="Comic Sans MS"/>
            </a:endParaRPr>
          </a:p>
          <a:p>
            <a:pPr marL="755650" marR="5080" lvl="1" indent="-285750">
              <a:lnSpc>
                <a:spcPts val="2870"/>
              </a:lnSpc>
              <a:spcBef>
                <a:spcPts val="69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Comic Sans MS"/>
                <a:cs typeface="Comic Sans MS"/>
              </a:rPr>
              <a:t>Ontology Development </a:t>
            </a:r>
            <a:r>
              <a:rPr sz="2400" spc="-10" dirty="0">
                <a:latin typeface="Comic Sans MS"/>
                <a:cs typeface="Comic Sans MS"/>
              </a:rPr>
              <a:t>101: </a:t>
            </a:r>
            <a:r>
              <a:rPr sz="2400" dirty="0">
                <a:latin typeface="Comic Sans MS"/>
                <a:cs typeface="Comic Sans MS"/>
              </a:rPr>
              <a:t>A Guide </a:t>
            </a:r>
            <a:r>
              <a:rPr sz="2400" spc="-5" dirty="0">
                <a:latin typeface="Comic Sans MS"/>
                <a:cs typeface="Comic Sans MS"/>
              </a:rPr>
              <a:t>to Creating  </a:t>
            </a:r>
            <a:r>
              <a:rPr sz="2400" dirty="0">
                <a:latin typeface="Comic Sans MS"/>
                <a:cs typeface="Comic Sans MS"/>
              </a:rPr>
              <a:t>Your </a:t>
            </a:r>
            <a:r>
              <a:rPr sz="2400" spc="-5" dirty="0">
                <a:latin typeface="Comic Sans MS"/>
                <a:cs typeface="Comic Sans MS"/>
              </a:rPr>
              <a:t>First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Ontology</a:t>
            </a:r>
            <a:endParaRPr sz="240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49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Comic Sans MS"/>
                <a:cs typeface="Comic Sans MS"/>
              </a:rPr>
              <a:t>Ontoweb deliverable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1.1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2220</Words>
  <Application>Microsoft Office PowerPoint</Application>
  <PresentationFormat>On-screen Show (4:3)</PresentationFormat>
  <Paragraphs>294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Comic Sans MS</vt:lpstr>
      <vt:lpstr>Times New Roman</vt:lpstr>
      <vt:lpstr>Office Theme</vt:lpstr>
      <vt:lpstr>Lecture Semantic Web &amp; Ontology</vt:lpstr>
      <vt:lpstr>Content</vt:lpstr>
      <vt:lpstr>Introduction</vt:lpstr>
      <vt:lpstr>Ontology</vt:lpstr>
      <vt:lpstr>Ontology...</vt:lpstr>
      <vt:lpstr>What is Ontology…...</vt:lpstr>
      <vt:lpstr>Main components of an Ontology</vt:lpstr>
      <vt:lpstr>Main components of an Ontology (Cont.)</vt:lpstr>
      <vt:lpstr>Kinds of ontologies</vt:lpstr>
      <vt:lpstr>Kinds of ontologies</vt:lpstr>
      <vt:lpstr>Ontology Applications</vt:lpstr>
      <vt:lpstr>Current Web</vt:lpstr>
      <vt:lpstr>The vision</vt:lpstr>
      <vt:lpstr>The Vision</vt:lpstr>
      <vt:lpstr>Semantic Web</vt:lpstr>
      <vt:lpstr>Semantic Web Technology</vt:lpstr>
      <vt:lpstr>The Semantic Web</vt:lpstr>
      <vt:lpstr>Semantic Web Technology</vt:lpstr>
      <vt:lpstr>Semantic Web - Language tower</vt:lpstr>
      <vt:lpstr>XML</vt:lpstr>
      <vt:lpstr>XML Schema</vt:lpstr>
      <vt:lpstr>RDF</vt:lpstr>
      <vt:lpstr>RDF</vt:lpstr>
      <vt:lpstr>RDF Schema</vt:lpstr>
      <vt:lpstr>OIL</vt:lpstr>
      <vt:lpstr>OIL</vt:lpstr>
      <vt:lpstr>PowerPoint Presentation</vt:lpstr>
      <vt:lpstr>DAML+OIL</vt:lpstr>
      <vt:lpstr>OWL</vt:lpstr>
      <vt:lpstr>Web Service</vt:lpstr>
      <vt:lpstr>Web Services</vt:lpstr>
      <vt:lpstr>Web Services</vt:lpstr>
      <vt:lpstr>Web Services</vt:lpstr>
      <vt:lpstr>Semantic Web Service</vt:lpstr>
      <vt:lpstr>Semantic Web Services</vt:lpstr>
      <vt:lpstr>Semantic Web Services</vt:lpstr>
      <vt:lpstr>Semantic Web Services</vt:lpstr>
      <vt:lpstr>Semantic Web Services</vt:lpstr>
      <vt:lpstr>Short Summary</vt:lpstr>
      <vt:lpstr>Short Summary</vt:lpstr>
      <vt:lpstr>Related Topics</vt:lpstr>
      <vt:lpstr>Related Topics</vt:lpstr>
      <vt:lpstr>Seminar Topics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Semantic Web &amp; Ontology</dc:title>
  <cp:lastModifiedBy>deep patel</cp:lastModifiedBy>
  <cp:revision>1</cp:revision>
  <dcterms:created xsi:type="dcterms:W3CDTF">2020-06-14T10:23:50Z</dcterms:created>
  <dcterms:modified xsi:type="dcterms:W3CDTF">2020-06-14T15:53:22Z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2020-06-14T00:00:00Z</vt:filetime>
  </property>
</Properties>
</file>