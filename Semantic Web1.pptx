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embeddedFontLst>
    <p:embeddedFont>
      <p:font typeface="Architects Daughter" panose="020B0604020202020204" charset="0"/>
      <p:regular r:id="rId7"/>
    </p:embeddedFont>
    <p:embeddedFont>
      <p:font typeface="Bahnschrift" panose="020B0502040204020203" pitchFamily="34" charset="0"/>
      <p:regular r:id="rId8"/>
      <p:bold r:id="rId9"/>
    </p:embeddedFont>
    <p:embeddedFont>
      <p:font typeface="Trebuchet MS" panose="020B0603020202020204" pitchFamily="3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iUoUXcwNi1yU+OqDm6FxjCY52A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4521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8843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4"/>
          <p:cNvGrpSpPr/>
          <p:nvPr/>
        </p:nvGrpSpPr>
        <p:grpSpPr>
          <a:xfrm>
            <a:off x="0" y="-8467"/>
            <a:ext cx="12192000" cy="6866467"/>
            <a:chOff x="0" y="-8467"/>
            <a:chExt cx="12192000" cy="6866467"/>
          </a:xfrm>
        </p:grpSpPr>
        <p:sp>
          <p:nvSpPr>
            <p:cNvPr id="24" name="Google Shape;24;p4"/>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25" name="Google Shape;25;p4"/>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26" name="Google Shape;26;p4"/>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27" name="Google Shape;27;p4"/>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28" name="Google Shape;28;p4"/>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9" name="Google Shape;29;p4"/>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31" name="Google Shape;31;p4"/>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32" name="Google Shape;32;p4"/>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33" name="Google Shape;33;p4"/>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4"/>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36" name="Google Shape;36;p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2" name="Google Shape;42;p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sp>
        <p:nvSpPr>
          <p:cNvPr id="46" name="Google Shape;46;p6"/>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48" name="Google Shape;48;p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4" name="Google Shape;54;p7"/>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5" name="Google Shape;55;p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1" name="Google Shape;61;p8"/>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8"/>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3" name="Google Shape;63;p8"/>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1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1"/>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9" name="Google Shape;79;p11"/>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0" name="Google Shape;80;p1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a:spLocks noGrp="1"/>
          </p:cNvSpPr>
          <p:nvPr>
            <p:ph type="pic" idx="2"/>
          </p:nvPr>
        </p:nvSpPr>
        <p:spPr>
          <a:xfrm>
            <a:off x="677334" y="609600"/>
            <a:ext cx="8596668" cy="3845718"/>
          </a:xfrm>
          <a:prstGeom prst="rect">
            <a:avLst/>
          </a:prstGeom>
          <a:noFill/>
          <a:ln>
            <a:noFill/>
          </a:ln>
        </p:spPr>
        <p:txBody>
          <a:bodyPr spcFirstLastPara="1" wrap="square" lIns="91425" tIns="45700" rIns="91425" bIns="45700" anchor="t" anchorCtr="0">
            <a:normAutofit/>
          </a:bodyPr>
          <a:lstStyle>
            <a:lvl1pPr marR="0" lvl="0" algn="ctr"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1pPr>
            <a:lvl2pPr marR="0" lvl="1"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2pPr>
            <a:lvl3pPr marR="0" lvl="2"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3pPr>
            <a:lvl4pPr marR="0" lvl="3"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4pPr>
            <a:lvl5pPr marR="0" lvl="4"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5pPr>
            <a:lvl6pPr marR="0" lvl="5"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6pPr>
            <a:lvl7pPr marR="0" lvl="6"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7pPr>
            <a:lvl8pPr marR="0" lvl="7"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8pPr>
            <a:lvl9pPr marR="0" lvl="8" algn="l" rtl="0">
              <a:spcBef>
                <a:spcPts val="1000"/>
              </a:spcBef>
              <a:spcAft>
                <a:spcPts val="0"/>
              </a:spcAft>
              <a:buClr>
                <a:schemeClr val="accent1"/>
              </a:buClr>
              <a:buSzPts val="1280"/>
              <a:buFont typeface="Noto Sans Symbols"/>
              <a:buNone/>
              <a:defRPr sz="1600" b="0" i="0" u="none" strike="noStrike" cap="none">
                <a:solidFill>
                  <a:srgbClr val="3F3F3F"/>
                </a:solidFill>
                <a:latin typeface="Trebuchet MS"/>
                <a:ea typeface="Trebuchet MS"/>
                <a:cs typeface="Trebuchet MS"/>
                <a:sym typeface="Trebuchet MS"/>
              </a:defRPr>
            </a:lvl9pPr>
          </a:lstStyle>
          <a:p>
            <a:endParaRPr/>
          </a:p>
        </p:txBody>
      </p:sp>
      <p:sp>
        <p:nvSpPr>
          <p:cNvPr id="86" name="Google Shape;86;p12"/>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7" name="Google Shape;87;p1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9" name="Google Shape;89;p1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0"/>
        <p:cNvGrpSpPr/>
        <p:nvPr/>
      </p:nvGrpSpPr>
      <p:grpSpPr>
        <a:xfrm>
          <a:off x="0" y="0"/>
          <a:ext cx="0" cy="0"/>
          <a:chOff x="0" y="0"/>
          <a:chExt cx="0" cy="0"/>
        </a:xfrm>
      </p:grpSpPr>
      <p:sp>
        <p:nvSpPr>
          <p:cNvPr id="91" name="Google Shape;91;p13"/>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3"/>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3" name="Google Shape;93;p1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4"/>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9" name="Google Shape;99;p14"/>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0" name="Google Shape;100;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3" name="Google Shape;103;p14"/>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9EDFF5"/>
                </a:solidFill>
                <a:latin typeface="Arial"/>
                <a:ea typeface="Arial"/>
                <a:cs typeface="Arial"/>
                <a:sym typeface="Arial"/>
              </a:rPr>
              <a:t>“</a:t>
            </a:r>
            <a:endParaRPr/>
          </a:p>
        </p:txBody>
      </p:sp>
      <p:sp>
        <p:nvSpPr>
          <p:cNvPr id="104" name="Google Shape;104;p14"/>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9EDFF5"/>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5"/>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8" name="Google Shape;108;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6"/>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4" name="Google Shape;114;p16"/>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5" name="Google Shape;115;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16"/>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9EDFF5"/>
                </a:solidFill>
                <a:latin typeface="Arial"/>
                <a:ea typeface="Arial"/>
                <a:cs typeface="Arial"/>
                <a:sym typeface="Arial"/>
              </a:rPr>
              <a:t>“</a:t>
            </a:r>
            <a:endParaRPr/>
          </a:p>
        </p:txBody>
      </p:sp>
      <p:sp>
        <p:nvSpPr>
          <p:cNvPr id="119" name="Google Shape;119;p16"/>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9EDFF5"/>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0"/>
        <p:cNvGrpSpPr/>
        <p:nvPr/>
      </p:nvGrpSpPr>
      <p:grpSpPr>
        <a:xfrm>
          <a:off x="0" y="0"/>
          <a:ext cx="0" cy="0"/>
          <a:chOff x="0" y="0"/>
          <a:chExt cx="0" cy="0"/>
        </a:xfrm>
      </p:grpSpPr>
      <p:sp>
        <p:nvSpPr>
          <p:cNvPr id="121" name="Google Shape;121;p17"/>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7"/>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3" name="Google Shape;123;p17"/>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4" name="Google Shape;124;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1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8"/>
          <p:cNvSpPr txBox="1">
            <a:spLocks noGrp="1"/>
          </p:cNvSpPr>
          <p:nvPr>
            <p:ph type="body" idx="1"/>
          </p:nvPr>
        </p:nvSpPr>
        <p:spPr>
          <a:xfrm rot="5400000">
            <a:off x="3035282"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0" name="Google Shape;130;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3"/>
        <p:cNvGrpSpPr/>
        <p:nvPr/>
      </p:nvGrpSpPr>
      <p:grpSpPr>
        <a:xfrm>
          <a:off x="0" y="0"/>
          <a:ext cx="0" cy="0"/>
          <a:chOff x="0" y="0"/>
          <a:chExt cx="0" cy="0"/>
        </a:xfrm>
      </p:grpSpPr>
      <p:sp>
        <p:nvSpPr>
          <p:cNvPr id="134" name="Google Shape;134;p19"/>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9"/>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6" name="Google Shape;136;p1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3"/>
          <p:cNvGrpSpPr/>
          <p:nvPr/>
        </p:nvGrpSpPr>
        <p:grpSpPr>
          <a:xfrm>
            <a:off x="0" y="-8467"/>
            <a:ext cx="12192000" cy="6866467"/>
            <a:chOff x="0" y="-8467"/>
            <a:chExt cx="12192000" cy="6866467"/>
          </a:xfrm>
        </p:grpSpPr>
        <p:cxnSp>
          <p:nvCxnSpPr>
            <p:cNvPr id="7" name="Google Shape;7;p3"/>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8" name="Google Shape;8;p3"/>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9" name="Google Shape;9;p3"/>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0" name="Google Shape;10;p3"/>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3"/>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3"/>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13" name="Google Shape;13;p3"/>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4" name="Google Shape;14;p3"/>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5" name="Google Shape;15;p3"/>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a:off x="0" y="4013200"/>
              <a:ext cx="448733" cy="2844800"/>
            </a:xfrm>
            <a:prstGeom prst="triangle">
              <a:avLst>
                <a:gd name="adj" fmla="val 0"/>
              </a:avLst>
            </a:prstGeom>
            <a:solidFill>
              <a:schemeClr val="accen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19" name="Google Shape;19;p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0" name="Google Shape;20;p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1" name="Google Shape;21;p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accent1"/>
              </a:buClr>
              <a:buSzPts val="7200"/>
              <a:buFont typeface="Architects Daughter"/>
              <a:buNone/>
            </a:pPr>
            <a:r>
              <a:rPr lang="en-US" sz="7200" b="1" dirty="0">
                <a:latin typeface="Architects Daughter"/>
                <a:ea typeface="Architects Daughter"/>
                <a:cs typeface="Architects Daughter"/>
                <a:sym typeface="Architects Daughter"/>
              </a:rPr>
              <a:t>Semantic Web</a:t>
            </a:r>
            <a:endParaRPr dirty="0"/>
          </a:p>
        </p:txBody>
      </p:sp>
      <p:sp>
        <p:nvSpPr>
          <p:cNvPr id="144" name="Google Shape;144;p1"/>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440"/>
              <a:buNone/>
            </a:pPr>
            <a:r>
              <a:rPr lang="en-US"/>
              <a:t>A vision to achieve “Machine Understandable Web”</a:t>
            </a:r>
            <a:endParaRPr/>
          </a:p>
        </p:txBody>
      </p:sp>
      <p:pic>
        <p:nvPicPr>
          <p:cNvPr id="145" name="Google Shape;145;p1"/>
          <p:cNvPicPr preferRelativeResize="0"/>
          <p:nvPr/>
        </p:nvPicPr>
        <p:blipFill rotWithShape="1">
          <a:blip r:embed="rId3">
            <a:alphaModFix/>
          </a:blip>
          <a:srcRect/>
          <a:stretch/>
        </p:blipFill>
        <p:spPr>
          <a:xfrm>
            <a:off x="555383" y="884205"/>
            <a:ext cx="2807167" cy="280716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IN" dirty="0"/>
              <a:t>What is Semantic Web?</a:t>
            </a:r>
            <a:endParaRPr dirty="0"/>
          </a:p>
        </p:txBody>
      </p:sp>
      <p:sp>
        <p:nvSpPr>
          <p:cNvPr id="151" name="Google Shape;151;p2"/>
          <p:cNvSpPr txBox="1">
            <a:spLocks noGrp="1"/>
          </p:cNvSpPr>
          <p:nvPr>
            <p:ph type="body" idx="1"/>
          </p:nvPr>
        </p:nvSpPr>
        <p:spPr>
          <a:xfrm>
            <a:off x="677334" y="1404595"/>
            <a:ext cx="8596668" cy="4636768"/>
          </a:xfrm>
          <a:prstGeom prst="rect">
            <a:avLst/>
          </a:prstGeom>
          <a:noFill/>
          <a:ln>
            <a:noFill/>
          </a:ln>
        </p:spPr>
        <p:txBody>
          <a:bodyPr spcFirstLastPara="1" wrap="square" lIns="91425" tIns="45700" rIns="91425" bIns="45700" anchor="t" anchorCtr="0">
            <a:normAutofit/>
          </a:bodyPr>
          <a:lstStyle/>
          <a:p>
            <a:pPr marL="377191" indent="-285750" algn="just">
              <a:spcBef>
                <a:spcPts val="0"/>
              </a:spcBef>
            </a:pPr>
            <a:r>
              <a:rPr lang="en-US" sz="2800" dirty="0">
                <a:latin typeface="Trebuchet MS" panose="020B0603020202020204" pitchFamily="34" charset="0"/>
              </a:rPr>
              <a:t>The Semantic Web is an evolving extension of the World Wide Web in which the semantics of information and services on the web is defined, making it possible for the web to understand and satisfy the requests of people and machines to use the Web content.</a:t>
            </a:r>
          </a:p>
          <a:p>
            <a:pPr marL="91441" indent="0" algn="just">
              <a:spcBef>
                <a:spcPts val="0"/>
              </a:spcBef>
              <a:buNone/>
            </a:pPr>
            <a:endParaRPr lang="en-US" sz="2800" dirty="0">
              <a:latin typeface="Trebuchet MS" panose="020B0603020202020204" pitchFamily="34" charset="0"/>
            </a:endParaRPr>
          </a:p>
          <a:p>
            <a:pPr marL="377191" indent="-285750" algn="just">
              <a:spcBef>
                <a:spcPts val="0"/>
              </a:spcBef>
            </a:pPr>
            <a:r>
              <a:rPr lang="en-US" sz="2800" dirty="0">
                <a:latin typeface="Trebuchet MS" panose="020B0603020202020204" pitchFamily="34" charset="0"/>
              </a:rPr>
              <a:t>The Semantic Web has the ultimate goal of making a machine understand Internet data.</a:t>
            </a:r>
          </a:p>
          <a:p>
            <a:pPr marL="377191" indent="-285750" algn="just">
              <a:spcBef>
                <a:spcPts val="0"/>
              </a:spcBef>
            </a:pPr>
            <a:endParaRPr lang="en-US" sz="2800" dirty="0">
              <a:latin typeface="Trebuchet MS" panose="020B0603020202020204" pitchFamily="34" charset="0"/>
            </a:endParaRPr>
          </a:p>
        </p:txBody>
      </p:sp>
      <p:pic>
        <p:nvPicPr>
          <p:cNvPr id="2" name="Picture 1">
            <a:extLst>
              <a:ext uri="{FF2B5EF4-FFF2-40B4-BE49-F238E27FC236}">
                <a16:creationId xmlns:a16="http://schemas.microsoft.com/office/drawing/2014/main" id="{AE4491F0-6AE6-4911-9AA9-DA5446D4C94E}"/>
              </a:ext>
            </a:extLst>
          </p:cNvPr>
          <p:cNvPicPr>
            <a:picLocks noChangeAspect="1"/>
          </p:cNvPicPr>
          <p:nvPr/>
        </p:nvPicPr>
        <p:blipFill>
          <a:blip r:embed="rId3"/>
          <a:stretch>
            <a:fillRect/>
          </a:stretch>
        </p:blipFill>
        <p:spPr>
          <a:xfrm>
            <a:off x="10165844" y="4986779"/>
            <a:ext cx="2026156" cy="18712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r>
              <a:rPr lang="en-IN" dirty="0">
                <a:latin typeface="Trebuchet MS" panose="020B0603020202020204" pitchFamily="34" charset="0"/>
              </a:rPr>
              <a:t>Knowledge</a:t>
            </a:r>
            <a:r>
              <a:rPr lang="en-IN" dirty="0">
                <a:latin typeface="Bahnschrift" panose="020B0502040204020203" pitchFamily="34" charset="0"/>
              </a:rPr>
              <a:t> Representation</a:t>
            </a:r>
            <a:endParaRPr dirty="0">
              <a:latin typeface="Bahnschrift" panose="020B0502040204020203" pitchFamily="34" charset="0"/>
            </a:endParaRPr>
          </a:p>
        </p:txBody>
      </p:sp>
      <p:sp>
        <p:nvSpPr>
          <p:cNvPr id="151" name="Google Shape;151;p2"/>
          <p:cNvSpPr txBox="1">
            <a:spLocks noGrp="1"/>
          </p:cNvSpPr>
          <p:nvPr>
            <p:ph type="body" idx="1"/>
          </p:nvPr>
        </p:nvSpPr>
        <p:spPr>
          <a:xfrm>
            <a:off x="584463" y="1112363"/>
            <a:ext cx="8689540" cy="5599522"/>
          </a:xfrm>
          <a:prstGeom prst="rect">
            <a:avLst/>
          </a:prstGeom>
          <a:noFill/>
          <a:ln>
            <a:noFill/>
          </a:ln>
        </p:spPr>
        <p:txBody>
          <a:bodyPr spcFirstLastPara="1" wrap="square" lIns="91425" tIns="45700" rIns="91425" bIns="45700" anchor="t" anchorCtr="0">
            <a:normAutofit/>
          </a:bodyPr>
          <a:lstStyle/>
          <a:p>
            <a:pPr marL="377191" indent="-285750">
              <a:spcBef>
                <a:spcPts val="0"/>
              </a:spcBef>
            </a:pPr>
            <a:r>
              <a:rPr lang="en-IN" sz="2800" dirty="0">
                <a:latin typeface="Trebuchet MS" panose="020B0603020202020204" pitchFamily="34" charset="0"/>
              </a:rPr>
              <a:t>For Semantic Web to function, the Computers should have access to</a:t>
            </a:r>
          </a:p>
          <a:p>
            <a:pPr marL="1062991" lvl="1" indent="-514350" algn="just">
              <a:spcBef>
                <a:spcPts val="0"/>
              </a:spcBef>
              <a:buFont typeface="+mj-lt"/>
              <a:buAutoNum type="arabicPeriod"/>
            </a:pPr>
            <a:r>
              <a:rPr lang="en-IN" sz="2600" dirty="0">
                <a:latin typeface="Trebuchet MS" panose="020B0603020202020204" pitchFamily="34" charset="0"/>
              </a:rPr>
              <a:t>Structured Collection of information                </a:t>
            </a:r>
          </a:p>
          <a:p>
            <a:pPr marL="1062991" lvl="1" indent="-514350" algn="just">
              <a:spcBef>
                <a:spcPts val="0"/>
              </a:spcBef>
              <a:buFont typeface="+mj-lt"/>
              <a:buAutoNum type="arabicPeriod"/>
            </a:pPr>
            <a:r>
              <a:rPr lang="en-IN" sz="2600" dirty="0">
                <a:latin typeface="Trebuchet MS" panose="020B0603020202020204" pitchFamily="34" charset="0"/>
              </a:rPr>
              <a:t>Meaning of this information   </a:t>
            </a:r>
          </a:p>
          <a:p>
            <a:pPr marL="1062991" lvl="1" indent="-514350" algn="just">
              <a:spcBef>
                <a:spcPts val="0"/>
              </a:spcBef>
              <a:buFont typeface="+mj-lt"/>
              <a:buAutoNum type="arabicPeriod"/>
            </a:pPr>
            <a:r>
              <a:rPr lang="en-IN" sz="2600" dirty="0">
                <a:latin typeface="Trebuchet MS" panose="020B0603020202020204" pitchFamily="34" charset="0"/>
              </a:rPr>
              <a:t>Sets of Interface Rules/Logic.</a:t>
            </a:r>
          </a:p>
          <a:p>
            <a:pPr marL="377191" indent="-285750" algn="just">
              <a:spcBef>
                <a:spcPts val="0"/>
              </a:spcBef>
            </a:pPr>
            <a:endParaRPr lang="en-IN" sz="2800" dirty="0">
              <a:latin typeface="Trebuchet MS" panose="020B0603020202020204" pitchFamily="34" charset="0"/>
            </a:endParaRPr>
          </a:p>
          <a:p>
            <a:pPr marL="548641" indent="-457200">
              <a:spcBef>
                <a:spcPts val="0"/>
              </a:spcBef>
            </a:pPr>
            <a:r>
              <a:rPr lang="en-IN" sz="2800" dirty="0">
                <a:latin typeface="Trebuchet MS" panose="020B0603020202020204" pitchFamily="34" charset="0"/>
              </a:rPr>
              <a:t>Technological Threads for developing Semantic Web</a:t>
            </a:r>
          </a:p>
          <a:p>
            <a:pPr marL="1062991" lvl="1" indent="-514350" algn="just">
              <a:spcBef>
                <a:spcPts val="0"/>
              </a:spcBef>
              <a:buFont typeface="+mj-lt"/>
              <a:buAutoNum type="arabicPeriod"/>
            </a:pPr>
            <a:r>
              <a:rPr lang="en-IN" sz="2600" dirty="0">
                <a:latin typeface="Trebuchet MS" panose="020B0603020202020204" pitchFamily="34" charset="0"/>
              </a:rPr>
              <a:t>XML(Extensible </a:t>
            </a:r>
            <a:r>
              <a:rPr lang="en-IN" sz="2600" dirty="0" err="1">
                <a:latin typeface="Trebuchet MS" panose="020B0603020202020204" pitchFamily="34" charset="0"/>
              </a:rPr>
              <a:t>Markup</a:t>
            </a:r>
            <a:r>
              <a:rPr lang="en-IN" sz="2600" dirty="0">
                <a:latin typeface="Trebuchet MS" panose="020B0603020202020204" pitchFamily="34" charset="0"/>
              </a:rPr>
              <a:t> Language)</a:t>
            </a:r>
          </a:p>
          <a:p>
            <a:pPr marL="1062991" lvl="1" indent="-514350" algn="just">
              <a:spcBef>
                <a:spcPts val="0"/>
              </a:spcBef>
              <a:buFont typeface="+mj-lt"/>
              <a:buAutoNum type="arabicPeriod"/>
            </a:pPr>
            <a:r>
              <a:rPr lang="en-IN" sz="2600" dirty="0">
                <a:latin typeface="Trebuchet MS" panose="020B0603020202020204" pitchFamily="34" charset="0"/>
              </a:rPr>
              <a:t>RDF(Resource Description Framework)</a:t>
            </a:r>
          </a:p>
          <a:p>
            <a:pPr marL="1062991" lvl="1" indent="-514350" algn="just">
              <a:spcBef>
                <a:spcPts val="0"/>
              </a:spcBef>
              <a:buFont typeface="+mj-lt"/>
              <a:buAutoNum type="arabicPeriod"/>
            </a:pPr>
            <a:r>
              <a:rPr lang="en-IN" sz="2600" dirty="0">
                <a:latin typeface="Trebuchet MS" panose="020B0603020202020204" pitchFamily="34" charset="0"/>
              </a:rPr>
              <a:t>OWL(Web Ontology Language)</a:t>
            </a:r>
          </a:p>
          <a:p>
            <a:pPr marL="548641" lvl="1" indent="0" algn="just">
              <a:spcBef>
                <a:spcPts val="0"/>
              </a:spcBef>
              <a:buNone/>
            </a:pPr>
            <a:endParaRPr lang="en-IN" sz="2600" dirty="0">
              <a:latin typeface="Trebuchet MS" panose="020B0603020202020204" pitchFamily="34" charset="0"/>
            </a:endParaRPr>
          </a:p>
          <a:p>
            <a:pPr marL="548641" lvl="1" indent="0" algn="just">
              <a:spcBef>
                <a:spcPts val="0"/>
              </a:spcBef>
              <a:buNone/>
            </a:pPr>
            <a:r>
              <a:rPr lang="en-IN" sz="2600" dirty="0">
                <a:latin typeface="Trebuchet MS" panose="020B0603020202020204" pitchFamily="34" charset="0"/>
              </a:rPr>
              <a:t> </a:t>
            </a:r>
            <a:endParaRPr sz="2600" dirty="0">
              <a:latin typeface="Trebuchet MS" panose="020B0603020202020204" pitchFamily="34" charset="0"/>
            </a:endParaRPr>
          </a:p>
        </p:txBody>
      </p:sp>
    </p:spTree>
    <p:extLst>
      <p:ext uri="{BB962C8B-B14F-4D97-AF65-F5344CB8AC3E}">
        <p14:creationId xmlns:p14="http://schemas.microsoft.com/office/powerpoint/2010/main" val="432244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
          <p:cNvSpPr txBox="1">
            <a:spLocks noGrp="1"/>
          </p:cNvSpPr>
          <p:nvPr>
            <p:ph type="title"/>
          </p:nvPr>
        </p:nvSpPr>
        <p:spPr>
          <a:xfrm>
            <a:off x="677334" y="433633"/>
            <a:ext cx="8596668" cy="1496767"/>
          </a:xfrm>
          <a:prstGeom prst="rect">
            <a:avLst/>
          </a:prstGeom>
          <a:noFill/>
          <a:ln>
            <a:noFill/>
          </a:ln>
        </p:spPr>
        <p:txBody>
          <a:bodyPr spcFirstLastPara="1" wrap="square" lIns="91425" tIns="45700" rIns="91425" bIns="45700" anchor="t" anchorCtr="0">
            <a:normAutofit/>
          </a:bodyPr>
          <a:lstStyle/>
          <a:p>
            <a:pPr lvl="0">
              <a:buSzPts val="3600"/>
            </a:pPr>
            <a:endParaRPr dirty="0">
              <a:latin typeface="Bahnschrift" panose="020B0502040204020203" pitchFamily="34" charset="0"/>
            </a:endParaRPr>
          </a:p>
        </p:txBody>
      </p:sp>
      <p:sp>
        <p:nvSpPr>
          <p:cNvPr id="151" name="Google Shape;151;p2"/>
          <p:cNvSpPr txBox="1">
            <a:spLocks noGrp="1"/>
          </p:cNvSpPr>
          <p:nvPr>
            <p:ph type="body" idx="1"/>
          </p:nvPr>
        </p:nvSpPr>
        <p:spPr>
          <a:xfrm>
            <a:off x="584463" y="1112363"/>
            <a:ext cx="8689540" cy="5599522"/>
          </a:xfrm>
          <a:prstGeom prst="rect">
            <a:avLst/>
          </a:prstGeom>
          <a:noFill/>
          <a:ln>
            <a:noFill/>
          </a:ln>
        </p:spPr>
        <p:txBody>
          <a:bodyPr spcFirstLastPara="1" wrap="square" lIns="91425" tIns="45700" rIns="91425" bIns="45700" anchor="t" anchorCtr="0">
            <a:normAutofit/>
          </a:bodyPr>
          <a:lstStyle/>
          <a:p>
            <a:pPr marL="377191" indent="-285750">
              <a:spcBef>
                <a:spcPts val="0"/>
              </a:spcBef>
            </a:pPr>
            <a:endParaRPr sz="2600" dirty="0">
              <a:latin typeface="Trebuchet MS" panose="020B0603020202020204" pitchFamily="34" charset="0"/>
            </a:endParaRPr>
          </a:p>
        </p:txBody>
      </p:sp>
    </p:spTree>
    <p:extLst>
      <p:ext uri="{BB962C8B-B14F-4D97-AF65-F5344CB8AC3E}">
        <p14:creationId xmlns:p14="http://schemas.microsoft.com/office/powerpoint/2010/main" val="1989060380"/>
      </p:ext>
    </p:extLst>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133</Words>
  <Application>Microsoft Office PowerPoint</Application>
  <PresentationFormat>Widescreen</PresentationFormat>
  <Paragraphs>18</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Trebuchet MS</vt:lpstr>
      <vt:lpstr>Noto Sans Symbols</vt:lpstr>
      <vt:lpstr>Bahnschrift</vt:lpstr>
      <vt:lpstr>Arial</vt:lpstr>
      <vt:lpstr>Architects Daughter</vt:lpstr>
      <vt:lpstr>Facet</vt:lpstr>
      <vt:lpstr>Semantic Web</vt:lpstr>
      <vt:lpstr>What is Semantic Web?</vt:lpstr>
      <vt:lpstr>Knowledge Representation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Web</dc:title>
  <dc:creator>Pruthviraj Sisodiya</dc:creator>
  <cp:lastModifiedBy>deep patel</cp:lastModifiedBy>
  <cp:revision>6</cp:revision>
  <dcterms:created xsi:type="dcterms:W3CDTF">2019-12-16T12:48:18Z</dcterms:created>
  <dcterms:modified xsi:type="dcterms:W3CDTF">2019-12-28T07:53:00Z</dcterms:modified>
</cp:coreProperties>
</file>