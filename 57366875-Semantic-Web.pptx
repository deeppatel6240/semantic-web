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72" d="100"/>
          <a:sy n="72" d="100"/>
        </p:scale>
        <p:origin x="-1104" y="-10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1F32681F-6E90-4A92-BF1C-BD4E5CB4AAB7}" type="datetimeFigureOut">
              <a:rPr lang="en-US" smtClean="0"/>
              <a:t>2/22/2011</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7804609D-463C-4975-BECF-C0F3FAC94957}"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F32681F-6E90-4A92-BF1C-BD4E5CB4AAB7}" type="datetimeFigureOut">
              <a:rPr lang="en-US" smtClean="0"/>
              <a:t>2/22/2011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04609D-463C-4975-BECF-C0F3FAC94957}"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F32681F-6E90-4A92-BF1C-BD4E5CB4AAB7}" type="datetimeFigureOut">
              <a:rPr lang="en-US" smtClean="0"/>
              <a:t>2/22/2011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04609D-463C-4975-BECF-C0F3FAC94957}"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F32681F-6E90-4A92-BF1C-BD4E5CB4AAB7}" type="datetimeFigureOut">
              <a:rPr lang="en-US" smtClean="0"/>
              <a:t>2/22/2011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04609D-463C-4975-BECF-C0F3FAC94957}"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1F32681F-6E90-4A92-BF1C-BD4E5CB4AAB7}" type="datetimeFigureOut">
              <a:rPr lang="en-US" smtClean="0"/>
              <a:t>2/22/2011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804609D-463C-4975-BECF-C0F3FAC94957}"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F32681F-6E90-4A92-BF1C-BD4E5CB4AAB7}" type="datetimeFigureOut">
              <a:rPr lang="en-US" smtClean="0"/>
              <a:t>2/22/2011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804609D-463C-4975-BECF-C0F3FAC94957}"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32681F-6E90-4A92-BF1C-BD4E5CB4AAB7}" type="datetimeFigureOut">
              <a:rPr lang="en-US" smtClean="0"/>
              <a:t>2/22/2011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804609D-463C-4975-BECF-C0F3FAC94957}"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F32681F-6E90-4A92-BF1C-BD4E5CB4AAB7}" type="datetimeFigureOut">
              <a:rPr lang="en-US" smtClean="0"/>
              <a:t>2/22/2011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04609D-463C-4975-BECF-C0F3FAC94957}"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F32681F-6E90-4A92-BF1C-BD4E5CB4AAB7}" type="datetimeFigureOut">
              <a:rPr lang="en-US" smtClean="0"/>
              <a:t>2/22/2011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7804609D-463C-4975-BECF-C0F3FAC94957}" type="slidenum">
              <a:rPr lang="en-US" smtClean="0"/>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F32681F-6E90-4A92-BF1C-BD4E5CB4AAB7}" type="datetimeFigureOut">
              <a:rPr lang="en-US" smtClean="0"/>
              <a:t>2/22/2011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04609D-463C-4975-BECF-C0F3FAC94957}"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F32681F-6E90-4A92-BF1C-BD4E5CB4AAB7}" type="datetimeFigureOut">
              <a:rPr lang="en-US" smtClean="0"/>
              <a:t>2/22/2011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04609D-463C-4975-BECF-C0F3FAC94957}"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1F32681F-6E90-4A92-BF1C-BD4E5CB4AAB7}" type="datetimeFigureOut">
              <a:rPr lang="en-US" smtClean="0"/>
              <a:t>2/22/2011</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7804609D-463C-4975-BECF-C0F3FAC94957}" type="slidenum">
              <a:rPr lang="en-US" smtClean="0"/>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Semantic Web</a:t>
            </a:r>
            <a:endParaRPr lang="en-US" dirty="0"/>
          </a:p>
        </p:txBody>
      </p:sp>
      <p:sp>
        <p:nvSpPr>
          <p:cNvPr id="3" name="Subtitle 2"/>
          <p:cNvSpPr>
            <a:spLocks noGrp="1"/>
          </p:cNvSpPr>
          <p:nvPr>
            <p:ph type="subTitle" idx="1"/>
          </p:nvPr>
        </p:nvSpPr>
        <p:spPr/>
        <p:txBody>
          <a:bodyPr/>
          <a:lstStyle/>
          <a:p>
            <a:r>
              <a:rPr lang="en-US" dirty="0" smtClean="0"/>
              <a:t>By:</a:t>
            </a:r>
          </a:p>
          <a:p>
            <a:r>
              <a:rPr lang="en-US" dirty="0" err="1" smtClean="0"/>
              <a:t>Krupal</a:t>
            </a:r>
            <a:r>
              <a:rPr lang="en-US" dirty="0" smtClean="0"/>
              <a:t> M</a:t>
            </a:r>
          </a:p>
          <a:p>
            <a:r>
              <a:rPr lang="en-US" dirty="0" smtClean="0"/>
              <a:t>07IT23</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p:txBody>
          <a:bodyPr/>
          <a:lstStyle/>
          <a:p>
            <a:r>
              <a:rPr lang="en-US" dirty="0" smtClean="0"/>
              <a:t>The word semantic stands for the meaning of. The semantic of something is the meaning of something. </a:t>
            </a:r>
            <a:endParaRPr lang="en-US" dirty="0" smtClean="0"/>
          </a:p>
          <a:p>
            <a:r>
              <a:rPr lang="en-US" dirty="0" smtClean="0"/>
              <a:t>The </a:t>
            </a:r>
            <a:r>
              <a:rPr lang="en-US" dirty="0" smtClean="0"/>
              <a:t>Semantic Web</a:t>
            </a:r>
            <a:r>
              <a:rPr lang="en-US" b="1" dirty="0" smtClean="0"/>
              <a:t> </a:t>
            </a:r>
            <a:r>
              <a:rPr lang="en-US" dirty="0" smtClean="0"/>
              <a:t>is a vision of information that is understandable by computers, so that they can perform more of the tedious works involved in finding, sharing and combining information on the web.</a:t>
            </a:r>
          </a:p>
          <a:p>
            <a:r>
              <a:rPr lang="en-US" dirty="0" smtClean="0"/>
              <a:t>For example, a computer might be instructed to list the prices of flat screen HDTVs larger than 40 inches with 1080p resolution at shops in the nearest town that are open until 8pm on Tuesday evenings. </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p:txBody>
          <a:bodyPr/>
          <a:lstStyle/>
          <a:p>
            <a:r>
              <a:rPr lang="en-US" dirty="0" smtClean="0"/>
              <a:t>Today, this task requires search engines that are individually tailored to every website being searched. </a:t>
            </a:r>
            <a:endParaRPr lang="en-US" dirty="0" smtClean="0"/>
          </a:p>
          <a:p>
            <a:r>
              <a:rPr lang="en-US" dirty="0" smtClean="0"/>
              <a:t>The </a:t>
            </a:r>
            <a:r>
              <a:rPr lang="en-US" dirty="0" smtClean="0"/>
              <a:t>semantic web provides a common standard (RDF) for websites to publish the relevant information in a more readily machine-</a:t>
            </a:r>
            <a:r>
              <a:rPr lang="en-US" dirty="0" err="1" smtClean="0"/>
              <a:t>processable</a:t>
            </a:r>
            <a:r>
              <a:rPr lang="en-US" dirty="0" smtClean="0"/>
              <a:t> and </a:t>
            </a:r>
            <a:r>
              <a:rPr lang="en-US" dirty="0" err="1" smtClean="0"/>
              <a:t>integratable</a:t>
            </a:r>
            <a:r>
              <a:rPr lang="en-US" dirty="0" smtClean="0"/>
              <a:t> form.</a:t>
            </a:r>
          </a:p>
          <a:p>
            <a:r>
              <a:rPr lang="en-US" dirty="0" smtClean="0"/>
              <a:t>It derives from W3C director Tim </a:t>
            </a:r>
            <a:r>
              <a:rPr lang="en-US" dirty="0" err="1" smtClean="0"/>
              <a:t>Berners</a:t>
            </a:r>
            <a:r>
              <a:rPr lang="en-US" dirty="0" smtClean="0"/>
              <a:t> -Lee vision of the Web as a universal medium for data ,information and knowledge exchange.</a:t>
            </a:r>
          </a:p>
          <a:p>
            <a:pPr>
              <a:buNone/>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WWW vs. Semantic web</a:t>
            </a:r>
            <a:endParaRPr lang="en-US" dirty="0"/>
          </a:p>
        </p:txBody>
      </p:sp>
      <p:sp>
        <p:nvSpPr>
          <p:cNvPr id="3" name="Content Placeholder 2"/>
          <p:cNvSpPr>
            <a:spLocks noGrp="1"/>
          </p:cNvSpPr>
          <p:nvPr>
            <p:ph idx="1"/>
          </p:nvPr>
        </p:nvSpPr>
        <p:spPr/>
        <p:txBody>
          <a:bodyPr/>
          <a:lstStyle/>
          <a:p>
            <a:r>
              <a:rPr lang="en-US" dirty="0" smtClean="0"/>
              <a:t>The World Wide Web is based mainly on documents written in </a:t>
            </a:r>
            <a:r>
              <a:rPr lang="en-US" dirty="0" err="1" smtClean="0"/>
              <a:t>HyperText</a:t>
            </a:r>
            <a:r>
              <a:rPr lang="en-US" dirty="0" smtClean="0"/>
              <a:t> Markup Language(HTML</a:t>
            </a:r>
            <a:r>
              <a:rPr lang="en-US" dirty="0" smtClean="0"/>
              <a:t>) which are only understandable to humans.</a:t>
            </a:r>
          </a:p>
          <a:p>
            <a:r>
              <a:rPr lang="en-US" dirty="0" smtClean="0"/>
              <a:t>The semantic web involves publishing the data in a language, Resource Description Framework (RDF). specifically for data, so that it can be manipulated and combined just as can data files on a local computer. </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WWW vs. Semantic web</a:t>
            </a:r>
            <a:endParaRPr lang="en-US" dirty="0"/>
          </a:p>
        </p:txBody>
      </p:sp>
      <p:sp>
        <p:nvSpPr>
          <p:cNvPr id="3" name="Content Placeholder 2"/>
          <p:cNvSpPr>
            <a:spLocks noGrp="1"/>
          </p:cNvSpPr>
          <p:nvPr>
            <p:ph idx="1"/>
          </p:nvPr>
        </p:nvSpPr>
        <p:spPr/>
        <p:txBody>
          <a:bodyPr>
            <a:normAutofit fontScale="92500"/>
          </a:bodyPr>
          <a:lstStyle/>
          <a:p>
            <a:r>
              <a:rPr lang="en-US" dirty="0" smtClean="0"/>
              <a:t>The HTML language describes documents and the links between </a:t>
            </a:r>
            <a:r>
              <a:rPr lang="en-US" dirty="0" smtClean="0"/>
              <a:t>them.</a:t>
            </a:r>
          </a:p>
          <a:p>
            <a:r>
              <a:rPr lang="en-US" dirty="0" smtClean="0"/>
              <a:t>RDF, by contrast, describes arbitrary things such as people, meetings, and airplane parts. </a:t>
            </a:r>
            <a:endParaRPr lang="en-US" dirty="0" smtClean="0"/>
          </a:p>
          <a:p>
            <a:r>
              <a:rPr lang="en-US" dirty="0" smtClean="0"/>
              <a:t>For example, with HTML </a:t>
            </a:r>
            <a:r>
              <a:rPr lang="en-US" dirty="0" smtClean="0"/>
              <a:t>one </a:t>
            </a:r>
            <a:r>
              <a:rPr lang="en-US" dirty="0" smtClean="0"/>
              <a:t>can create and present a page that lists items for sale. The HTML of this catalog page can make simple, document-level assertions such as "this document's title is 'Widget </a:t>
            </a:r>
            <a:r>
              <a:rPr lang="en-US" dirty="0" smtClean="0"/>
              <a:t>store'. </a:t>
            </a:r>
            <a:r>
              <a:rPr lang="en-US" dirty="0" smtClean="0"/>
              <a:t>But there is no </a:t>
            </a:r>
            <a:r>
              <a:rPr lang="en-US" dirty="0" smtClean="0"/>
              <a:t>capability </a:t>
            </a:r>
            <a:r>
              <a:rPr lang="en-US" dirty="0" smtClean="0"/>
              <a:t>within the HTML itself to assert unambiguously that, for example, item number X586172 is an </a:t>
            </a:r>
            <a:r>
              <a:rPr lang="en-US" dirty="0" err="1" smtClean="0"/>
              <a:t>LeeCooper</a:t>
            </a:r>
            <a:r>
              <a:rPr lang="en-US" dirty="0" smtClean="0"/>
              <a:t> jeans with </a:t>
            </a:r>
            <a:r>
              <a:rPr lang="en-US" dirty="0" smtClean="0"/>
              <a:t>a retail price of </a:t>
            </a:r>
            <a:r>
              <a:rPr lang="en-US" dirty="0" smtClean="0"/>
              <a:t>€99</a:t>
            </a:r>
            <a:r>
              <a:rPr lang="en-US" dirty="0" smtClean="0"/>
              <a:t>, or that it is a consumer </a:t>
            </a:r>
            <a:r>
              <a:rPr lang="en-US" dirty="0" smtClean="0"/>
              <a:t>product.</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WWW vs. Semantic web</a:t>
            </a:r>
            <a:endParaRPr lang="en-US" dirty="0"/>
          </a:p>
        </p:txBody>
      </p:sp>
      <p:sp>
        <p:nvSpPr>
          <p:cNvPr id="3" name="Content Placeholder 2"/>
          <p:cNvSpPr>
            <a:spLocks noGrp="1"/>
          </p:cNvSpPr>
          <p:nvPr>
            <p:ph idx="1"/>
          </p:nvPr>
        </p:nvSpPr>
        <p:spPr/>
        <p:txBody>
          <a:bodyPr/>
          <a:lstStyle/>
          <a:p>
            <a:r>
              <a:rPr lang="en-US" dirty="0" smtClean="0"/>
              <a:t>Rather, HTML can only say that the span of text "X586172" is something that should be positioned near </a:t>
            </a:r>
            <a:r>
              <a:rPr lang="en-US" dirty="0" smtClean="0"/>
              <a:t>“</a:t>
            </a:r>
            <a:r>
              <a:rPr lang="en-US" dirty="0" err="1" smtClean="0"/>
              <a:t>LeeCooper</a:t>
            </a:r>
            <a:r>
              <a:rPr lang="en-US" dirty="0" smtClean="0"/>
              <a:t>" </a:t>
            </a:r>
            <a:r>
              <a:rPr lang="en-US" dirty="0" smtClean="0"/>
              <a:t>and "€ </a:t>
            </a:r>
            <a:r>
              <a:rPr lang="en-US" dirty="0" smtClean="0"/>
              <a:t>99</a:t>
            </a:r>
            <a:r>
              <a:rPr lang="en-US" dirty="0" smtClean="0"/>
              <a:t>", etc. </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COMPONENTS OF SEMANTIC </a:t>
            </a:r>
            <a:r>
              <a:rPr lang="en-US" b="1" dirty="0" smtClean="0"/>
              <a:t>WEB</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Identifiers</a:t>
            </a:r>
            <a:r>
              <a:rPr lang="en-US" dirty="0" smtClean="0"/>
              <a:t>: Uniform Resource Identifier(URI)					</a:t>
            </a:r>
          </a:p>
          <a:p>
            <a:r>
              <a:rPr lang="en-US" dirty="0" smtClean="0"/>
              <a:t>Documents </a:t>
            </a:r>
            <a:r>
              <a:rPr lang="en-US" dirty="0" smtClean="0"/>
              <a:t>: Extensible Markup Language(XML)					</a:t>
            </a:r>
          </a:p>
          <a:p>
            <a:r>
              <a:rPr lang="en-US" dirty="0" smtClean="0"/>
              <a:t>Statements </a:t>
            </a:r>
            <a:r>
              <a:rPr lang="en-US" dirty="0" smtClean="0"/>
              <a:t>: Resource Description Framework (RDF) 				</a:t>
            </a:r>
          </a:p>
          <a:p>
            <a:r>
              <a:rPr lang="en-US" dirty="0" smtClean="0"/>
              <a:t>Schemas </a:t>
            </a:r>
            <a:r>
              <a:rPr lang="en-US" dirty="0" smtClean="0"/>
              <a:t>and </a:t>
            </a:r>
            <a:r>
              <a:rPr lang="en-US" dirty="0" err="1" smtClean="0"/>
              <a:t>Ontologies</a:t>
            </a:r>
            <a:r>
              <a:rPr lang="en-US" dirty="0" smtClean="0"/>
              <a:t>: RDF Schemas, DAML+OIL, and </a:t>
            </a:r>
            <a:r>
              <a:rPr lang="en-US" dirty="0" err="1" smtClean="0"/>
              <a:t>WebOnt</a:t>
            </a:r>
            <a:r>
              <a:rPr lang="en-US" dirty="0" smtClean="0"/>
              <a:t> 		</a:t>
            </a:r>
          </a:p>
          <a:p>
            <a:r>
              <a:rPr lang="en-US" dirty="0" smtClean="0"/>
              <a:t>Logic </a:t>
            </a:r>
            <a:r>
              <a:rPr lang="en-US" dirty="0" smtClean="0"/>
              <a:t>								</a:t>
            </a:r>
          </a:p>
          <a:p>
            <a:r>
              <a:rPr lang="en-US" dirty="0" smtClean="0"/>
              <a:t> </a:t>
            </a:r>
            <a:r>
              <a:rPr lang="en-US" dirty="0" smtClean="0"/>
              <a:t>Proof 											</a:t>
            </a:r>
          </a:p>
          <a:p>
            <a:r>
              <a:rPr lang="en-US" dirty="0" smtClean="0"/>
              <a:t>Trust</a:t>
            </a:r>
            <a:r>
              <a:rPr lang="en-US" dirty="0" smtClean="0"/>
              <a:t>: Digital Signatures and Web of </a:t>
            </a:r>
            <a:r>
              <a:rPr lang="en-US" dirty="0" smtClean="0"/>
              <a:t>Trust</a:t>
            </a:r>
            <a:endParaRPr lang="en-US" dirty="0" smtClean="0"/>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Identifier: URI</a:t>
            </a:r>
            <a:endParaRPr lang="en-US" dirty="0"/>
          </a:p>
        </p:txBody>
      </p:sp>
      <p:sp>
        <p:nvSpPr>
          <p:cNvPr id="3" name="Content Placeholder 2"/>
          <p:cNvSpPr>
            <a:spLocks noGrp="1"/>
          </p:cNvSpPr>
          <p:nvPr>
            <p:ph idx="1"/>
          </p:nvPr>
        </p:nvSpPr>
        <p:spPr/>
        <p:txBody>
          <a:bodyPr/>
          <a:lstStyle/>
          <a:p>
            <a:r>
              <a:rPr lang="en-US" dirty="0" smtClean="0"/>
              <a:t>To identify items on the Web, we use identifiers. Because we use a uniform system of identifiers, and because each item identified is considered a "resource," we call these identifiers "Uniform Resource Identifiers" or URIs for short. </a:t>
            </a:r>
            <a:endParaRPr lang="en-US" dirty="0" smtClean="0"/>
          </a:p>
          <a:p>
            <a:r>
              <a:rPr lang="en-US" dirty="0" smtClean="0"/>
              <a:t>We can give a URI to anything, and anything that has a URI can be said to be "on </a:t>
            </a:r>
            <a:r>
              <a:rPr lang="en-US" dirty="0" smtClean="0"/>
              <a:t>the Web“.</a:t>
            </a:r>
          </a:p>
          <a:p>
            <a:r>
              <a:rPr lang="en-US" dirty="0" smtClean="0"/>
              <a:t>It can be thought of as an union of URL and URN.</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Document: XML</a:t>
            </a:r>
            <a:endParaRPr lang="en-US" dirty="0"/>
          </a:p>
        </p:txBody>
      </p:sp>
      <p:sp>
        <p:nvSpPr>
          <p:cNvPr id="3" name="Content Placeholder 2"/>
          <p:cNvSpPr>
            <a:spLocks noGrp="1"/>
          </p:cNvSpPr>
          <p:nvPr>
            <p:ph idx="1"/>
          </p:nvPr>
        </p:nvSpPr>
        <p:spPr/>
        <p:txBody>
          <a:bodyPr/>
          <a:lstStyle/>
          <a:p>
            <a:r>
              <a:rPr lang="en-US" dirty="0" smtClean="0"/>
              <a:t>XML was designed to be a simple way to send documents across the Web. It allows anyone to design their own document format and then write a document in that format. </a:t>
            </a:r>
            <a:endParaRPr lang="en-US" dirty="0" smtClean="0"/>
          </a:p>
          <a:p>
            <a:r>
              <a:rPr lang="en-US" dirty="0" smtClean="0"/>
              <a:t>This markup is "machine-readable," that is, programs can read and understand it. By including machine-readable meaning in our documents, we make them much more powerful</a:t>
            </a:r>
            <a:r>
              <a:rPr lang="en-US" dirty="0" smtClean="0"/>
              <a:t>.</a:t>
            </a:r>
          </a:p>
          <a:p>
            <a:pPr>
              <a:buNone/>
            </a:pPr>
            <a:endParaRPr lang="en-US" dirty="0" smtClean="0"/>
          </a:p>
          <a:p>
            <a:pPr>
              <a:buNone/>
            </a:pP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XML</a:t>
            </a:r>
            <a:endParaRPr lang="en-US" dirty="0"/>
          </a:p>
        </p:txBody>
      </p:sp>
      <p:sp>
        <p:nvSpPr>
          <p:cNvPr id="3" name="Content Placeholder 2"/>
          <p:cNvSpPr>
            <a:spLocks noGrp="1"/>
          </p:cNvSpPr>
          <p:nvPr>
            <p:ph idx="1"/>
          </p:nvPr>
        </p:nvSpPr>
        <p:spPr/>
        <p:txBody>
          <a:bodyPr/>
          <a:lstStyle/>
          <a:p>
            <a:r>
              <a:rPr lang="en-US" dirty="0" smtClean="0"/>
              <a:t>&lt;sentence&gt;</a:t>
            </a:r>
          </a:p>
          <a:p>
            <a:r>
              <a:rPr lang="en-US" dirty="0" smtClean="0"/>
              <a:t>&lt;person </a:t>
            </a:r>
            <a:r>
              <a:rPr lang="en-US" dirty="0" err="1" smtClean="0"/>
              <a:t>href</a:t>
            </a:r>
            <a:r>
              <a:rPr lang="en-US" dirty="0" smtClean="0"/>
              <a:t>="http://aaronsw.com/"&gt; I &lt;/person&gt; just got a new pet &lt;animal&gt; </a:t>
            </a:r>
            <a:r>
              <a:rPr lang="en-US" dirty="0" smtClean="0"/>
              <a:t>dog &lt;/</a:t>
            </a:r>
            <a:r>
              <a:rPr lang="en-US" dirty="0" smtClean="0"/>
              <a:t>animal&gt;.</a:t>
            </a:r>
          </a:p>
          <a:p>
            <a:r>
              <a:rPr lang="en-US" dirty="0" smtClean="0"/>
              <a:t>&lt;/sentence&gt;</a:t>
            </a:r>
          </a:p>
          <a:p>
            <a:pPr>
              <a:buNone/>
            </a:pP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Statement: RDF</a:t>
            </a:r>
            <a:endParaRPr lang="en-US" dirty="0"/>
          </a:p>
        </p:txBody>
      </p:sp>
      <p:sp>
        <p:nvSpPr>
          <p:cNvPr id="3" name="Content Placeholder 2"/>
          <p:cNvSpPr>
            <a:spLocks noGrp="1"/>
          </p:cNvSpPr>
          <p:nvPr>
            <p:ph idx="1"/>
          </p:nvPr>
        </p:nvSpPr>
        <p:spPr/>
        <p:txBody>
          <a:bodyPr/>
          <a:lstStyle/>
          <a:p>
            <a:r>
              <a:rPr lang="en-US" dirty="0" smtClean="0"/>
              <a:t>The most fundamental building block is Resource Description Framework(RDF), a format for defining information on the web. </a:t>
            </a:r>
            <a:endParaRPr lang="en-US" dirty="0" smtClean="0"/>
          </a:p>
          <a:p>
            <a:r>
              <a:rPr lang="en-US" dirty="0" smtClean="0"/>
              <a:t>RDF </a:t>
            </a:r>
            <a:r>
              <a:rPr lang="en-US" dirty="0" smtClean="0"/>
              <a:t>is a markup language for describing information and resources on the web. </a:t>
            </a:r>
            <a:endParaRPr lang="en-US" dirty="0" smtClean="0"/>
          </a:p>
          <a:p>
            <a:r>
              <a:rPr lang="en-US" dirty="0" smtClean="0"/>
              <a:t>RDF provides a model for data, and a syntax so that independent parties can exchange and use it. It is designed to be read and understood by computers</a:t>
            </a:r>
            <a:r>
              <a:rPr lang="en-US" dirty="0" smtClean="0"/>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RDF</a:t>
            </a:r>
            <a:endParaRPr lang="en-US" dirty="0"/>
          </a:p>
        </p:txBody>
      </p:sp>
      <p:sp>
        <p:nvSpPr>
          <p:cNvPr id="3" name="Content Placeholder 2"/>
          <p:cNvSpPr>
            <a:spLocks noGrp="1"/>
          </p:cNvSpPr>
          <p:nvPr>
            <p:ph idx="1"/>
          </p:nvPr>
        </p:nvSpPr>
        <p:spPr/>
        <p:txBody>
          <a:bodyPr>
            <a:normAutofit lnSpcReduction="10000"/>
          </a:bodyPr>
          <a:lstStyle/>
          <a:p>
            <a:r>
              <a:rPr lang="en-US" dirty="0" smtClean="0"/>
              <a:t>Each RDF statement has three parts: a subject, a predicate and an object. A simple RDF statement</a:t>
            </a:r>
            <a:r>
              <a:rPr lang="en-US" dirty="0" smtClean="0"/>
              <a:t>:</a:t>
            </a:r>
          </a:p>
          <a:p>
            <a:endParaRPr lang="en-US" dirty="0" smtClean="0"/>
          </a:p>
          <a:p>
            <a:r>
              <a:rPr lang="en-US" dirty="0" smtClean="0"/>
              <a:t>&lt;http://aaron.com/&gt;</a:t>
            </a:r>
          </a:p>
          <a:p>
            <a:r>
              <a:rPr lang="en-US" dirty="0" smtClean="0"/>
              <a:t>&lt;http://love.example.org/terms/reallyLikes&gt;</a:t>
            </a:r>
          </a:p>
          <a:p>
            <a:r>
              <a:rPr lang="en-US" dirty="0" smtClean="0"/>
              <a:t>&lt;http://www.w3.org/People/Berners-Lee/Weaving/&gt; </a:t>
            </a:r>
            <a:endParaRPr lang="en-US" dirty="0" smtClean="0"/>
          </a:p>
          <a:p>
            <a:pPr>
              <a:buNone/>
            </a:pPr>
            <a:endParaRPr lang="en-US" dirty="0" smtClean="0"/>
          </a:p>
          <a:p>
            <a:r>
              <a:rPr lang="en-US" dirty="0" smtClean="0"/>
              <a:t>The first URI is the subject next the predicate and at last the object.</a:t>
            </a:r>
            <a:endParaRPr lang="en-US" dirty="0" smtClean="0"/>
          </a:p>
          <a:p>
            <a:pPr>
              <a:buNone/>
            </a:pPr>
            <a:r>
              <a:rPr lang="en-US" dirty="0" smtClean="0"/>
              <a:t>   </a:t>
            </a:r>
            <a:r>
              <a:rPr lang="en-US" dirty="0" smtClean="0"/>
              <a:t> </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Logic</a:t>
            </a:r>
            <a:endParaRPr lang="en-US" dirty="0"/>
          </a:p>
        </p:txBody>
      </p:sp>
      <p:sp>
        <p:nvSpPr>
          <p:cNvPr id="3" name="Content Placeholder 2"/>
          <p:cNvSpPr>
            <a:spLocks noGrp="1"/>
          </p:cNvSpPr>
          <p:nvPr>
            <p:ph idx="1"/>
          </p:nvPr>
        </p:nvSpPr>
        <p:spPr/>
        <p:txBody>
          <a:bodyPr/>
          <a:lstStyle/>
          <a:p>
            <a:r>
              <a:rPr lang="en-US" dirty="0" smtClean="0"/>
              <a:t>For the Semantic Web to become expressive enough to help us in a wide range of situations, it will become necessary to construct a powerful logical language for making </a:t>
            </a:r>
            <a:r>
              <a:rPr lang="en-US" dirty="0" smtClean="0"/>
              <a:t>inferences.</a:t>
            </a:r>
          </a:p>
          <a:p>
            <a:r>
              <a:rPr lang="en-US" dirty="0" smtClean="0"/>
              <a:t>It calls for a way to represent data in a machine readable logical format using appropriate predicates like ‘and’ , ‘or’ etc.</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Proof</a:t>
            </a:r>
            <a:endParaRPr lang="en-US" dirty="0"/>
          </a:p>
        </p:txBody>
      </p:sp>
      <p:sp>
        <p:nvSpPr>
          <p:cNvPr id="3" name="Content Placeholder 2"/>
          <p:cNvSpPr>
            <a:spLocks noGrp="1"/>
          </p:cNvSpPr>
          <p:nvPr>
            <p:ph idx="1"/>
          </p:nvPr>
        </p:nvSpPr>
        <p:spPr/>
        <p:txBody>
          <a:bodyPr/>
          <a:lstStyle/>
          <a:p>
            <a:r>
              <a:rPr lang="en-US" dirty="0" smtClean="0"/>
              <a:t>Once we begin to build systems that follow logic, it makes sense to use them to prove things. </a:t>
            </a:r>
            <a:endParaRPr lang="en-US" dirty="0" smtClean="0"/>
          </a:p>
          <a:p>
            <a:r>
              <a:rPr lang="en-US" dirty="0" smtClean="0"/>
              <a:t>People all around the world could write logic statements. Then your machine could follow these Semantic "links" to construct proofs. </a:t>
            </a:r>
            <a:endParaRPr lang="en-US" dirty="0" smtClean="0"/>
          </a:p>
          <a:p>
            <a:r>
              <a:rPr lang="en-US" dirty="0" smtClean="0"/>
              <a:t>The proofs created are the signs of success of a semantic web because that’s signals the creation of new knowledge by the machine on its own.</a:t>
            </a:r>
            <a:endParaRPr lang="en-US" dirty="0" smtClean="0"/>
          </a:p>
          <a:p>
            <a:pPr>
              <a:buNone/>
            </a:pP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t>
            </a:r>
            <a:r>
              <a:rPr lang="en-US" dirty="0" smtClean="0"/>
              <a:t>roof</a:t>
            </a:r>
            <a:endParaRPr lang="en-US" dirty="0"/>
          </a:p>
        </p:txBody>
      </p:sp>
      <p:sp>
        <p:nvSpPr>
          <p:cNvPr id="3" name="Content Placeholder 2"/>
          <p:cNvSpPr>
            <a:spLocks noGrp="1"/>
          </p:cNvSpPr>
          <p:nvPr>
            <p:ph idx="1"/>
          </p:nvPr>
        </p:nvSpPr>
        <p:spPr/>
        <p:txBody>
          <a:bodyPr/>
          <a:lstStyle/>
          <a:p>
            <a:r>
              <a:rPr lang="en-US" dirty="0" smtClean="0"/>
              <a:t>Example: Corporate sales records show that Jane has sold 55 widgets and 66 sprockets. The inventory system states that widgets and sprockets are both different company products. The built-in math rules state that 55 + 66 = 121 and that 121 is more than 100. And, as we know, someone who sells more than 100 products is a member of the Super Salesman club. The computer puts all these logical rules together into a proof that Jane is a Super Salesman. </a:t>
            </a:r>
          </a:p>
          <a:p>
            <a:endParaRPr lang="en-US" dirty="0" smtClean="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Trust: Digital Signatures and Web of </a:t>
            </a:r>
            <a:r>
              <a:rPr lang="en-US" dirty="0" smtClean="0"/>
              <a:t>Trust</a:t>
            </a:r>
            <a:endParaRPr lang="en-US" dirty="0"/>
          </a:p>
        </p:txBody>
      </p:sp>
      <p:sp>
        <p:nvSpPr>
          <p:cNvPr id="3" name="Content Placeholder 2"/>
          <p:cNvSpPr>
            <a:spLocks noGrp="1"/>
          </p:cNvSpPr>
          <p:nvPr>
            <p:ph idx="1"/>
          </p:nvPr>
        </p:nvSpPr>
        <p:spPr/>
        <p:txBody>
          <a:bodyPr>
            <a:normAutofit lnSpcReduction="10000"/>
          </a:bodyPr>
          <a:lstStyle/>
          <a:p>
            <a:r>
              <a:rPr lang="en-US" dirty="0" smtClean="0"/>
              <a:t>Now since we have machines being able to create knowledge based on the logic supplied to them we have to make sure that the supplied logic is trustworthy.</a:t>
            </a:r>
          </a:p>
          <a:p>
            <a:r>
              <a:rPr lang="en-US" dirty="0" smtClean="0"/>
              <a:t>That's where Digital </a:t>
            </a:r>
            <a:r>
              <a:rPr lang="en-US" dirty="0" smtClean="0"/>
              <a:t>Signatures </a:t>
            </a:r>
            <a:r>
              <a:rPr lang="en-US" dirty="0" smtClean="0"/>
              <a:t>come </a:t>
            </a:r>
            <a:r>
              <a:rPr lang="en-US" dirty="0" smtClean="0"/>
              <a:t>in. We can have a universal signing system just like we have today but with a slight modification- the signature is given for the logical accuracy of the data.</a:t>
            </a:r>
          </a:p>
          <a:p>
            <a:r>
              <a:rPr lang="en-US" dirty="0" smtClean="0"/>
              <a:t>It’s the most difficult step because of the massive chunks of data we already have and the huge data inflow we have everyday.</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One of the best things about the Web is that it's so many different things to so many different people. The coming Semantic Web will multiply this versatility a </a:t>
            </a:r>
            <a:r>
              <a:rPr lang="en-US" dirty="0" err="1" smtClean="0"/>
              <a:t>thousandfold</a:t>
            </a:r>
            <a:r>
              <a:rPr lang="en-US" dirty="0" smtClean="0"/>
              <a:t>. </a:t>
            </a:r>
            <a:endParaRPr lang="en-US" dirty="0" smtClean="0"/>
          </a:p>
          <a:p>
            <a:r>
              <a:rPr lang="en-US" dirty="0" smtClean="0"/>
              <a:t>For some, the defining feature of the Semantic Web will be the ease with which your PDA, your laptop, your desktop, your server, and your car will communicate with each </a:t>
            </a:r>
            <a:r>
              <a:rPr lang="en-US" dirty="0" smtClean="0"/>
              <a:t>other.</a:t>
            </a:r>
          </a:p>
          <a:p>
            <a:r>
              <a:rPr lang="en-US" dirty="0" smtClean="0"/>
              <a:t>For others, it will be the automation of corporate </a:t>
            </a:r>
            <a:r>
              <a:rPr lang="en-US" dirty="0" smtClean="0"/>
              <a:t>decisions.</a:t>
            </a:r>
          </a:p>
          <a:p>
            <a:r>
              <a:rPr lang="en-US" dirty="0" smtClean="0"/>
              <a:t>Whatever the cause, almost everyone can find a reason to support this grand vision of the Semantic </a:t>
            </a:r>
            <a:r>
              <a:rPr lang="en-US" dirty="0" smtClean="0"/>
              <a:t>Web.</a:t>
            </a:r>
          </a:p>
          <a:p>
            <a:r>
              <a:rPr lang="en-US" dirty="0" smtClean="0"/>
              <a:t>The possibilities are endless, and even if we don't ever achieve all of them, the journey will most certainly be its own reward</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p:txBody>
          <a:bodyPr/>
          <a:lstStyle/>
          <a:p>
            <a:r>
              <a:rPr lang="en-US" dirty="0" smtClean="0"/>
              <a:t>http://www.w3.org/2001/sw/</a:t>
            </a:r>
          </a:p>
          <a:p>
            <a:r>
              <a:rPr lang="en-US" dirty="0" smtClean="0"/>
              <a:t>http://www.w3schools.com/rdf/</a:t>
            </a:r>
          </a:p>
          <a:p>
            <a:r>
              <a:rPr lang="en-US" dirty="0" smtClean="0"/>
              <a:t>http://www.w3.org/RDF/FAQ</a:t>
            </a:r>
          </a:p>
          <a:p>
            <a:r>
              <a:rPr lang="en-US" dirty="0" smtClean="0"/>
              <a:t>http://en.wikipedia.org/wiki/Semantic_Web</a:t>
            </a:r>
          </a:p>
          <a:p>
            <a:r>
              <a:rPr lang="en-US" dirty="0" smtClean="0"/>
              <a:t>http://www.hpl.hp.com/semweb/sw-technology.htm</a:t>
            </a:r>
          </a:p>
          <a:p>
            <a:r>
              <a:rPr lang="en-US" dirty="0" smtClean="0"/>
              <a:t>http://www.w3.org/2001/sw/sweo/public/UseCases/UniZheijang/</a:t>
            </a:r>
          </a:p>
          <a:p>
            <a:pPr>
              <a:buNone/>
            </a:pP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95600"/>
            <a:ext cx="8229600" cy="1143000"/>
          </a:xfrm>
        </p:spPr>
        <p:txBody>
          <a:bodyPr/>
          <a:lstStyle/>
          <a:p>
            <a:pPr algn="ctr"/>
            <a:r>
              <a:rPr lang="en-US" dirty="0" smtClean="0"/>
              <a:t>Thank you </a:t>
            </a:r>
            <a:r>
              <a:rPr lang="en-US" dirty="0" smtClean="0">
                <a:sym typeface="Wingdings" pitchFamily="2" charset="2"/>
              </a:rPr>
              <a:t></a:t>
            </a:r>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38</TotalTime>
  <Words>1174</Words>
  <Application>Microsoft Office PowerPoint</Application>
  <PresentationFormat>On-screen Show (4:3)</PresentationFormat>
  <Paragraphs>80</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Flow</vt:lpstr>
      <vt:lpstr>Semantic Web</vt:lpstr>
      <vt:lpstr>Introduction:</vt:lpstr>
      <vt:lpstr>Introduction:</vt:lpstr>
      <vt:lpstr>WWW vs. Semantic web</vt:lpstr>
      <vt:lpstr>WWW vs. Semantic web</vt:lpstr>
      <vt:lpstr>WWW vs. Semantic web</vt:lpstr>
      <vt:lpstr>COMPONENTS OF SEMANTIC WEB</vt:lpstr>
      <vt:lpstr>Identifier: URI</vt:lpstr>
      <vt:lpstr>Document: XML</vt:lpstr>
      <vt:lpstr>XML</vt:lpstr>
      <vt:lpstr>Statement: RDF</vt:lpstr>
      <vt:lpstr>RDF</vt:lpstr>
      <vt:lpstr>Logic</vt:lpstr>
      <vt:lpstr>Proof</vt:lpstr>
      <vt:lpstr>Proof</vt:lpstr>
      <vt:lpstr>Trust: Digital Signatures and Web of Trust</vt:lpstr>
      <vt:lpstr>Conclusion:</vt:lpstr>
      <vt:lpstr>References:</vt:lpstr>
      <vt:lpstr>Thank you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Semantic Web</dc:title>
  <dc:creator>GaLacTus</dc:creator>
  <cp:lastModifiedBy>GaLacTus</cp:lastModifiedBy>
  <cp:revision>4</cp:revision>
  <dcterms:created xsi:type="dcterms:W3CDTF">2011-02-22T07:31:42Z</dcterms:created>
  <dcterms:modified xsi:type="dcterms:W3CDTF">2011-02-22T08:10:17Z</dcterms:modified>
</cp:coreProperties>
</file>